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شروع" id="{2adbece4-6a9d-0249-d419-3ae0bfedcc9e}">
          <p14:sldIdLst>
            <p14:sldId id="256"/>
            <p14:sldId id="257"/>
          </p14:sldIdLst>
        </p14:section>
        <p14:section name="مفاهیم" id="{4ea3e16b-99d9-5eac-4a28-d77544863b21}">
          <p14:sldIdLst>
            <p14:sldId id="258"/>
            <p14:sldId id="259"/>
            <p14:sldId id="260"/>
          </p14:sldIdLst>
        </p14:section>
        <p14:section name="روش‌ها" id="{59be850a-7c49-ba17-92a8-e772bd83fc5b}">
          <p14:sldIdLst>
            <p14:sldId id="261"/>
            <p14:sldId id="262"/>
            <p14:sldId id="263"/>
            <p14:sldId id="264"/>
            <p14:sldId id="265"/>
          </p14:sldIdLst>
        </p14:section>
        <p14:section name="در عمل" id="{3d18972d-81cb-fb4a-9a56-d68098683763}">
          <p14:sldIdLst>
            <p14:sldId id="266"/>
            <p14:sldId id="267"/>
          </p14:sldIdLst>
        </p14:section>
        <p14:section name="فعالیت" id="{d922216d-2f34-0d72-176c-9c822ae0c834}">
          <p14:sldIdLst>
            <p14:sldId id="268"/>
          </p14:sldIdLst>
        </p14:section>
        <p14:section name="جمع‌بندی" id="{54906f99-9351-fbfa-307a-3eec02b8b74c}">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مراجعه</c:v>
                </c:pt>
              </c:strCache>
            </c:strRef>
          </c:tx>
          <c:spPr>
            <a:solidFill>
              <a:srgbClr val="8A96A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Sheet1!$A$2:$A$43</c:f>
              <c:multiLvlStrCache>
                <c:ptCount val="4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lvl>
              </c:multiLvlStrCache>
            </c:multiLvlStrRef>
          </c:cat>
          <c:val>
            <c:numRef>
              <c:f>Sheet1!$B$2:$B$43</c:f>
              <c:numCache>
                <c:formatCode>General</c:formatCode>
                <c:ptCount val="42"/>
                <c:pt idx="0">
                  <c:v>17</c:v>
                </c:pt>
                <c:pt idx="1">
                  <c:v>27</c:v>
                </c:pt>
                <c:pt idx="2">
                  <c:v>13</c:v>
                </c:pt>
                <c:pt idx="3">
                  <c:v>20</c:v>
                </c:pt>
                <c:pt idx="4">
                  <c:v>22</c:v>
                </c:pt>
                <c:pt idx="5">
                  <c:v>17</c:v>
                </c:pt>
                <c:pt idx="6">
                  <c:v>10</c:v>
                </c:pt>
                <c:pt idx="7">
                  <c:v>23</c:v>
                </c:pt>
                <c:pt idx="8">
                  <c:v>25</c:v>
                </c:pt>
                <c:pt idx="9">
                  <c:v>17</c:v>
                </c:pt>
                <c:pt idx="10">
                  <c:v>26</c:v>
                </c:pt>
                <c:pt idx="11">
                  <c:v>19</c:v>
                </c:pt>
                <c:pt idx="12">
                  <c:v>16</c:v>
                </c:pt>
                <c:pt idx="13">
                  <c:v>8</c:v>
                </c:pt>
                <c:pt idx="14">
                  <c:v>23</c:v>
                </c:pt>
                <c:pt idx="15">
                  <c:v>25</c:v>
                </c:pt>
                <c:pt idx="16">
                  <c:v>25</c:v>
                </c:pt>
                <c:pt idx="17">
                  <c:v>22</c:v>
                </c:pt>
                <c:pt idx="18">
                  <c:v>18</c:v>
                </c:pt>
                <c:pt idx="19">
                  <c:v>24</c:v>
                </c:pt>
                <c:pt idx="20">
                  <c:v>15</c:v>
                </c:pt>
                <c:pt idx="21">
                  <c:v>26</c:v>
                </c:pt>
                <c:pt idx="22">
                  <c:v>25</c:v>
                </c:pt>
                <c:pt idx="23">
                  <c:v>26</c:v>
                </c:pt>
                <c:pt idx="24">
                  <c:v>21</c:v>
                </c:pt>
                <c:pt idx="25">
                  <c:v>20</c:v>
                </c:pt>
                <c:pt idx="26">
                  <c:v>13</c:v>
                </c:pt>
                <c:pt idx="27">
                  <c:v>14</c:v>
                </c:pt>
                <c:pt idx="28">
                  <c:v>35</c:v>
                </c:pt>
                <c:pt idx="29">
                  <c:v>28</c:v>
                </c:pt>
                <c:pt idx="30">
                  <c:v>14</c:v>
                </c:pt>
                <c:pt idx="31">
                  <c:v>18</c:v>
                </c:pt>
                <c:pt idx="32">
                  <c:v>28</c:v>
                </c:pt>
                <c:pt idx="33">
                  <c:v>23</c:v>
                </c:pt>
                <c:pt idx="34">
                  <c:v>22</c:v>
                </c:pt>
                <c:pt idx="35">
                  <c:v>37</c:v>
                </c:pt>
                <c:pt idx="36">
                  <c:v>48</c:v>
                </c:pt>
                <c:pt idx="37">
                  <c:v>41</c:v>
                </c:pt>
                <c:pt idx="38">
                  <c:v>40</c:v>
                </c:pt>
                <c:pt idx="39">
                  <c:v>29</c:v>
                </c:pt>
                <c:pt idx="40">
                  <c:v>26</c:v>
                </c:pt>
                <c:pt idx="41">
                  <c:v>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A6578"/>
                    </a:solidFill>
                    <a:latin typeface="+mn-lt"/>
                  </a:defRPr>
                </a:pPr>
                <a:r>
                  <a:rPr sz="1100" b="0" i="0" u="none" strike="noStrike">
                    <a:solidFill>
                      <a:srgbClr val="5A6578"/>
                    </a:solidFill>
                    <a:latin typeface="+mn-lt"/>
                  </a:rPr>
                  <a:t>روز؛ روز ۱ برابر ۱۶ خرداد ۱۴۰۵</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578"/>
                </a:solidFill>
                <a:latin typeface="+mn-lt"/>
              </a:defRPr>
            </a:pPr>
            <a:endParaRPr lang="en-US"/>
          </a:p>
        </c:txPr>
        <c:crossAx val="2094734552"/>
        <c:crosses val="autoZero"/>
        <c:auto val="1"/>
        <c:lblAlgn val="ctr"/>
        <c:noMultiLvlLbl val="1"/>
        <c:tickLblSkip val="7"/>
      </c:catAx>
      <c:valAx>
        <c:axId val="2094734552"/>
        <c:scaling>
          <c:orientation val="minMax"/>
        </c:scaling>
        <c:delete val="0"/>
        <c:axPos val="l"/>
        <c:majorGridlines>
          <c:spPr>
            <a:ln w="9525" cap="flat">
              <a:solidFill>
                <a:srgbClr val="E3E7EE"/>
              </a:solidFill>
              <a:prstDash val="solid"/>
              <a:round/>
            </a:ln>
          </c:spPr>
        </c:majorGridlines>
        <c:title>
          <c:tx>
            <c:rich>
              <a:bodyPr/>
              <a:lstStyle/>
              <a:p>
                <a:pPr>
                  <a:defRPr sz="1100" b="0" i="0" u="none" strike="noStrike">
                    <a:solidFill>
                      <a:srgbClr val="5A6578"/>
                    </a:solidFill>
                    <a:latin typeface="+mn-lt"/>
                  </a:defRPr>
                </a:pPr>
                <a:r>
                  <a:rPr sz="1100" b="0" i="0" u="none" strike="noStrike">
                    <a:solidFill>
                      <a:srgbClr val="5A6578"/>
                    </a:solidFill>
                    <a:latin typeface="+mn-lt"/>
                  </a:rPr>
                  <a:t>مراجعه اسهال حاد</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5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بدون هشدار</c:v>
                </c:pt>
              </c:strCache>
            </c:strRef>
          </c:tx>
          <c:spPr>
            <a:solidFill>
              <a:srgbClr val="B9C2C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Sheet1!$A$2:$A$43</c:f>
              <c:multiLvlStrCache>
                <c:ptCount val="4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lvl>
              </c:multiLvlStrCache>
            </c:multiLvlStrRef>
          </c:cat>
          <c:val>
            <c:numRef>
              <c:f>Sheet1!$B$2:$B$43</c:f>
              <c:numCache>
                <c:formatCode>General</c:formatCode>
                <c:ptCount val="42"/>
                <c:pt idx="0">
                  <c:v>17</c:v>
                </c:pt>
                <c:pt idx="1">
                  <c:v>27</c:v>
                </c:pt>
                <c:pt idx="2">
                  <c:v>13</c:v>
                </c:pt>
                <c:pt idx="3">
                  <c:v>20</c:v>
                </c:pt>
                <c:pt idx="4">
                  <c:v>22</c:v>
                </c:pt>
                <c:pt idx="5">
                  <c:v>17</c:v>
                </c:pt>
                <c:pt idx="6">
                  <c:v>10</c:v>
                </c:pt>
                <c:pt idx="7">
                  <c:v>23</c:v>
                </c:pt>
                <c:pt idx="8">
                  <c:v>25</c:v>
                </c:pt>
                <c:pt idx="9">
                  <c:v>17</c:v>
                </c:pt>
                <c:pt idx="10">
                  <c:v>26</c:v>
                </c:pt>
                <c:pt idx="11">
                  <c:v>19</c:v>
                </c:pt>
                <c:pt idx="12">
                  <c:v>16</c:v>
                </c:pt>
                <c:pt idx="13">
                  <c:v>8</c:v>
                </c:pt>
                <c:pt idx="14">
                  <c:v>23</c:v>
                </c:pt>
                <c:pt idx="15">
                  <c:v>25</c:v>
                </c:pt>
                <c:pt idx="16">
                  <c:v>25</c:v>
                </c:pt>
                <c:pt idx="17">
                  <c:v>22</c:v>
                </c:pt>
                <c:pt idx="18">
                  <c:v>18</c:v>
                </c:pt>
                <c:pt idx="19">
                  <c:v>24</c:v>
                </c:pt>
                <c:pt idx="20">
                  <c:v>15</c:v>
                </c:pt>
                <c:pt idx="21">
                  <c:v>26</c:v>
                </c:pt>
                <c:pt idx="22">
                  <c:v>25</c:v>
                </c:pt>
                <c:pt idx="23">
                  <c:v>26</c:v>
                </c:pt>
                <c:pt idx="24">
                  <c:v>21</c:v>
                </c:pt>
                <c:pt idx="25">
                  <c:v>20</c:v>
                </c:pt>
                <c:pt idx="26">
                  <c:v>13</c:v>
                </c:pt>
                <c:pt idx="27">
                  <c:v>14</c:v>
                </c:pt>
                <c:pt idx="28">
                  <c:v>0</c:v>
                </c:pt>
                <c:pt idx="29">
                  <c:v>28</c:v>
                </c:pt>
                <c:pt idx="30">
                  <c:v>14</c:v>
                </c:pt>
                <c:pt idx="31">
                  <c:v>18</c:v>
                </c:pt>
                <c:pt idx="32">
                  <c:v>28</c:v>
                </c:pt>
                <c:pt idx="33">
                  <c:v>23</c:v>
                </c:pt>
                <c:pt idx="34">
                  <c:v>22</c:v>
                </c:pt>
                <c:pt idx="35">
                  <c:v>37</c:v>
                </c:pt>
                <c:pt idx="36">
                  <c:v>0</c:v>
                </c:pt>
                <c:pt idx="37">
                  <c:v>41</c:v>
                </c:pt>
                <c:pt idx="38">
                  <c:v>40</c:v>
                </c:pt>
                <c:pt idx="39">
                  <c:v>29</c:v>
                </c:pt>
                <c:pt idx="40">
                  <c:v>26</c:v>
                </c:pt>
                <c:pt idx="41">
                  <c:v>15</c:v>
                </c:pt>
              </c:numCache>
            </c:numRef>
          </c:val>
        </c:ser>
        <c:ser>
          <c:idx val="1"/>
          <c:order val="1"/>
          <c:tx>
            <c:strRef>
              <c:f>Sheet1!$C$1</c:f>
              <c:strCache>
                <c:ptCount val="1"/>
                <c:pt idx="0">
                  <c:v>هشدار C2</c:v>
                </c:pt>
              </c:strCache>
            </c:strRef>
          </c:tx>
          <c:spPr>
            <a:solidFill>
              <a:srgbClr val="C842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Sheet1!$A$2:$A$43</c:f>
              <c:multiLvlStrCache>
                <c:ptCount val="4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lvl>
              </c:multiLvlStrCache>
            </c:multiLvlStrRef>
          </c:cat>
          <c:val>
            <c:numRef>
              <c:f>Sheet1!$C$2:$C$43</c:f>
              <c:numCache>
                <c:formatCode>General</c:formatCode>
                <c:ptCount val="4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35</c:v>
                </c:pt>
                <c:pt idx="29">
                  <c:v>0</c:v>
                </c:pt>
                <c:pt idx="30">
                  <c:v>0</c:v>
                </c:pt>
                <c:pt idx="31">
                  <c:v>0</c:v>
                </c:pt>
                <c:pt idx="32">
                  <c:v>0</c:v>
                </c:pt>
                <c:pt idx="33">
                  <c:v>0</c:v>
                </c:pt>
                <c:pt idx="34">
                  <c:v>0</c:v>
                </c:pt>
                <c:pt idx="35">
                  <c:v>0</c:v>
                </c:pt>
                <c:pt idx="36">
                  <c:v>48</c:v>
                </c:pt>
                <c:pt idx="37">
                  <c:v>0</c:v>
                </c:pt>
                <c:pt idx="38">
                  <c:v>0</c:v>
                </c:pt>
                <c:pt idx="39">
                  <c:v>0</c:v>
                </c:pt>
                <c:pt idx="40">
                  <c:v>0</c:v>
                </c:pt>
                <c:pt idx="4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100"/>
        <c:axId val="2094734554"/>
        <c:axId val="2094734552"/>
        <c:axId val="2094734556"/>
      </c:barChart>
      <c:lineChart>
        <c:varyColors val="0"/>
        <c:ser>
          <c:idx val="2"/>
          <c:order val="2"/>
          <c:tx>
            <c:strRef>
              <c:f>Sheet1!$D$1</c:f>
              <c:strCache>
                <c:ptCount val="1"/>
                <c:pt idx="0">
                  <c:v>آستانه (میانگین + ۳ انحراف معیار)</c:v>
                </c:pt>
              </c:strCache>
            </c:strRef>
          </c:tx>
          <c:spPr>
            <a:solidFill>
              <a:srgbClr val="E39B2D"/>
            </a:solidFill>
            <a:ln w="25400" cap="flat">
              <a:solidFill>
                <a:srgbClr val="E39B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9B2D"/>
              </a:solidFill>
              <a:ln w="9525" cap="flat">
                <a:solidFill>
                  <a:srgbClr val="E39B2D"/>
                </a:solidFill>
                <a:prstDash val="solid"/>
                <a:round/>
              </a:ln>
              <a:effectLst/>
            </c:spPr>
          </c:marker>
          <c:cat>
            <c:multiLvlStrRef>
              <c:f>Sheet1!$A$2:$A$43</c:f>
              <c:multiLvlStrCache>
                <c:ptCount val="4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lvl>
              </c:multiLvlStrCache>
            </c:multiLvlStrRef>
          </c:cat>
          <c:val>
            <c:numRef>
              <c:f>Sheet1!$D$2:$D$43</c:f>
              <c:numCache>
                <c:formatCode>General</c:formatCode>
                <c:ptCount val="42"/>
                <c:pt idx="0">
                  <c:v/>
                </c:pt>
                <c:pt idx="1">
                  <c:v/>
                </c:pt>
                <c:pt idx="2">
                  <c:v/>
                </c:pt>
                <c:pt idx="3">
                  <c:v/>
                </c:pt>
                <c:pt idx="4">
                  <c:v/>
                </c:pt>
                <c:pt idx="5">
                  <c:v/>
                </c:pt>
                <c:pt idx="6">
                  <c:v/>
                </c:pt>
                <c:pt idx="7">
                  <c:v/>
                </c:pt>
                <c:pt idx="8">
                  <c:v/>
                </c:pt>
                <c:pt idx="9">
                  <c:v>35</c:v>
                </c:pt>
                <c:pt idx="10">
                  <c:v>36.6</c:v>
                </c:pt>
                <c:pt idx="11">
                  <c:v>35.1</c:v>
                </c:pt>
                <c:pt idx="12">
                  <c:v>34.2</c:v>
                </c:pt>
                <c:pt idx="13">
                  <c:v>37</c:v>
                </c:pt>
                <c:pt idx="14">
                  <c:v>36.4</c:v>
                </c:pt>
                <c:pt idx="15">
                  <c:v>36.5</c:v>
                </c:pt>
                <c:pt idx="16">
                  <c:v>37.9</c:v>
                </c:pt>
                <c:pt idx="17">
                  <c:v>37.9</c:v>
                </c:pt>
                <c:pt idx="18">
                  <c:v>37.9</c:v>
                </c:pt>
                <c:pt idx="19">
                  <c:v>39.9</c:v>
                </c:pt>
                <c:pt idx="20">
                  <c:v>38</c:v>
                </c:pt>
                <c:pt idx="21">
                  <c:v>38</c:v>
                </c:pt>
                <c:pt idx="22">
                  <c:v>39</c:v>
                </c:pt>
                <c:pt idx="23">
                  <c:v>33.2</c:v>
                </c:pt>
                <c:pt idx="24">
                  <c:v>34.6</c:v>
                </c:pt>
                <c:pt idx="25">
                  <c:v>34.6</c:v>
                </c:pt>
                <c:pt idx="26">
                  <c:v>35.1</c:v>
                </c:pt>
                <c:pt idx="27">
                  <c:v>35</c:v>
                </c:pt>
                <c:pt idx="28">
                  <c:v>34.5</c:v>
                </c:pt>
                <c:pt idx="29">
                  <c:v>36.7</c:v>
                </c:pt>
                <c:pt idx="30">
                  <c:v>37.1</c:v>
                </c:pt>
                <c:pt idx="31">
                  <c:v>44.7</c:v>
                </c:pt>
                <c:pt idx="32">
                  <c:v>46</c:v>
                </c:pt>
                <c:pt idx="33">
                  <c:v>45.4</c:v>
                </c:pt>
                <c:pt idx="34">
                  <c:v>45.2</c:v>
                </c:pt>
                <c:pt idx="35">
                  <c:v>47.8</c:v>
                </c:pt>
                <c:pt idx="36">
                  <c:v>46.8</c:v>
                </c:pt>
                <c:pt idx="37">
                  <c:v>45</c:v>
                </c:pt>
                <c:pt idx="38">
                  <c:v>46.9</c:v>
                </c:pt>
                <c:pt idx="39">
                  <c:v>62.5</c:v>
                </c:pt>
                <c:pt idx="40">
                  <c:v>64.5</c:v>
                </c:pt>
                <c:pt idx="41">
                  <c:v>63.9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578"/>
                </a:solidFill>
                <a:latin typeface="+mn-lt"/>
              </a:defRPr>
            </a:pPr>
            <a:endParaRPr lang="en-US"/>
          </a:p>
        </c:txPr>
        <c:crossAx val="2094734552"/>
        <c:crosses val="autoZero"/>
        <c:auto val="1"/>
        <c:lblAlgn val="ctr"/>
        <c:noMultiLvlLbl val="1"/>
        <c:tickLblSkip val="7"/>
      </c:catAx>
      <c:valAx>
        <c:axId val="2094734552"/>
        <c:scaling>
          <c:orientation val="minMax"/>
        </c:scaling>
        <c:delete val="0"/>
        <c:axPos val="l"/>
        <c:majorGridlines>
          <c:spPr>
            <a:ln w="9525"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5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A6578"/>
              </a:solidFill>
              <a:latin typeface="+mn-lt"/>
              <a:cs typeface="+mn-lt"/>
            </a:defRPr>
          </a:pPr>
          <a:endParaRPr lang="en-US"/>
        </a:p>
      </c:txPr>
    </c:legend>
    <c:plotVisOnly val="1"/>
    <c:dispBlanksAs val="gap"/>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آماره CUSUM</c:v>
                </c:pt>
              </c:strCache>
            </c:strRef>
          </c:tx>
          <c:spPr>
            <a:solidFill>
              <a:srgbClr val="3D6B9E"/>
            </a:solidFill>
            <a:ln w="38100" cap="flat">
              <a:solidFill>
                <a:srgbClr val="3D6B9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D6B9E"/>
              </a:solidFill>
              <a:ln w="9525" cap="flat">
                <a:solidFill>
                  <a:srgbClr val="3D6B9E"/>
                </a:solidFill>
                <a:prstDash val="solid"/>
                <a:round/>
              </a:ln>
              <a:effectLst/>
            </c:spPr>
          </c:marker>
          <c:cat>
            <c:multiLvlStrRef>
              <c:f>Sheet1!$A$2:$A$43</c:f>
              <c:multiLvlStrCache>
                <c:ptCount val="4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lvl>
              </c:multiLvlStrCache>
            </c:multiLvlStrRef>
          </c:cat>
          <c:val>
            <c:numRef>
              <c:f>Sheet1!$B$2:$B$43</c:f>
              <c:numCache>
                <c:formatCode>General</c:formatCode>
                <c:ptCount val="42"/>
                <c:pt idx="0">
                  <c:v>0</c:v>
                </c:pt>
                <c:pt idx="1">
                  <c:v>0.85</c:v>
                </c:pt>
                <c:pt idx="2">
                  <c:v>0</c:v>
                </c:pt>
                <c:pt idx="3">
                  <c:v>0</c:v>
                </c:pt>
                <c:pt idx="4">
                  <c:v>0</c:v>
                </c:pt>
                <c:pt idx="5">
                  <c:v>0</c:v>
                </c:pt>
                <c:pt idx="6">
                  <c:v>0</c:v>
                </c:pt>
                <c:pt idx="7">
                  <c:v>0.09</c:v>
                </c:pt>
                <c:pt idx="8">
                  <c:v>0.56</c:v>
                </c:pt>
                <c:pt idx="9">
                  <c:v>0</c:v>
                </c:pt>
                <c:pt idx="10">
                  <c:v>0.66</c:v>
                </c:pt>
                <c:pt idx="11">
                  <c:v>0</c:v>
                </c:pt>
                <c:pt idx="12">
                  <c:v>0</c:v>
                </c:pt>
                <c:pt idx="13">
                  <c:v>0</c:v>
                </c:pt>
                <c:pt idx="14">
                  <c:v>0.09</c:v>
                </c:pt>
                <c:pt idx="15">
                  <c:v>0.56</c:v>
                </c:pt>
                <c:pt idx="16">
                  <c:v>1.03</c:v>
                </c:pt>
                <c:pt idx="17">
                  <c:v>0.93</c:v>
                </c:pt>
                <c:pt idx="18">
                  <c:v>0.07</c:v>
                </c:pt>
                <c:pt idx="19">
                  <c:v>0.35</c:v>
                </c:pt>
                <c:pt idx="20">
                  <c:v>0</c:v>
                </c:pt>
                <c:pt idx="21">
                  <c:v>0.66</c:v>
                </c:pt>
                <c:pt idx="22">
                  <c:v>1.13</c:v>
                </c:pt>
                <c:pt idx="23">
                  <c:v>1.79</c:v>
                </c:pt>
                <c:pt idx="24">
                  <c:v>1.49</c:v>
                </c:pt>
                <c:pt idx="25">
                  <c:v>1.02</c:v>
                </c:pt>
                <c:pt idx="26">
                  <c:v>0</c:v>
                </c:pt>
                <c:pt idx="27">
                  <c:v>0</c:v>
                </c:pt>
                <c:pt idx="28">
                  <c:v>2.37</c:v>
                </c:pt>
                <c:pt idx="29">
                  <c:v>3.4</c:v>
                </c:pt>
                <c:pt idx="30">
                  <c:v>1.79</c:v>
                </c:pt>
                <c:pt idx="31">
                  <c:v>0.93</c:v>
                </c:pt>
                <c:pt idx="32">
                  <c:v>1.96</c:v>
                </c:pt>
                <c:pt idx="33">
                  <c:v>2.05</c:v>
                </c:pt>
                <c:pt idx="34">
                  <c:v>1.95</c:v>
                </c:pt>
                <c:pt idx="35">
                  <c:v>4.7</c:v>
                </c:pt>
                <c:pt idx="36">
                  <c:v>9.53</c:v>
                </c:pt>
                <c:pt idx="37">
                  <c:v>13.03</c:v>
                </c:pt>
                <c:pt idx="38">
                  <c:v>16.34</c:v>
                </c:pt>
                <c:pt idx="39">
                  <c:v>17.57</c:v>
                </c:pt>
                <c:pt idx="40">
                  <c:v>18.23</c:v>
                </c:pt>
                <c:pt idx="41">
                  <c:v>16.8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آستانه (h)</c:v>
                </c:pt>
              </c:strCache>
            </c:strRef>
          </c:tx>
          <c:spPr>
            <a:solidFill>
              <a:srgbClr val="C8423A"/>
            </a:solidFill>
            <a:ln w="25400" cap="flat">
              <a:solidFill>
                <a:srgbClr val="C8423A"/>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423A"/>
              </a:solidFill>
              <a:ln w="9525" cap="flat">
                <a:solidFill>
                  <a:srgbClr val="C8423A"/>
                </a:solidFill>
                <a:prstDash val="solid"/>
                <a:round/>
              </a:ln>
              <a:effectLst/>
            </c:spPr>
          </c:marker>
          <c:cat>
            <c:multiLvlStrRef>
              <c:f>Sheet1!$A$2:$A$43</c:f>
              <c:multiLvlStrCache>
                <c:ptCount val="4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lvl>
              </c:multiLvlStrCache>
            </c:multiLvlStrRef>
          </c:cat>
          <c:val>
            <c:numRef>
              <c:f>Sheet1!$C$2:$C$43</c:f>
              <c:numCache>
                <c:formatCode>General</c:formatCode>
                <c:ptCount val="42"/>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578"/>
                </a:solidFill>
                <a:latin typeface="+mn-lt"/>
              </a:defRPr>
            </a:pPr>
            <a:endParaRPr lang="en-US"/>
          </a:p>
        </c:txPr>
        <c:crossAx val="2094734552"/>
        <c:crosses val="autoZero"/>
        <c:auto val="1"/>
        <c:lblAlgn val="ctr"/>
        <c:noMultiLvlLbl val="1"/>
        <c:tickLblSkip val="7"/>
      </c:catAx>
      <c:valAx>
        <c:axId val="2094734552"/>
        <c:scaling>
          <c:orientation val="minMax"/>
        </c:scaling>
        <c:delete val="0"/>
        <c:axPos val="l"/>
        <c:majorGridlines>
          <c:spPr>
            <a:ln w="9525"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5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A657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جلسه: دانشجو در پایان بتواند (۱) تفاوت نظارت شاخص‌محور و رویدادمحور را توضیح دهد، (۲) منطق مشترک روش‌های آماری کشف (مشاهده‌شده در برابر مورد انتظار) را بیان کند، (۳) EARS، CUSUM و Farrington را روی یک مثال تفسیر کند، و (۴) دام‌های عملی مثل اثر روز هفته، تأخیر گزارش و آزمون چندگانه را تشخیص دهد. زمان کل: حدود ۶۰ دقیقه، شامل ۱۵ دقیقه فعالیت گروهی.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بدون هیچ توضیح نمودار را نشان دهید. ۲ دقیقه وقت بدهید و پاسخ گروه‌ها را روی تخته ثبت کنید. معمولاً دانشجوها یا روز ۲۹ (شنبه ۱۳ تیر) را می‌گویند که فقط اثر پس از جمعه است، یا روز ۳۷ و ۳۸ را که قله واضح است. طغیان واقعی از روز ۳۱ (۱۵ تیر) شروع شده است. هنوز این را نگویید.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مثال برای IBS: افزایش مراجعه اسهال در سامانه گزارش‌دهی. مثال برای EBS: یک خبر محلی درباره مرگ چند گوسفند و تب چوپان؛ این مثال را برای جلسه CCHF نگه دارید. نکته کلیدی: بسیاری از طغیان‌های مهم ابتدا از طریق EBS دیده شده‌اند، چون بیماری جدید هنوز در فهرست گزارش‌دهی نیست.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از راست به چپ بخوانید. بپرسید: در شبکه بهداشت شما، چه کسی و در چند ساعت یک سیگنال را راستی‌آزمایی می‌کند؟ آیا ثبت می‌شود که سیگنال رد شد یا تأیید شد؟ این ثبت برای ارزیابی عملکرد نظام لازم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اسلاید ستون فقرات جلسه است. از دانشجو بپرسید در شهرستان آن‌ها هزینه یک هشدار کاذب چیست (وقت کارشناس، اعزام تیم، اعتبار نظام) و هزینه یک طغیان دیده‌نشده چیست. انتخاب آستانه یک تصمیم سیاستی است، نه فقط آماری.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دو ستون قرمز را نشان دهید. روز ۲۹ (شنبه ۱۳ تیر) هشدار کاذب است: شنبه‌ها به‌خاطر تعطیلی جمعه همیشه بالاترند و C2 این را نمی‌داند. روز ۳۷ (۲۱ تیر) اولین هشدار درست است، یعنی ۶ روز پس از شروع واقعی. سؤال: چرا C2 روزهای ۳۲ تا ۳۶ را ندید؟ پاسخ: انحراف معیار پایه به‌خاطر نوسان روز هفته بزرگ است و آستانه را بالا می‌برد.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CUSUM برای افزایش‌های کوچک ولی پایدار ساخته شده است؛ خاستگاهش کنترل کیفیت صنعتی است. نکته آموزشی: پس از روز ۳۶ آماره تا آخر بالای آستانه می‌ماند. در عمل پس از هر هشدار آن را صفر می‌کنند، وگرنه یک هشدار به ده هشدار پیاپی تبدیل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پاسخ گروه‌ها را با جدول مقایسه کنید. معمولاً چشم انسان یا خیلی زود (روز ۲۹) هشدار می‌دهد یا خیلی دیر. پیام: الگوریتم جای قضاوت را نمی‌گیرد، ولی قضاوت را منظم و قابل‌ارزیابی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روش برای بیماری‌های فصلی مثل سالمونلا، آنفلوانزا یا CCHF مناسب است. سؤال برای کلاس: در ایران برای کدام بیماری‌ها پنج سال داده هفتگی پایدار داریم؟ تغییر سامانه گزارش‌دهی یا کووید-۱۹ پایه را چطور خراب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اسلاید پل جلسه بعد (One Health و CCHF) است. توضیح دهید که روش‌های قبلی فقط زمان را می‌دیدند؛ اینجا مکان هم وارد می‌شود. یک خوشه مکانی در یک شهرستان کوچک، در داده کشوری کاملاً گم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روش برتر مطلق وجود ندارد؛ انتخاب به داده موجود و هدف بستگی دارد. برای یک سامانه تازه‌راه‌اندازی‌شده (مثلاً نظارت سندرمیک در یک گردهمایی بزرگ)، EARS تنها گزینه است چون داده تاریخی ندارید.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دام دوم را به تمرین منحنی اپیدمی خوابگاه وصل کنید: همان برش راست و نوروز. برای دام چهارم، محاسبه را روی تخته انجام دهید: ۳۰۰ × ۲۰ × ۰/۰۱ = ۶۰. بپرسید: یک کارشناس استان در روز چند سیگنال را می‌تواند راستی‌آزمایی 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کلاس را به سه گروه تقسیم کنید؛ هر گروه یک سیگنال. ۱۰ دقیقه کار و ۵ دقیقه گزارش. نکات کلیدی برای بحث: الف) قطعی آب یک مخدوش‌کننده و هم یک علت محتمل است؛ با همان روز هفته‌های قبل مقایسه کنید. ب) رویدادمحور است و باید هم بهداشت و هم دامپزشکی را درگیر کند؛ تشخیص افتراقی شامل CCHF است. این را پل جلسه بعد کنید. ج) سیگنال ممکن است در سطح استان دیده نشود ولی در سطح ملی خوشه باشد؛ اینجا اپیدمیولوژی ژنومیک (WGS) کمک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پایان از هر دانشجو بخواهید در یک جمله بگوید اگر فردا مسئول نظارت یک شهرستان شود، اولین تغییری که می‌دهد چیست.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همه مقاله‌ها از PubMed بررسی شده‌اند. بسته surveillance در R همه این روش‌ها را دارد و برای تکلیف عملی مناسب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rtlCol="0"/>
          <a:lstStyle>
            <a:lvl1pPr rtl="1" algn="r" indent="0" marL="0">
              <a:buNone/>
              <a:defRPr lang="en-US" sz="4400" b="1" dirty="0">
                <a:solidFill>
                  <a:schemeClr val="bg1"/>
                </a:solidFill>
              </a:defRPr>
            </a:lvl1pPr>
          </a:lstStyle>
          <a:p>
            <a:pPr algn="r" indent="0" marL="0">
              <a:buNone/>
            </a:pPr>
            <a:endParaRPr lang="en-US" sz="4400" dirty="0"/>
          </a:p>
        </p:txBody>
      </p:sp>
      <p:sp>
        <p:nvSpPr>
          <p:cNvPr id="3" name="Text 0"/>
          <p:cNvSpPr/>
          <p:nvPr>
            <p:ph idx="101" type="body" hasCustomPrompt="1"/>
          </p:nvPr>
        </p:nvSpPr>
        <p:spPr>
          <a:xfrm>
            <a:off x="731520" y="3429000"/>
            <a:ext cx="10698480" cy="1280160"/>
          </a:xfrm>
          <a:prstGeom prst="rect">
            <a:avLst/>
          </a:prstGeom>
          <a:noFill/>
          <a:ln/>
        </p:spPr>
        <p:txBody>
          <a:bodyPr wrap="square" rtlCol="0"/>
          <a:lstStyle>
            <a:lvl1pPr rtl="1" algn="r" indent="0" marL="0">
              <a:buNone/>
              <a:defRPr lang="en-US" sz="2000" dirty="0">
                <a:solidFill>
                  <a:schemeClr val="accent6"/>
                </a:solidFill>
              </a:defRPr>
            </a:lvl1pPr>
          </a:lstStyle>
          <a:p>
            <a:pPr algn="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rtl="1" algn="r" indent="0" marL="0">
              <a:buNone/>
              <a:defRPr lang="en-US" sz="3000" b="1" dirty="0">
                <a:solidFill>
                  <a:schemeClr val="tx1"/>
                </a:solidFill>
              </a:defRPr>
            </a:lvl1pPr>
          </a:lstStyle>
          <a:p>
            <a:pPr algn="r" indent="0" marL="0">
              <a:buNone/>
            </a:pPr>
            <a:endParaRPr lang="en-US" sz="3000" dirty="0"/>
          </a:p>
        </p:txBody>
      </p:sp>
      <p:sp>
        <p:nvSpPr>
          <p:cNvPr id="3" name="Text 0"/>
          <p:cNvSpPr/>
          <p:nvPr/>
        </p:nvSpPr>
        <p:spPr>
          <a:xfrm>
            <a:off x="5669280" y="6400800"/>
            <a:ext cx="5971032" cy="274320"/>
          </a:xfrm>
          <a:prstGeom prst="rect">
            <a:avLst/>
          </a:prstGeom>
          <a:noFill/>
          <a:ln/>
        </p:spPr>
        <p:txBody>
          <a:bodyPr wrap="square" rtlCol="0" anchor="ctr"/>
          <a:lstStyle/>
          <a:p>
            <a:pPr algn="r" indent="0" marL="0">
              <a:buNone/>
            </a:pPr>
            <a:r>
              <a:rPr lang="en-US" sz="1000" dirty="0">
                <a:solidFill>
                  <a:schemeClr val="accent4"/>
                </a:solidFill>
              </a:rPr>
              <a:t>کشف زودهنگام طغیان · دکتری اپیدمیولوژی</a:t>
            </a:r>
            <a:endParaRPr lang="en-US"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CTIVITY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rtl="1" algn="r" indent="0" marL="0">
              <a:buNone/>
              <a:defRPr lang="en-US" sz="3000" b="1" dirty="0">
                <a:solidFill>
                  <a:schemeClr val="bg1"/>
                </a:solidFill>
              </a:defRPr>
            </a:lvl1pPr>
          </a:lstStyle>
          <a:p>
            <a:pPr algn="r" indent="0" marL="0">
              <a:buNone/>
            </a:pPr>
            <a:endParaRPr lang="en-US" sz="3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2CF"/>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rtlCol="0" anchor="b"/>
          <a:lstStyle/>
          <a:p>
            <a:pPr rtl="1" algn="r" indent="0" marL="0">
              <a:buNone/>
            </a:pPr>
            <a:r>
              <a:rPr lang="fa-IR" altLang="en-US" sz="4400" b="1" dirty="0">
                <a:solidFill>
                  <a:schemeClr val="bg1"/>
                </a:solidFill>
              </a:rPr>
              <a:t>کشف زودهنگام طغیان</a:t>
            </a:r>
            <a:endParaRPr lang="fa-IR" sz="4400" dirty="0"/>
          </a:p>
        </p:txBody>
      </p:sp>
      <p:sp>
        <p:nvSpPr>
          <p:cNvPr id="3" name="Text 0"/>
          <p:cNvSpPr/>
          <p:nvPr>
            <p:ph idx="101" type="body" hasCustomPrompt="1"/>
          </p:nvPr>
        </p:nvSpPr>
        <p:spPr>
          <a:xfrm>
            <a:off x="731520" y="3429000"/>
            <a:ext cx="10698480" cy="1280160"/>
          </a:xfrm>
          <a:prstGeom prst="rect">
            <a:avLst/>
          </a:prstGeom>
          <a:noFill/>
          <a:ln/>
        </p:spPr>
        <p:txBody>
          <a:bodyPr wrap="square" rtlCol="0" anchor="t"/>
          <a:lstStyle/>
          <a:p>
            <a:pPr rtl="1" algn="r" indent="0" marL="0">
              <a:buNone/>
            </a:pPr>
            <a:r>
              <a:rPr lang="fa-IR" altLang="en-US" sz="2000" dirty="0">
                <a:solidFill>
                  <a:schemeClr val="accent6"/>
                </a:solidFill>
              </a:rPr>
              <a:t>از سیگنال تا اقدام: روش‌های آماری و نظارت مبتنی بر رویداد (Early outbreak detection)</a:t>
            </a:r>
            <a:endParaRPr lang="fa-IR" sz="2000" dirty="0"/>
          </a:p>
        </p:txBody>
      </p:sp>
      <p:sp>
        <p:nvSpPr>
          <p:cNvPr id="4" name="title-bell-circle"/>
          <p:cNvSpPr/>
          <p:nvPr/>
        </p:nvSpPr>
        <p:spPr>
          <a:xfrm>
            <a:off x="10515600" y="731520"/>
            <a:ext cx="914400" cy="914400"/>
          </a:xfrm>
          <a:prstGeom prst="ellipse">
            <a:avLst/>
          </a:prstGeom>
          <a:solidFill>
            <a:schemeClr val="accent1"/>
          </a:solidFill>
          <a:ln w="12700">
            <a:solidFill>
              <a:schemeClr val="accent1"/>
            </a:solidFill>
            <a:prstDash val="solid"/>
          </a:ln>
        </p:spPr>
      </p:sp>
      <p:pic>
        <p:nvPicPr>
          <p:cNvPr id="5" name="title-bell-icon" descr="preencoded.png">    </p:cNvPr>
          <p:cNvPicPr>
            <a:picLocks noChangeAspect="1"/>
          </p:cNvPicPr>
          <p:nvPr/>
        </p:nvPicPr>
        <p:blipFill>
          <a:blip r:embed="rId1"/>
          <a:stretch>
            <a:fillRect/>
          </a:stretch>
        </p:blipFill>
        <p:spPr>
          <a:xfrm>
            <a:off x="10744200" y="96012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روز چندم زنگ خطر را می‌زنید؟</a:t>
            </a:r>
            <a:endParaRPr lang="fa-IR" sz="3000" dirty="0"/>
          </a:p>
        </p:txBody>
      </p:sp>
      <p:graphicFrame>
        <p:nvGraphicFramePr>
          <p:cNvPr id="3" name="hook-chart" descr=""/>
          <p:cNvGraphicFramePr/>
          <p:nvPr/>
        </p:nvGraphicFramePr>
        <p:xfrm>
          <a:off x="548640" y="1280160"/>
          <a:ext cx="7680960" cy="4846320"/>
        </p:xfrm>
        <a:graphic xmlns:a="http://schemas.openxmlformats.org/drawingml/2006/main">
          <a:graphicData uri="http://schemas.openxmlformats.org/drawingml/2006/chart">
            <c:chart xmlns:c="http://schemas.openxmlformats.org/drawingml/2006/chart" r:id="rId1"/>
          </a:graphicData>
        </a:graphic>
      </p:graphicFrame>
      <p:sp>
        <p:nvSpPr>
          <p:cNvPr id="4" name="hook-card"/>
          <p:cNvSpPr/>
          <p:nvPr/>
        </p:nvSpPr>
        <p:spPr>
          <a:xfrm>
            <a:off x="8503920" y="1463040"/>
            <a:ext cx="3136392" cy="4480560"/>
          </a:xfrm>
          <a:prstGeom prst="roundRect">
            <a:avLst>
              <a:gd name="adj" fmla="val 3499"/>
            </a:avLst>
          </a:prstGeom>
          <a:solidFill>
            <a:schemeClr val="bg2"/>
          </a:solidFill>
          <a:ln w="12700">
            <a:solidFill>
              <a:schemeClr val="bg2"/>
            </a:solidFill>
            <a:prstDash val="solid"/>
          </a:ln>
        </p:spPr>
      </p:sp>
      <p:sp>
        <p:nvSpPr>
          <p:cNvPr id="5" name="Text 2"/>
          <p:cNvSpPr txBox="1"/>
          <p:nvPr/>
        </p:nvSpPr>
        <p:spPr>
          <a:xfrm>
            <a:off x="8732520" y="1691640"/>
            <a:ext cx="2697480" cy="4023360"/>
          </a:xfrm>
          <a:prstGeom prst="rect">
            <a:avLst/>
          </a:prstGeom>
          <a:noFill/>
          <a:ln/>
        </p:spPr>
        <p:txBody>
          <a:bodyPr wrap="square" lIns="0" tIns="0" rIns="0" bIns="0" rtlCol="0" anchor="t"/>
          <a:lstStyle/>
          <a:p>
            <a:pPr rtl="1" algn="r" indent="0" marL="0">
              <a:spcAft>
                <a:spcPts val="1400"/>
              </a:spcAft>
              <a:buNone/>
            </a:pPr>
            <a:r>
              <a:rPr lang="fa-IR" altLang="en-US" sz="1500" dirty="0">
                <a:solidFill>
                  <a:schemeClr val="tx1"/>
                </a:solidFill>
              </a:rPr>
              <a:t>مراجعه روزانه به‌علت اسهال حاد در مراکز یک شبکه بهداشت (داده ساختگی، ۴۲ روز).</a:t>
            </a:r>
            <a:endParaRPr lang="fa-IR" sz="1500" dirty="0"/>
          </a:p>
          <a:p>
            <a:pPr rtl="1" algn="r" indent="0" marL="0">
              <a:spcAft>
                <a:spcPts val="600"/>
              </a:spcAft>
              <a:buNone/>
            </a:pPr>
            <a:r>
              <a:rPr lang="fa-IR" altLang="en-US" sz="1500" b="1" dirty="0">
                <a:solidFill>
                  <a:schemeClr val="tx1"/>
                </a:solidFill>
              </a:rPr>
              <a:t>هر گروه یک روز را انتخاب کند:</a:t>
            </a:r>
            <a:endParaRPr lang="fa-IR" sz="1500" dirty="0"/>
          </a:p>
          <a:p>
            <a:pPr rtl="1" algn="r" indent="0" marL="0">
              <a:spcAft>
                <a:spcPts val="1400"/>
              </a:spcAft>
              <a:buNone/>
            </a:pPr>
            <a:r>
              <a:rPr lang="fa-IR" altLang="en-US" sz="1500" dirty="0">
                <a:solidFill>
                  <a:schemeClr val="tx1"/>
                </a:solidFill>
              </a:rPr>
              <a:t>از کدام روز مطمئن‌اید که «بیش از انتظار» است؟ چرا؟</a:t>
            </a:r>
            <a:endParaRPr lang="fa-IR" sz="1500" dirty="0"/>
          </a:p>
          <a:p>
            <a:pPr rtl="1" algn="r" indent="0" marL="0">
              <a:buNone/>
            </a:pPr>
            <a:r>
              <a:rPr lang="fa-IR" altLang="en-US" sz="1500" b="1" dirty="0">
                <a:solidFill>
                  <a:schemeClr val="accent2"/>
                </a:solidFill>
              </a:rPr>
              <a:t>پاسخ را روی تخته بنویسید؛ در اسلاید ۸ مقایسه می‌کنیم.</a:t>
            </a:r>
            <a:endParaRPr lang="fa-IR" sz="15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دو مسیر کشف: شاخص‌محور و رویدادمحور</a:t>
            </a:r>
            <a:endParaRPr lang="fa-IR" sz="3000" dirty="0"/>
          </a:p>
        </p:txBody>
      </p:sp>
      <p:sp>
        <p:nvSpPr>
          <p:cNvPr id="3" name="ibs-ebs-card"/>
          <p:cNvSpPr/>
          <p:nvPr/>
        </p:nvSpPr>
        <p:spPr>
          <a:xfrm>
            <a:off x="6263640" y="1371600"/>
            <a:ext cx="5376672" cy="4206240"/>
          </a:xfrm>
          <a:prstGeom prst="roundRect">
            <a:avLst>
              <a:gd name="adj" fmla="val 2609"/>
            </a:avLst>
          </a:prstGeom>
          <a:solidFill>
            <a:schemeClr val="bg2"/>
          </a:solidFill>
          <a:ln w="12700">
            <a:solidFill>
              <a:schemeClr val="bg2"/>
            </a:solidFill>
            <a:prstDash val="solid"/>
          </a:ln>
        </p:spPr>
      </p:sp>
      <p:sp>
        <p:nvSpPr>
          <p:cNvPr id="4" name="ibs-ebs-circle"/>
          <p:cNvSpPr/>
          <p:nvPr/>
        </p:nvSpPr>
        <p:spPr>
          <a:xfrm>
            <a:off x="10634472" y="1600200"/>
            <a:ext cx="777240" cy="777240"/>
          </a:xfrm>
          <a:prstGeom prst="ellipse">
            <a:avLst/>
          </a:prstGeom>
          <a:solidFill>
            <a:schemeClr val="accent3"/>
          </a:solidFill>
          <a:ln w="12700">
            <a:solidFill>
              <a:schemeClr val="accent3"/>
            </a:solidFill>
            <a:prstDash val="solid"/>
          </a:ln>
        </p:spPr>
      </p:sp>
      <p:pic>
        <p:nvPicPr>
          <p:cNvPr id="5" name="ibs-ebs-icon" descr="preencoded.png">    </p:cNvPr>
          <p:cNvPicPr>
            <a:picLocks noChangeAspect="1"/>
          </p:cNvPicPr>
          <p:nvPr/>
        </p:nvPicPr>
        <p:blipFill>
          <a:blip r:embed="rId1"/>
          <a:stretch>
            <a:fillRect/>
          </a:stretch>
        </p:blipFill>
        <p:spPr>
          <a:xfrm>
            <a:off x="10828782" y="1794510"/>
            <a:ext cx="388620" cy="388620"/>
          </a:xfrm>
          <a:prstGeom prst="rect">
            <a:avLst/>
          </a:prstGeom>
        </p:spPr>
      </p:pic>
      <p:sp>
        <p:nvSpPr>
          <p:cNvPr id="6" name="Text 3"/>
          <p:cNvSpPr txBox="1"/>
          <p:nvPr/>
        </p:nvSpPr>
        <p:spPr>
          <a:xfrm>
            <a:off x="6537960" y="1645920"/>
            <a:ext cx="3931920" cy="411480"/>
          </a:xfrm>
          <a:prstGeom prst="rect">
            <a:avLst/>
          </a:prstGeom>
          <a:noFill/>
          <a:ln/>
        </p:spPr>
        <p:txBody>
          <a:bodyPr wrap="square" lIns="0" tIns="0" rIns="0" bIns="0" rtlCol="0" anchor="t"/>
          <a:lstStyle/>
          <a:p>
            <a:pPr rtl="1" algn="r" indent="0" marL="0">
              <a:buNone/>
            </a:pPr>
            <a:r>
              <a:rPr lang="fa-IR" altLang="en-US" sz="2200" b="1" dirty="0">
                <a:solidFill>
                  <a:schemeClr val="tx1"/>
                </a:solidFill>
              </a:rPr>
              <a:t>نظارت شاخص‌محور</a:t>
            </a:r>
            <a:endParaRPr lang="fa-IR" sz="2200" dirty="0"/>
          </a:p>
        </p:txBody>
      </p:sp>
      <p:sp>
        <p:nvSpPr>
          <p:cNvPr id="7" name="Text 4"/>
          <p:cNvSpPr txBox="1"/>
          <p:nvPr/>
        </p:nvSpPr>
        <p:spPr>
          <a:xfrm>
            <a:off x="6537960" y="2103120"/>
            <a:ext cx="3931920" cy="320040"/>
          </a:xfrm>
          <a:prstGeom prst="rect">
            <a:avLst/>
          </a:prstGeom>
          <a:noFill/>
          <a:ln/>
        </p:spPr>
        <p:txBody>
          <a:bodyPr wrap="square" lIns="0" tIns="0" rIns="0" bIns="0" rtlCol="0" anchor="t"/>
          <a:lstStyle/>
          <a:p>
            <a:pPr rtl="1" algn="r" indent="0" marL="0">
              <a:buNone/>
            </a:pPr>
            <a:r>
              <a:rPr lang="fa-IR" altLang="en-US" sz="1300" dirty="0">
                <a:solidFill>
                  <a:schemeClr val="accent4"/>
                </a:solidFill>
              </a:rPr>
              <a:t>Indicator-based surveillance (IBS)</a:t>
            </a:r>
            <a:endParaRPr lang="fa-IR" sz="1300" dirty="0"/>
          </a:p>
        </p:txBody>
      </p:sp>
      <p:sp>
        <p:nvSpPr>
          <p:cNvPr id="8" name="Text 5"/>
          <p:cNvSpPr txBox="1"/>
          <p:nvPr/>
        </p:nvSpPr>
        <p:spPr>
          <a:xfrm>
            <a:off x="6537960" y="2697480"/>
            <a:ext cx="4846320" cy="2743200"/>
          </a:xfrm>
          <a:prstGeom prst="rect">
            <a:avLst/>
          </a:prstGeom>
          <a:noFill/>
          <a:ln/>
        </p:spPr>
        <p:txBody>
          <a:bodyPr wrap="square" lIns="0" tIns="0" rIns="0" bIns="0" rtlCol="0" anchor="t"/>
          <a:lstStyle/>
          <a:p>
            <a:pPr rtl="1" algn="r" marL="342900" indent="-342900">
              <a:spcAft>
                <a:spcPts val="1000"/>
              </a:spcAft>
              <a:buSzPct val="100000"/>
              <a:buChar char="•"/>
            </a:pPr>
            <a:r>
              <a:rPr lang="fa-IR" altLang="en-US" sz="1600" dirty="0">
                <a:solidFill>
                  <a:schemeClr val="tx1"/>
                </a:solidFill>
              </a:rPr>
              <a:t>داده ساختاریافته و منظم: بیماری‌های گزارش‌دادنی، سندرمیک، آزمایشگاه</a:t>
            </a:r>
            <a:endParaRPr lang="fa-IR" sz="1600" dirty="0"/>
          </a:p>
          <a:p>
            <a:pPr rtl="1" algn="r" marL="342900" indent="-342900">
              <a:spcAft>
                <a:spcPts val="1000"/>
              </a:spcAft>
              <a:buSzPct val="100000"/>
              <a:buChar char="•"/>
            </a:pPr>
            <a:r>
              <a:rPr lang="fa-IR" altLang="en-US" sz="1600" dirty="0">
                <a:solidFill>
                  <a:schemeClr val="tx1"/>
                </a:solidFill>
              </a:rPr>
              <a:t>قوت: روند و آستانه آماری قابل محاسبه</a:t>
            </a:r>
            <a:endParaRPr lang="fa-IR" sz="1600" dirty="0"/>
          </a:p>
          <a:p>
            <a:pPr rtl="1" algn="r" marL="342900" indent="-342900">
              <a:spcAft>
                <a:spcPts val="1000"/>
              </a:spcAft>
              <a:buSzPct val="100000"/>
              <a:buChar char="•"/>
            </a:pPr>
            <a:r>
              <a:rPr lang="fa-IR" altLang="en-US" sz="1600" dirty="0">
                <a:solidFill>
                  <a:schemeClr val="tx1"/>
                </a:solidFill>
              </a:rPr>
              <a:t>ضعف: تأخیر، و ناتوانی در دیدن رویداد ناشناخته</a:t>
            </a:r>
            <a:endParaRPr lang="fa-IR" sz="1600" dirty="0"/>
          </a:p>
        </p:txBody>
      </p:sp>
      <p:sp>
        <p:nvSpPr>
          <p:cNvPr id="9" name="ibs-ebs-card"/>
          <p:cNvSpPr/>
          <p:nvPr/>
        </p:nvSpPr>
        <p:spPr>
          <a:xfrm>
            <a:off x="548640" y="1371600"/>
            <a:ext cx="5376672" cy="4206240"/>
          </a:xfrm>
          <a:prstGeom prst="roundRect">
            <a:avLst>
              <a:gd name="adj" fmla="val 2609"/>
            </a:avLst>
          </a:prstGeom>
          <a:solidFill>
            <a:schemeClr val="bg2"/>
          </a:solidFill>
          <a:ln w="12700">
            <a:solidFill>
              <a:schemeClr val="bg2"/>
            </a:solidFill>
            <a:prstDash val="solid"/>
          </a:ln>
        </p:spPr>
      </p:sp>
      <p:sp>
        <p:nvSpPr>
          <p:cNvPr id="10" name="ibs-ebs-circle"/>
          <p:cNvSpPr/>
          <p:nvPr/>
        </p:nvSpPr>
        <p:spPr>
          <a:xfrm>
            <a:off x="4919472" y="1600200"/>
            <a:ext cx="777240" cy="777240"/>
          </a:xfrm>
          <a:prstGeom prst="ellipse">
            <a:avLst/>
          </a:prstGeom>
          <a:solidFill>
            <a:schemeClr val="accent1"/>
          </a:solidFill>
          <a:ln w="12700">
            <a:solidFill>
              <a:schemeClr val="accent1"/>
            </a:solidFill>
            <a:prstDash val="solid"/>
          </a:ln>
        </p:spPr>
      </p:sp>
      <p:pic>
        <p:nvPicPr>
          <p:cNvPr id="11" name="ibs-ebs-icon" descr="preencoded.png">    </p:cNvPr>
          <p:cNvPicPr>
            <a:picLocks noChangeAspect="1"/>
          </p:cNvPicPr>
          <p:nvPr/>
        </p:nvPicPr>
        <p:blipFill>
          <a:blip r:embed="rId2"/>
          <a:stretch>
            <a:fillRect/>
          </a:stretch>
        </p:blipFill>
        <p:spPr>
          <a:xfrm>
            <a:off x="5113782" y="1794510"/>
            <a:ext cx="388620" cy="388620"/>
          </a:xfrm>
          <a:prstGeom prst="rect">
            <a:avLst/>
          </a:prstGeom>
        </p:spPr>
      </p:pic>
      <p:sp>
        <p:nvSpPr>
          <p:cNvPr id="12" name="Text 8"/>
          <p:cNvSpPr txBox="1"/>
          <p:nvPr/>
        </p:nvSpPr>
        <p:spPr>
          <a:xfrm>
            <a:off x="822960" y="1645920"/>
            <a:ext cx="3931920" cy="411480"/>
          </a:xfrm>
          <a:prstGeom prst="rect">
            <a:avLst/>
          </a:prstGeom>
          <a:noFill/>
          <a:ln/>
        </p:spPr>
        <p:txBody>
          <a:bodyPr wrap="square" lIns="0" tIns="0" rIns="0" bIns="0" rtlCol="0" anchor="t"/>
          <a:lstStyle/>
          <a:p>
            <a:pPr rtl="1" algn="r" indent="0" marL="0">
              <a:buNone/>
            </a:pPr>
            <a:r>
              <a:rPr lang="fa-IR" altLang="en-US" sz="2200" b="1" dirty="0">
                <a:solidFill>
                  <a:schemeClr val="tx1"/>
                </a:solidFill>
              </a:rPr>
              <a:t>نظارت رویدادمحور</a:t>
            </a:r>
            <a:endParaRPr lang="fa-IR" sz="2200" dirty="0"/>
          </a:p>
        </p:txBody>
      </p:sp>
      <p:sp>
        <p:nvSpPr>
          <p:cNvPr id="13" name="Text 9"/>
          <p:cNvSpPr txBox="1"/>
          <p:nvPr/>
        </p:nvSpPr>
        <p:spPr>
          <a:xfrm>
            <a:off x="822960" y="2103120"/>
            <a:ext cx="3931920" cy="320040"/>
          </a:xfrm>
          <a:prstGeom prst="rect">
            <a:avLst/>
          </a:prstGeom>
          <a:noFill/>
          <a:ln/>
        </p:spPr>
        <p:txBody>
          <a:bodyPr wrap="square" lIns="0" tIns="0" rIns="0" bIns="0" rtlCol="0" anchor="t"/>
          <a:lstStyle/>
          <a:p>
            <a:pPr rtl="1" algn="r" indent="0" marL="0">
              <a:buNone/>
            </a:pPr>
            <a:r>
              <a:rPr lang="fa-IR" altLang="en-US" sz="1300" dirty="0">
                <a:solidFill>
                  <a:schemeClr val="accent4"/>
                </a:solidFill>
              </a:rPr>
              <a:t>Event-based surveillance (EBS)</a:t>
            </a:r>
            <a:endParaRPr lang="fa-IR" sz="1300" dirty="0"/>
          </a:p>
        </p:txBody>
      </p:sp>
      <p:sp>
        <p:nvSpPr>
          <p:cNvPr id="14" name="Text 10"/>
          <p:cNvSpPr txBox="1"/>
          <p:nvPr/>
        </p:nvSpPr>
        <p:spPr>
          <a:xfrm>
            <a:off x="822960" y="2697480"/>
            <a:ext cx="4846320" cy="2743200"/>
          </a:xfrm>
          <a:prstGeom prst="rect">
            <a:avLst/>
          </a:prstGeom>
          <a:noFill/>
          <a:ln/>
        </p:spPr>
        <p:txBody>
          <a:bodyPr wrap="square" lIns="0" tIns="0" rIns="0" bIns="0" rtlCol="0" anchor="t"/>
          <a:lstStyle/>
          <a:p>
            <a:pPr rtl="1" algn="r" marL="342900" indent="-342900">
              <a:spcAft>
                <a:spcPts val="1000"/>
              </a:spcAft>
              <a:buSzPct val="100000"/>
              <a:buChar char="•"/>
            </a:pPr>
            <a:r>
              <a:rPr lang="fa-IR" altLang="en-US" sz="1600" dirty="0">
                <a:solidFill>
                  <a:schemeClr val="tx1"/>
                </a:solidFill>
              </a:rPr>
              <a:t>اطلاعات بی‌ساختار: خبر، شایعه، گزارش مردم، دامپزشکی، شبکه‌های اجتماعی</a:t>
            </a:r>
            <a:endParaRPr lang="fa-IR" sz="1600" dirty="0"/>
          </a:p>
          <a:p>
            <a:pPr rtl="1" algn="r" marL="342900" indent="-342900">
              <a:spcAft>
                <a:spcPts val="1000"/>
              </a:spcAft>
              <a:buSzPct val="100000"/>
              <a:buChar char="•"/>
            </a:pPr>
            <a:r>
              <a:rPr lang="fa-IR" altLang="en-US" sz="1600" dirty="0">
                <a:solidFill>
                  <a:schemeClr val="tx1"/>
                </a:solidFill>
              </a:rPr>
              <a:t>قوت: سرعت، و دیدن رویداد جدید</a:t>
            </a:r>
            <a:endParaRPr lang="fa-IR" sz="1600" dirty="0"/>
          </a:p>
          <a:p>
            <a:pPr rtl="1" algn="r" marL="342900" indent="-342900">
              <a:spcAft>
                <a:spcPts val="1000"/>
              </a:spcAft>
              <a:buSzPct val="100000"/>
              <a:buChar char="•"/>
            </a:pPr>
            <a:r>
              <a:rPr lang="fa-IR" altLang="en-US" sz="1600" dirty="0">
                <a:solidFill>
                  <a:schemeClr val="tx1"/>
                </a:solidFill>
              </a:rPr>
              <a:t>ضعف: نویز زیاد؛ هر مورد راستی‌آزمایی می‌خواهد</a:t>
            </a:r>
            <a:endParaRPr lang="fa-IR" sz="1600" dirty="0"/>
          </a:p>
        </p:txBody>
      </p:sp>
      <p:sp>
        <p:nvSpPr>
          <p:cNvPr id="15" name="Text 11"/>
          <p:cNvSpPr txBox="1"/>
          <p:nvPr/>
        </p:nvSpPr>
        <p:spPr>
          <a:xfrm>
            <a:off x="548640" y="5760720"/>
            <a:ext cx="11091672" cy="411480"/>
          </a:xfrm>
          <a:prstGeom prst="rect">
            <a:avLst/>
          </a:prstGeom>
          <a:noFill/>
          <a:ln/>
        </p:spPr>
        <p:txBody>
          <a:bodyPr wrap="square" lIns="0" tIns="0" rIns="0" bIns="0" rtlCol="0" anchor="t"/>
          <a:lstStyle/>
          <a:p>
            <a:pPr rtl="1" algn="r" indent="0" marL="0">
              <a:buNone/>
            </a:pPr>
            <a:r>
              <a:rPr lang="fa-IR" altLang="en-US" sz="1500" b="1" dirty="0">
                <a:solidFill>
                  <a:schemeClr val="tx2"/>
                </a:solidFill>
              </a:rPr>
              <a:t>WHO این دو را با هم «هشدار و پاسخ زودهنگام» (EWAR) می‌نامد؛ هیچ‌کدام به‌تنهایی کافی نیست.</a:t>
            </a:r>
            <a:endParaRPr lang="fa-IR" sz="15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از سیگنال تا پاسخ: هر هشدار طغیان نیست</a:t>
            </a:r>
            <a:endParaRPr lang="fa-IR" sz="3000" dirty="0"/>
          </a:p>
        </p:txBody>
      </p:sp>
      <p:sp>
        <p:nvSpPr>
          <p:cNvPr id="3" name="flow-card-0"/>
          <p:cNvSpPr/>
          <p:nvPr/>
        </p:nvSpPr>
        <p:spPr>
          <a:xfrm>
            <a:off x="9631375" y="1554480"/>
            <a:ext cx="2011680" cy="3383280"/>
          </a:xfrm>
          <a:prstGeom prst="roundRect">
            <a:avLst>
              <a:gd name="adj" fmla="val 5455"/>
            </a:avLst>
          </a:prstGeom>
          <a:solidFill>
            <a:schemeClr val="bg2"/>
          </a:solidFill>
          <a:ln w="12700">
            <a:solidFill>
              <a:schemeClr val="bg2"/>
            </a:solidFill>
            <a:prstDash val="solid"/>
          </a:ln>
        </p:spPr>
      </p:sp>
      <p:sp>
        <p:nvSpPr>
          <p:cNvPr id="4" name="flow-0-circle"/>
          <p:cNvSpPr/>
          <p:nvPr/>
        </p:nvSpPr>
        <p:spPr>
          <a:xfrm>
            <a:off x="10225735" y="1783080"/>
            <a:ext cx="822960" cy="822960"/>
          </a:xfrm>
          <a:prstGeom prst="ellipse">
            <a:avLst/>
          </a:prstGeom>
          <a:solidFill>
            <a:schemeClr val="tx2"/>
          </a:solidFill>
          <a:ln w="12700">
            <a:solidFill>
              <a:schemeClr val="tx2"/>
            </a:solidFill>
            <a:prstDash val="solid"/>
          </a:ln>
        </p:spPr>
      </p:sp>
      <p:pic>
        <p:nvPicPr>
          <p:cNvPr id="5" name="flow-0-icon" descr="preencoded.png">    </p:cNvPr>
          <p:cNvPicPr>
            <a:picLocks noChangeAspect="1"/>
          </p:cNvPicPr>
          <p:nvPr/>
        </p:nvPicPr>
        <p:blipFill>
          <a:blip r:embed="rId1"/>
          <a:stretch>
            <a:fillRect/>
          </a:stretch>
        </p:blipFill>
        <p:spPr>
          <a:xfrm>
            <a:off x="10431475" y="1988820"/>
            <a:ext cx="411480" cy="411480"/>
          </a:xfrm>
          <a:prstGeom prst="rect">
            <a:avLst/>
          </a:prstGeom>
        </p:spPr>
      </p:pic>
      <p:sp>
        <p:nvSpPr>
          <p:cNvPr id="6" name="Text 3"/>
          <p:cNvSpPr txBox="1"/>
          <p:nvPr/>
        </p:nvSpPr>
        <p:spPr>
          <a:xfrm>
            <a:off x="9768535" y="2788920"/>
            <a:ext cx="1737360" cy="411480"/>
          </a:xfrm>
          <a:prstGeom prst="rect">
            <a:avLst/>
          </a:prstGeom>
          <a:noFill/>
          <a:ln/>
        </p:spPr>
        <p:txBody>
          <a:bodyPr wrap="square" lIns="0" tIns="0" rIns="0" bIns="0" rtlCol="0" anchor="t"/>
          <a:lstStyle/>
          <a:p>
            <a:pPr rtl="1" algn="ctr" indent="0" marL="0">
              <a:buNone/>
            </a:pPr>
            <a:r>
              <a:rPr lang="fa-IR" altLang="en-US" sz="1900" b="1" dirty="0">
                <a:solidFill>
                  <a:schemeClr val="tx1"/>
                </a:solidFill>
              </a:rPr>
              <a:t>سیگنال</a:t>
            </a:r>
            <a:endParaRPr lang="fa-IR" sz="1900" dirty="0"/>
          </a:p>
        </p:txBody>
      </p:sp>
      <p:sp>
        <p:nvSpPr>
          <p:cNvPr id="7" name="Text 4"/>
          <p:cNvSpPr txBox="1"/>
          <p:nvPr/>
        </p:nvSpPr>
        <p:spPr>
          <a:xfrm>
            <a:off x="9768535" y="3200400"/>
            <a:ext cx="1737360" cy="274320"/>
          </a:xfrm>
          <a:prstGeom prst="rect">
            <a:avLst/>
          </a:prstGeom>
          <a:noFill/>
          <a:ln/>
        </p:spPr>
        <p:txBody>
          <a:bodyPr wrap="square" lIns="0" tIns="0" rIns="0" bIns="0" rtlCol="0" anchor="t"/>
          <a:lstStyle/>
          <a:p>
            <a:pPr algn="ctr" indent="0" marL="0">
              <a:buNone/>
            </a:pPr>
            <a:r>
              <a:rPr lang="fa-IR" altLang="en-US" sz="1200" dirty="0">
                <a:solidFill>
                  <a:schemeClr val="accent4"/>
                </a:solidFill>
              </a:rPr>
              <a:t>Signal</a:t>
            </a:r>
            <a:endParaRPr lang="fa-IR" sz="1200" dirty="0"/>
          </a:p>
        </p:txBody>
      </p:sp>
      <p:sp>
        <p:nvSpPr>
          <p:cNvPr id="8" name="Text 5"/>
          <p:cNvSpPr txBox="1"/>
          <p:nvPr/>
        </p:nvSpPr>
        <p:spPr>
          <a:xfrm>
            <a:off x="9768535" y="3611880"/>
            <a:ext cx="1737360" cy="1097280"/>
          </a:xfrm>
          <a:prstGeom prst="rect">
            <a:avLst/>
          </a:prstGeom>
          <a:noFill/>
          <a:ln/>
        </p:spPr>
        <p:txBody>
          <a:bodyPr wrap="square" lIns="0" tIns="0" rIns="0" bIns="0" rtlCol="0" anchor="t"/>
          <a:lstStyle/>
          <a:p>
            <a:pPr rtl="1" algn="ctr" indent="0" marL="0">
              <a:buNone/>
            </a:pPr>
            <a:r>
              <a:rPr lang="fa-IR" altLang="en-US" sz="1400" dirty="0">
                <a:solidFill>
                  <a:schemeClr val="tx1"/>
                </a:solidFill>
              </a:rPr>
              <a:t>داده یا خبری که ممکن است خطر باشد</a:t>
            </a:r>
            <a:endParaRPr lang="fa-IR" sz="1400" dirty="0"/>
          </a:p>
        </p:txBody>
      </p:sp>
      <p:sp>
        <p:nvSpPr>
          <p:cNvPr id="9" name="Text 6"/>
          <p:cNvSpPr txBox="1"/>
          <p:nvPr/>
        </p:nvSpPr>
        <p:spPr>
          <a:xfrm>
            <a:off x="9357055" y="3063240"/>
            <a:ext cx="292608" cy="365760"/>
          </a:xfrm>
          <a:prstGeom prst="rect">
            <a:avLst/>
          </a:prstGeom>
          <a:noFill/>
          <a:ln/>
        </p:spPr>
        <p:txBody>
          <a:bodyPr wrap="square" lIns="0" tIns="0" rIns="0" bIns="0" rtlCol="0" anchor="t"/>
          <a:lstStyle/>
          <a:p>
            <a:pPr algn="ctr" indent="0" marL="0">
              <a:buNone/>
            </a:pPr>
            <a:r>
              <a:rPr lang="fa-IR" altLang="en-US" sz="1600" dirty="0">
                <a:solidFill>
                  <a:schemeClr val="accent4"/>
                </a:solidFill>
              </a:rPr>
              <a:t>◀</a:t>
            </a:r>
            <a:endParaRPr lang="fa-IR" sz="1600" dirty="0"/>
          </a:p>
        </p:txBody>
      </p:sp>
      <p:sp>
        <p:nvSpPr>
          <p:cNvPr id="10" name="flow-card-1"/>
          <p:cNvSpPr/>
          <p:nvPr/>
        </p:nvSpPr>
        <p:spPr>
          <a:xfrm>
            <a:off x="7363663" y="1554480"/>
            <a:ext cx="2011680" cy="3383280"/>
          </a:xfrm>
          <a:prstGeom prst="roundRect">
            <a:avLst>
              <a:gd name="adj" fmla="val 5455"/>
            </a:avLst>
          </a:prstGeom>
          <a:solidFill>
            <a:schemeClr val="bg2"/>
          </a:solidFill>
          <a:ln w="12700">
            <a:solidFill>
              <a:schemeClr val="bg2"/>
            </a:solidFill>
            <a:prstDash val="solid"/>
          </a:ln>
        </p:spPr>
      </p:sp>
      <p:sp>
        <p:nvSpPr>
          <p:cNvPr id="11" name="flow-1-circle"/>
          <p:cNvSpPr/>
          <p:nvPr/>
        </p:nvSpPr>
        <p:spPr>
          <a:xfrm>
            <a:off x="7958023" y="1783080"/>
            <a:ext cx="822960" cy="822960"/>
          </a:xfrm>
          <a:prstGeom prst="ellipse">
            <a:avLst/>
          </a:prstGeom>
          <a:solidFill>
            <a:schemeClr val="tx2"/>
          </a:solidFill>
          <a:ln w="12700">
            <a:solidFill>
              <a:schemeClr val="tx2"/>
            </a:solidFill>
            <a:prstDash val="solid"/>
          </a:ln>
        </p:spPr>
      </p:sp>
      <p:pic>
        <p:nvPicPr>
          <p:cNvPr id="12" name="flow-1-icon" descr="preencoded.png">    </p:cNvPr>
          <p:cNvPicPr>
            <a:picLocks noChangeAspect="1"/>
          </p:cNvPicPr>
          <p:nvPr/>
        </p:nvPicPr>
        <p:blipFill>
          <a:blip r:embed="rId2"/>
          <a:stretch>
            <a:fillRect/>
          </a:stretch>
        </p:blipFill>
        <p:spPr>
          <a:xfrm>
            <a:off x="8163763" y="1988820"/>
            <a:ext cx="411480" cy="411480"/>
          </a:xfrm>
          <a:prstGeom prst="rect">
            <a:avLst/>
          </a:prstGeom>
        </p:spPr>
      </p:pic>
      <p:sp>
        <p:nvSpPr>
          <p:cNvPr id="13" name="Text 9"/>
          <p:cNvSpPr txBox="1"/>
          <p:nvPr/>
        </p:nvSpPr>
        <p:spPr>
          <a:xfrm>
            <a:off x="7500823" y="2788920"/>
            <a:ext cx="1737360" cy="411480"/>
          </a:xfrm>
          <a:prstGeom prst="rect">
            <a:avLst/>
          </a:prstGeom>
          <a:noFill/>
          <a:ln/>
        </p:spPr>
        <p:txBody>
          <a:bodyPr wrap="square" lIns="0" tIns="0" rIns="0" bIns="0" rtlCol="0" anchor="t"/>
          <a:lstStyle/>
          <a:p>
            <a:pPr rtl="1" algn="ctr" indent="0" marL="0">
              <a:buNone/>
            </a:pPr>
            <a:r>
              <a:rPr lang="fa-IR" altLang="en-US" sz="1900" b="1" dirty="0">
                <a:solidFill>
                  <a:schemeClr val="tx1"/>
                </a:solidFill>
              </a:rPr>
              <a:t>غربال</a:t>
            </a:r>
            <a:endParaRPr lang="fa-IR" sz="1900" dirty="0"/>
          </a:p>
        </p:txBody>
      </p:sp>
      <p:sp>
        <p:nvSpPr>
          <p:cNvPr id="14" name="Text 10"/>
          <p:cNvSpPr txBox="1"/>
          <p:nvPr/>
        </p:nvSpPr>
        <p:spPr>
          <a:xfrm>
            <a:off x="7500823" y="3200400"/>
            <a:ext cx="1737360" cy="274320"/>
          </a:xfrm>
          <a:prstGeom prst="rect">
            <a:avLst/>
          </a:prstGeom>
          <a:noFill/>
          <a:ln/>
        </p:spPr>
        <p:txBody>
          <a:bodyPr wrap="square" lIns="0" tIns="0" rIns="0" bIns="0" rtlCol="0" anchor="t"/>
          <a:lstStyle/>
          <a:p>
            <a:pPr algn="ctr" indent="0" marL="0">
              <a:buNone/>
            </a:pPr>
            <a:r>
              <a:rPr lang="fa-IR" altLang="en-US" sz="1200" dirty="0">
                <a:solidFill>
                  <a:schemeClr val="accent4"/>
                </a:solidFill>
              </a:rPr>
              <a:t>Triage</a:t>
            </a:r>
            <a:endParaRPr lang="fa-IR" sz="1200" dirty="0"/>
          </a:p>
        </p:txBody>
      </p:sp>
      <p:sp>
        <p:nvSpPr>
          <p:cNvPr id="15" name="Text 11"/>
          <p:cNvSpPr txBox="1"/>
          <p:nvPr/>
        </p:nvSpPr>
        <p:spPr>
          <a:xfrm>
            <a:off x="7500823" y="3611880"/>
            <a:ext cx="1737360" cy="1097280"/>
          </a:xfrm>
          <a:prstGeom prst="rect">
            <a:avLst/>
          </a:prstGeom>
          <a:noFill/>
          <a:ln/>
        </p:spPr>
        <p:txBody>
          <a:bodyPr wrap="square" lIns="0" tIns="0" rIns="0" bIns="0" rtlCol="0" anchor="t"/>
          <a:lstStyle/>
          <a:p>
            <a:pPr rtl="1" algn="ctr" indent="0" marL="0">
              <a:buNone/>
            </a:pPr>
            <a:r>
              <a:rPr lang="fa-IR" altLang="en-US" sz="1400" dirty="0">
                <a:solidFill>
                  <a:schemeClr val="tx1"/>
                </a:solidFill>
              </a:rPr>
              <a:t>تکراری؟ مرتبط؟ قبلاً بررسی شده؟</a:t>
            </a:r>
            <a:endParaRPr lang="fa-IR" sz="1400" dirty="0"/>
          </a:p>
        </p:txBody>
      </p:sp>
      <p:sp>
        <p:nvSpPr>
          <p:cNvPr id="16" name="Text 12"/>
          <p:cNvSpPr txBox="1"/>
          <p:nvPr/>
        </p:nvSpPr>
        <p:spPr>
          <a:xfrm>
            <a:off x="7089343" y="3063240"/>
            <a:ext cx="292608" cy="365760"/>
          </a:xfrm>
          <a:prstGeom prst="rect">
            <a:avLst/>
          </a:prstGeom>
          <a:noFill/>
          <a:ln/>
        </p:spPr>
        <p:txBody>
          <a:bodyPr wrap="square" lIns="0" tIns="0" rIns="0" bIns="0" rtlCol="0" anchor="t"/>
          <a:lstStyle/>
          <a:p>
            <a:pPr algn="ctr" indent="0" marL="0">
              <a:buNone/>
            </a:pPr>
            <a:r>
              <a:rPr lang="fa-IR" altLang="en-US" sz="1600" dirty="0">
                <a:solidFill>
                  <a:schemeClr val="accent4"/>
                </a:solidFill>
              </a:rPr>
              <a:t>◀</a:t>
            </a:r>
            <a:endParaRPr lang="fa-IR" sz="1600" dirty="0"/>
          </a:p>
        </p:txBody>
      </p:sp>
      <p:sp>
        <p:nvSpPr>
          <p:cNvPr id="17" name="flow-card-2"/>
          <p:cNvSpPr/>
          <p:nvPr/>
        </p:nvSpPr>
        <p:spPr>
          <a:xfrm>
            <a:off x="5095951" y="1554480"/>
            <a:ext cx="2011680" cy="3383280"/>
          </a:xfrm>
          <a:prstGeom prst="roundRect">
            <a:avLst>
              <a:gd name="adj" fmla="val 5455"/>
            </a:avLst>
          </a:prstGeom>
          <a:solidFill>
            <a:schemeClr val="bg2"/>
          </a:solidFill>
          <a:ln w="12700">
            <a:solidFill>
              <a:schemeClr val="bg2"/>
            </a:solidFill>
            <a:prstDash val="solid"/>
          </a:ln>
        </p:spPr>
      </p:sp>
      <p:sp>
        <p:nvSpPr>
          <p:cNvPr id="18" name="flow-2-circle"/>
          <p:cNvSpPr/>
          <p:nvPr/>
        </p:nvSpPr>
        <p:spPr>
          <a:xfrm>
            <a:off x="5690311" y="1783080"/>
            <a:ext cx="822960" cy="822960"/>
          </a:xfrm>
          <a:prstGeom prst="ellipse">
            <a:avLst/>
          </a:prstGeom>
          <a:solidFill>
            <a:schemeClr val="accent2"/>
          </a:solidFill>
          <a:ln w="12700">
            <a:solidFill>
              <a:schemeClr val="accent2"/>
            </a:solidFill>
            <a:prstDash val="solid"/>
          </a:ln>
        </p:spPr>
      </p:sp>
      <p:pic>
        <p:nvPicPr>
          <p:cNvPr id="19" name="flow-2-icon" descr="preencoded.png">    </p:cNvPr>
          <p:cNvPicPr>
            <a:picLocks noChangeAspect="1"/>
          </p:cNvPicPr>
          <p:nvPr/>
        </p:nvPicPr>
        <p:blipFill>
          <a:blip r:embed="rId3"/>
          <a:stretch>
            <a:fillRect/>
          </a:stretch>
        </p:blipFill>
        <p:spPr>
          <a:xfrm>
            <a:off x="5896051" y="1988820"/>
            <a:ext cx="411480" cy="411480"/>
          </a:xfrm>
          <a:prstGeom prst="rect">
            <a:avLst/>
          </a:prstGeom>
        </p:spPr>
      </p:pic>
      <p:sp>
        <p:nvSpPr>
          <p:cNvPr id="20" name="Text 15"/>
          <p:cNvSpPr txBox="1"/>
          <p:nvPr/>
        </p:nvSpPr>
        <p:spPr>
          <a:xfrm>
            <a:off x="5233111" y="2788920"/>
            <a:ext cx="1737360" cy="411480"/>
          </a:xfrm>
          <a:prstGeom prst="rect">
            <a:avLst/>
          </a:prstGeom>
          <a:noFill/>
          <a:ln/>
        </p:spPr>
        <p:txBody>
          <a:bodyPr wrap="square" lIns="0" tIns="0" rIns="0" bIns="0" rtlCol="0" anchor="t"/>
          <a:lstStyle/>
          <a:p>
            <a:pPr rtl="1" algn="ctr" indent="0" marL="0">
              <a:buNone/>
            </a:pPr>
            <a:r>
              <a:rPr lang="fa-IR" altLang="en-US" sz="1900" b="1" dirty="0">
                <a:solidFill>
                  <a:schemeClr val="tx1"/>
                </a:solidFill>
              </a:rPr>
              <a:t>راستی‌آزمایی</a:t>
            </a:r>
            <a:endParaRPr lang="fa-IR" sz="1900" dirty="0"/>
          </a:p>
        </p:txBody>
      </p:sp>
      <p:sp>
        <p:nvSpPr>
          <p:cNvPr id="21" name="Text 16"/>
          <p:cNvSpPr txBox="1"/>
          <p:nvPr/>
        </p:nvSpPr>
        <p:spPr>
          <a:xfrm>
            <a:off x="5233111" y="3200400"/>
            <a:ext cx="1737360" cy="274320"/>
          </a:xfrm>
          <a:prstGeom prst="rect">
            <a:avLst/>
          </a:prstGeom>
          <a:noFill/>
          <a:ln/>
        </p:spPr>
        <p:txBody>
          <a:bodyPr wrap="square" lIns="0" tIns="0" rIns="0" bIns="0" rtlCol="0" anchor="t"/>
          <a:lstStyle/>
          <a:p>
            <a:pPr algn="ctr" indent="0" marL="0">
              <a:buNone/>
            </a:pPr>
            <a:r>
              <a:rPr lang="fa-IR" altLang="en-US" sz="1200" dirty="0">
                <a:solidFill>
                  <a:schemeClr val="accent4"/>
                </a:solidFill>
              </a:rPr>
              <a:t>Verification</a:t>
            </a:r>
            <a:endParaRPr lang="fa-IR" sz="1200" dirty="0"/>
          </a:p>
        </p:txBody>
      </p:sp>
      <p:sp>
        <p:nvSpPr>
          <p:cNvPr id="22" name="Text 17"/>
          <p:cNvSpPr txBox="1"/>
          <p:nvPr/>
        </p:nvSpPr>
        <p:spPr>
          <a:xfrm>
            <a:off x="5233111" y="3611880"/>
            <a:ext cx="1737360" cy="1097280"/>
          </a:xfrm>
          <a:prstGeom prst="rect">
            <a:avLst/>
          </a:prstGeom>
          <a:noFill/>
          <a:ln/>
        </p:spPr>
        <p:txBody>
          <a:bodyPr wrap="square" lIns="0" tIns="0" rIns="0" bIns="0" rtlCol="0" anchor="t"/>
          <a:lstStyle/>
          <a:p>
            <a:pPr rtl="1" algn="ctr" indent="0" marL="0">
              <a:buNone/>
            </a:pPr>
            <a:r>
              <a:rPr lang="fa-IR" altLang="en-US" sz="1400" dirty="0">
                <a:solidFill>
                  <a:schemeClr val="tx1"/>
                </a:solidFill>
              </a:rPr>
              <a:t>تماس با منبع، پزشک، آزمایشگاه</a:t>
            </a:r>
            <a:endParaRPr lang="fa-IR" sz="1400" dirty="0"/>
          </a:p>
        </p:txBody>
      </p:sp>
      <p:sp>
        <p:nvSpPr>
          <p:cNvPr id="23" name="Text 18"/>
          <p:cNvSpPr txBox="1"/>
          <p:nvPr/>
        </p:nvSpPr>
        <p:spPr>
          <a:xfrm>
            <a:off x="4821631" y="3063240"/>
            <a:ext cx="292608" cy="365760"/>
          </a:xfrm>
          <a:prstGeom prst="rect">
            <a:avLst/>
          </a:prstGeom>
          <a:noFill/>
          <a:ln/>
        </p:spPr>
        <p:txBody>
          <a:bodyPr wrap="square" lIns="0" tIns="0" rIns="0" bIns="0" rtlCol="0" anchor="t"/>
          <a:lstStyle/>
          <a:p>
            <a:pPr algn="ctr" indent="0" marL="0">
              <a:buNone/>
            </a:pPr>
            <a:r>
              <a:rPr lang="fa-IR" altLang="en-US" sz="1600" dirty="0">
                <a:solidFill>
                  <a:schemeClr val="accent4"/>
                </a:solidFill>
              </a:rPr>
              <a:t>◀</a:t>
            </a:r>
            <a:endParaRPr lang="fa-IR" sz="1600" dirty="0"/>
          </a:p>
        </p:txBody>
      </p:sp>
      <p:sp>
        <p:nvSpPr>
          <p:cNvPr id="24" name="flow-card-3"/>
          <p:cNvSpPr/>
          <p:nvPr/>
        </p:nvSpPr>
        <p:spPr>
          <a:xfrm>
            <a:off x="2828239" y="1554480"/>
            <a:ext cx="2011680" cy="3383280"/>
          </a:xfrm>
          <a:prstGeom prst="roundRect">
            <a:avLst>
              <a:gd name="adj" fmla="val 5455"/>
            </a:avLst>
          </a:prstGeom>
          <a:solidFill>
            <a:schemeClr val="bg2"/>
          </a:solidFill>
          <a:ln w="12700">
            <a:solidFill>
              <a:schemeClr val="bg2"/>
            </a:solidFill>
            <a:prstDash val="solid"/>
          </a:ln>
        </p:spPr>
      </p:sp>
      <p:sp>
        <p:nvSpPr>
          <p:cNvPr id="25" name="flow-3-circle"/>
          <p:cNvSpPr/>
          <p:nvPr/>
        </p:nvSpPr>
        <p:spPr>
          <a:xfrm>
            <a:off x="3422599" y="1783080"/>
            <a:ext cx="822960" cy="822960"/>
          </a:xfrm>
          <a:prstGeom prst="ellipse">
            <a:avLst/>
          </a:prstGeom>
          <a:solidFill>
            <a:schemeClr val="tx2"/>
          </a:solidFill>
          <a:ln w="12700">
            <a:solidFill>
              <a:schemeClr val="tx2"/>
            </a:solidFill>
            <a:prstDash val="solid"/>
          </a:ln>
        </p:spPr>
      </p:sp>
      <p:pic>
        <p:nvPicPr>
          <p:cNvPr id="26" name="flow-3-icon" descr="preencoded.png">    </p:cNvPr>
          <p:cNvPicPr>
            <a:picLocks noChangeAspect="1"/>
          </p:cNvPicPr>
          <p:nvPr/>
        </p:nvPicPr>
        <p:blipFill>
          <a:blip r:embed="rId4"/>
          <a:stretch>
            <a:fillRect/>
          </a:stretch>
        </p:blipFill>
        <p:spPr>
          <a:xfrm>
            <a:off x="3628339" y="1988820"/>
            <a:ext cx="411480" cy="411480"/>
          </a:xfrm>
          <a:prstGeom prst="rect">
            <a:avLst/>
          </a:prstGeom>
        </p:spPr>
      </p:pic>
      <p:sp>
        <p:nvSpPr>
          <p:cNvPr id="27" name="Text 21"/>
          <p:cNvSpPr txBox="1"/>
          <p:nvPr/>
        </p:nvSpPr>
        <p:spPr>
          <a:xfrm>
            <a:off x="2965399" y="2788920"/>
            <a:ext cx="1737360" cy="411480"/>
          </a:xfrm>
          <a:prstGeom prst="rect">
            <a:avLst/>
          </a:prstGeom>
          <a:noFill/>
          <a:ln/>
        </p:spPr>
        <p:txBody>
          <a:bodyPr wrap="square" lIns="0" tIns="0" rIns="0" bIns="0" rtlCol="0" anchor="t"/>
          <a:lstStyle/>
          <a:p>
            <a:pPr rtl="1" algn="ctr" indent="0" marL="0">
              <a:buNone/>
            </a:pPr>
            <a:r>
              <a:rPr lang="fa-IR" altLang="en-US" sz="1900" b="1" dirty="0">
                <a:solidFill>
                  <a:schemeClr val="tx1"/>
                </a:solidFill>
              </a:rPr>
              <a:t>ارزیابی خطر</a:t>
            </a:r>
            <a:endParaRPr lang="fa-IR" sz="1900" dirty="0"/>
          </a:p>
        </p:txBody>
      </p:sp>
      <p:sp>
        <p:nvSpPr>
          <p:cNvPr id="28" name="Text 22"/>
          <p:cNvSpPr txBox="1"/>
          <p:nvPr/>
        </p:nvSpPr>
        <p:spPr>
          <a:xfrm>
            <a:off x="2965399" y="3200400"/>
            <a:ext cx="1737360" cy="274320"/>
          </a:xfrm>
          <a:prstGeom prst="rect">
            <a:avLst/>
          </a:prstGeom>
          <a:noFill/>
          <a:ln/>
        </p:spPr>
        <p:txBody>
          <a:bodyPr wrap="square" lIns="0" tIns="0" rIns="0" bIns="0" rtlCol="0" anchor="t"/>
          <a:lstStyle/>
          <a:p>
            <a:pPr algn="ctr" indent="0" marL="0">
              <a:buNone/>
            </a:pPr>
            <a:r>
              <a:rPr lang="fa-IR" altLang="en-US" sz="1200" dirty="0">
                <a:solidFill>
                  <a:schemeClr val="accent4"/>
                </a:solidFill>
              </a:rPr>
              <a:t>Risk assessment</a:t>
            </a:r>
            <a:endParaRPr lang="fa-IR" sz="1200" dirty="0"/>
          </a:p>
        </p:txBody>
      </p:sp>
      <p:sp>
        <p:nvSpPr>
          <p:cNvPr id="29" name="Text 23"/>
          <p:cNvSpPr txBox="1"/>
          <p:nvPr/>
        </p:nvSpPr>
        <p:spPr>
          <a:xfrm>
            <a:off x="2965399" y="3611880"/>
            <a:ext cx="1737360" cy="1097280"/>
          </a:xfrm>
          <a:prstGeom prst="rect">
            <a:avLst/>
          </a:prstGeom>
          <a:noFill/>
          <a:ln/>
        </p:spPr>
        <p:txBody>
          <a:bodyPr wrap="square" lIns="0" tIns="0" rIns="0" bIns="0" rtlCol="0" anchor="t"/>
          <a:lstStyle/>
          <a:p>
            <a:pPr rtl="1" algn="ctr" indent="0" marL="0">
              <a:buNone/>
            </a:pPr>
            <a:r>
              <a:rPr lang="fa-IR" altLang="en-US" sz="1400" dirty="0">
                <a:solidFill>
                  <a:schemeClr val="tx1"/>
                </a:solidFill>
              </a:rPr>
              <a:t>شدت، احتمال گسترش، آسیب‌پذیری</a:t>
            </a:r>
            <a:endParaRPr lang="fa-IR" sz="1400" dirty="0"/>
          </a:p>
        </p:txBody>
      </p:sp>
      <p:sp>
        <p:nvSpPr>
          <p:cNvPr id="30" name="Text 24"/>
          <p:cNvSpPr txBox="1"/>
          <p:nvPr/>
        </p:nvSpPr>
        <p:spPr>
          <a:xfrm>
            <a:off x="2553919" y="3063240"/>
            <a:ext cx="292608" cy="365760"/>
          </a:xfrm>
          <a:prstGeom prst="rect">
            <a:avLst/>
          </a:prstGeom>
          <a:noFill/>
          <a:ln/>
        </p:spPr>
        <p:txBody>
          <a:bodyPr wrap="square" lIns="0" tIns="0" rIns="0" bIns="0" rtlCol="0" anchor="t"/>
          <a:lstStyle/>
          <a:p>
            <a:pPr algn="ctr" indent="0" marL="0">
              <a:buNone/>
            </a:pPr>
            <a:r>
              <a:rPr lang="fa-IR" altLang="en-US" sz="1600" dirty="0">
                <a:solidFill>
                  <a:schemeClr val="accent4"/>
                </a:solidFill>
              </a:rPr>
              <a:t>◀</a:t>
            </a:r>
            <a:endParaRPr lang="fa-IR" sz="1600" dirty="0"/>
          </a:p>
        </p:txBody>
      </p:sp>
      <p:sp>
        <p:nvSpPr>
          <p:cNvPr id="31" name="flow-card-4"/>
          <p:cNvSpPr/>
          <p:nvPr/>
        </p:nvSpPr>
        <p:spPr>
          <a:xfrm>
            <a:off x="560527" y="1554480"/>
            <a:ext cx="2011680" cy="3383280"/>
          </a:xfrm>
          <a:prstGeom prst="roundRect">
            <a:avLst>
              <a:gd name="adj" fmla="val 5455"/>
            </a:avLst>
          </a:prstGeom>
          <a:solidFill>
            <a:schemeClr val="bg2"/>
          </a:solidFill>
          <a:ln w="12700">
            <a:solidFill>
              <a:schemeClr val="bg2"/>
            </a:solidFill>
            <a:prstDash val="solid"/>
          </a:ln>
        </p:spPr>
      </p:sp>
      <p:sp>
        <p:nvSpPr>
          <p:cNvPr id="32" name="flow-4-circle"/>
          <p:cNvSpPr/>
          <p:nvPr/>
        </p:nvSpPr>
        <p:spPr>
          <a:xfrm>
            <a:off x="1154887" y="1783080"/>
            <a:ext cx="822960" cy="822960"/>
          </a:xfrm>
          <a:prstGeom prst="ellipse">
            <a:avLst/>
          </a:prstGeom>
          <a:solidFill>
            <a:schemeClr val="tx2"/>
          </a:solidFill>
          <a:ln w="12700">
            <a:solidFill>
              <a:schemeClr val="tx2"/>
            </a:solidFill>
            <a:prstDash val="solid"/>
          </a:ln>
        </p:spPr>
      </p:sp>
      <p:pic>
        <p:nvPicPr>
          <p:cNvPr id="33" name="flow-4-icon" descr="preencoded.png">    </p:cNvPr>
          <p:cNvPicPr>
            <a:picLocks noChangeAspect="1"/>
          </p:cNvPicPr>
          <p:nvPr/>
        </p:nvPicPr>
        <p:blipFill>
          <a:blip r:embed="rId5"/>
          <a:stretch>
            <a:fillRect/>
          </a:stretch>
        </p:blipFill>
        <p:spPr>
          <a:xfrm>
            <a:off x="1360627" y="1988820"/>
            <a:ext cx="411480" cy="411480"/>
          </a:xfrm>
          <a:prstGeom prst="rect">
            <a:avLst/>
          </a:prstGeom>
        </p:spPr>
      </p:pic>
      <p:sp>
        <p:nvSpPr>
          <p:cNvPr id="34" name="Text 27"/>
          <p:cNvSpPr txBox="1"/>
          <p:nvPr/>
        </p:nvSpPr>
        <p:spPr>
          <a:xfrm>
            <a:off x="697687" y="2788920"/>
            <a:ext cx="1737360" cy="411480"/>
          </a:xfrm>
          <a:prstGeom prst="rect">
            <a:avLst/>
          </a:prstGeom>
          <a:noFill/>
          <a:ln/>
        </p:spPr>
        <p:txBody>
          <a:bodyPr wrap="square" lIns="0" tIns="0" rIns="0" bIns="0" rtlCol="0" anchor="t"/>
          <a:lstStyle/>
          <a:p>
            <a:pPr rtl="1" algn="ctr" indent="0" marL="0">
              <a:buNone/>
            </a:pPr>
            <a:r>
              <a:rPr lang="fa-IR" altLang="en-US" sz="1900" b="1" dirty="0">
                <a:solidFill>
                  <a:schemeClr val="tx1"/>
                </a:solidFill>
              </a:rPr>
              <a:t>هشدار و پاسخ</a:t>
            </a:r>
            <a:endParaRPr lang="fa-IR" sz="1900" dirty="0"/>
          </a:p>
        </p:txBody>
      </p:sp>
      <p:sp>
        <p:nvSpPr>
          <p:cNvPr id="35" name="Text 28"/>
          <p:cNvSpPr txBox="1"/>
          <p:nvPr/>
        </p:nvSpPr>
        <p:spPr>
          <a:xfrm>
            <a:off x="697687" y="3200400"/>
            <a:ext cx="1737360" cy="274320"/>
          </a:xfrm>
          <a:prstGeom prst="rect">
            <a:avLst/>
          </a:prstGeom>
          <a:noFill/>
          <a:ln/>
        </p:spPr>
        <p:txBody>
          <a:bodyPr wrap="square" lIns="0" tIns="0" rIns="0" bIns="0" rtlCol="0" anchor="t"/>
          <a:lstStyle/>
          <a:p>
            <a:pPr algn="ctr" indent="0" marL="0">
              <a:buNone/>
            </a:pPr>
            <a:r>
              <a:rPr lang="fa-IR" altLang="en-US" sz="1200" dirty="0">
                <a:solidFill>
                  <a:schemeClr val="accent4"/>
                </a:solidFill>
              </a:rPr>
              <a:t>Alert &amp; response</a:t>
            </a:r>
            <a:endParaRPr lang="fa-IR" sz="1200" dirty="0"/>
          </a:p>
        </p:txBody>
      </p:sp>
      <p:sp>
        <p:nvSpPr>
          <p:cNvPr id="36" name="Text 29"/>
          <p:cNvSpPr txBox="1"/>
          <p:nvPr/>
        </p:nvSpPr>
        <p:spPr>
          <a:xfrm>
            <a:off x="697687" y="3611880"/>
            <a:ext cx="1737360" cy="1097280"/>
          </a:xfrm>
          <a:prstGeom prst="rect">
            <a:avLst/>
          </a:prstGeom>
          <a:noFill/>
          <a:ln/>
        </p:spPr>
        <p:txBody>
          <a:bodyPr wrap="square" lIns="0" tIns="0" rIns="0" bIns="0" rtlCol="0" anchor="t"/>
          <a:lstStyle/>
          <a:p>
            <a:pPr rtl="1" algn="ctr" indent="0" marL="0">
              <a:buNone/>
            </a:pPr>
            <a:r>
              <a:rPr lang="fa-IR" altLang="en-US" sz="1400" dirty="0">
                <a:solidFill>
                  <a:schemeClr val="tx1"/>
                </a:solidFill>
              </a:rPr>
              <a:t>اعزام تیم، اطلاع‌رسانی، کنترل</a:t>
            </a:r>
            <a:endParaRPr lang="fa-IR" sz="1400" dirty="0"/>
          </a:p>
        </p:txBody>
      </p:sp>
      <p:sp>
        <p:nvSpPr>
          <p:cNvPr id="37" name="Text 30"/>
          <p:cNvSpPr txBox="1"/>
          <p:nvPr/>
        </p:nvSpPr>
        <p:spPr>
          <a:xfrm>
            <a:off x="548640" y="5303520"/>
            <a:ext cx="11091672" cy="731520"/>
          </a:xfrm>
          <a:prstGeom prst="rect">
            <a:avLst/>
          </a:prstGeom>
          <a:noFill/>
          <a:ln/>
        </p:spPr>
        <p:txBody>
          <a:bodyPr wrap="square" lIns="0" tIns="0" rIns="0" bIns="0" rtlCol="0" anchor="t"/>
          <a:lstStyle/>
          <a:p>
            <a:pPr rtl="1" algn="r" indent="0" marL="0">
              <a:buNone/>
            </a:pPr>
            <a:r>
              <a:rPr lang="fa-IR" altLang="en-US" sz="1600" dirty="0">
                <a:solidFill>
                  <a:schemeClr val="tx2"/>
                </a:solidFill>
              </a:rPr>
              <a:t>گلوگاه واقعی معمولاً راستی‌آزمایی است، نه الگوریتم: یک سیگنال تأییدنشده هزینه دارد و یک سیگنال نادیده‌گرفته‌شده هزینه بیشتری.</a:t>
            </a:r>
            <a:endParaRPr lang="fa-IR" sz="16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منطق مشترک همه روش‌ها: مشاهده‌شده در برابر انتظار</a:t>
            </a:r>
            <a:endParaRPr lang="fa-IR" sz="3000" dirty="0"/>
          </a:p>
        </p:txBody>
      </p:sp>
      <p:sp>
        <p:nvSpPr>
          <p:cNvPr id="3" name="eq-box"/>
          <p:cNvSpPr/>
          <p:nvPr/>
        </p:nvSpPr>
        <p:spPr>
          <a:xfrm>
            <a:off x="548640" y="1371600"/>
            <a:ext cx="11091672" cy="1371600"/>
          </a:xfrm>
          <a:prstGeom prst="roundRect">
            <a:avLst>
              <a:gd name="adj" fmla="val 8000"/>
            </a:avLst>
          </a:prstGeom>
          <a:solidFill>
            <a:schemeClr val="tx1"/>
          </a:solidFill>
          <a:ln w="12700">
            <a:solidFill>
              <a:schemeClr val="tx1"/>
            </a:solidFill>
            <a:prstDash val="solid"/>
          </a:ln>
        </p:spPr>
      </p:sp>
      <p:sp>
        <p:nvSpPr>
          <p:cNvPr id="4" name="Text 2"/>
          <p:cNvSpPr txBox="1"/>
          <p:nvPr/>
        </p:nvSpPr>
        <p:spPr>
          <a:xfrm>
            <a:off x="822960" y="1463040"/>
            <a:ext cx="10515600" cy="685800"/>
          </a:xfrm>
          <a:prstGeom prst="rect">
            <a:avLst/>
          </a:prstGeom>
          <a:noFill/>
          <a:ln/>
        </p:spPr>
        <p:txBody>
          <a:bodyPr wrap="square" lIns="0" tIns="0" rIns="0" bIns="0" rtlCol="0" anchor="ctr"/>
          <a:lstStyle/>
          <a:p>
            <a:pPr rtl="1" algn="ctr" indent="0" marL="0">
              <a:buNone/>
            </a:pPr>
            <a:r>
              <a:rPr lang="fa-IR" altLang="en-US" sz="3000" b="1" dirty="0">
                <a:solidFill>
                  <a:schemeClr val="bg1"/>
                </a:solidFill>
              </a:rPr>
              <a:t>هشدار  ⟸  مشاهده‌شده  &gt;  مورد انتظار  +  آستانه</a:t>
            </a:r>
            <a:endParaRPr lang="fa-IR" sz="3000" dirty="0"/>
          </a:p>
        </p:txBody>
      </p:sp>
      <p:sp>
        <p:nvSpPr>
          <p:cNvPr id="5" name="Text 3"/>
          <p:cNvSpPr txBox="1"/>
          <p:nvPr/>
        </p:nvSpPr>
        <p:spPr>
          <a:xfrm>
            <a:off x="822960" y="2148840"/>
            <a:ext cx="10515600" cy="457200"/>
          </a:xfrm>
          <a:prstGeom prst="rect">
            <a:avLst/>
          </a:prstGeom>
          <a:noFill/>
          <a:ln/>
        </p:spPr>
        <p:txBody>
          <a:bodyPr wrap="square" lIns="0" tIns="0" rIns="0" bIns="0" rtlCol="0" anchor="t"/>
          <a:lstStyle/>
          <a:p>
            <a:pPr rtl="1" algn="ctr" indent="0" marL="0">
              <a:buNone/>
            </a:pPr>
            <a:r>
              <a:rPr lang="fa-IR" altLang="en-US" sz="1500" dirty="0">
                <a:solidFill>
                  <a:schemeClr val="accent6"/>
                </a:solidFill>
              </a:rPr>
              <a:t>تفاوت روش‌ها فقط در دو چیز است: «مورد انتظار» را از کدام داده می‌سازند و «آستانه» را چطور تعیین می‌کنند.</a:t>
            </a:r>
            <a:endParaRPr lang="fa-IR" sz="1500" dirty="0"/>
          </a:p>
        </p:txBody>
      </p:sp>
      <p:sp>
        <p:nvSpPr>
          <p:cNvPr id="6" name="kpi-card-0"/>
          <p:cNvSpPr/>
          <p:nvPr/>
        </p:nvSpPr>
        <p:spPr>
          <a:xfrm>
            <a:off x="8076895" y="3063240"/>
            <a:ext cx="3566160" cy="2468880"/>
          </a:xfrm>
          <a:prstGeom prst="roundRect">
            <a:avLst>
              <a:gd name="adj" fmla="val 4444"/>
            </a:avLst>
          </a:prstGeom>
          <a:solidFill>
            <a:schemeClr val="bg2"/>
          </a:solidFill>
          <a:ln w="12700">
            <a:solidFill>
              <a:schemeClr val="bg2"/>
            </a:solidFill>
            <a:prstDash val="solid"/>
          </a:ln>
        </p:spPr>
      </p:sp>
      <p:sp>
        <p:nvSpPr>
          <p:cNvPr id="7" name="kpi-0-circle"/>
          <p:cNvSpPr/>
          <p:nvPr/>
        </p:nvSpPr>
        <p:spPr>
          <a:xfrm>
            <a:off x="10682935" y="3291840"/>
            <a:ext cx="685800" cy="685800"/>
          </a:xfrm>
          <a:prstGeom prst="ellipse">
            <a:avLst/>
          </a:prstGeom>
          <a:solidFill>
            <a:schemeClr val="accent5"/>
          </a:solidFill>
          <a:ln w="12700">
            <a:solidFill>
              <a:schemeClr val="accent5"/>
            </a:solidFill>
            <a:prstDash val="solid"/>
          </a:ln>
        </p:spPr>
      </p:sp>
      <p:pic>
        <p:nvPicPr>
          <p:cNvPr id="8" name="kpi-0-icon" descr="preencoded.png">    </p:cNvPr>
          <p:cNvPicPr>
            <a:picLocks noChangeAspect="1"/>
          </p:cNvPicPr>
          <p:nvPr/>
        </p:nvPicPr>
        <p:blipFill>
          <a:blip r:embed="rId1"/>
          <a:stretch>
            <a:fillRect/>
          </a:stretch>
        </p:blipFill>
        <p:spPr>
          <a:xfrm>
            <a:off x="10854385" y="3463290"/>
            <a:ext cx="342900" cy="342900"/>
          </a:xfrm>
          <a:prstGeom prst="rect">
            <a:avLst/>
          </a:prstGeom>
        </p:spPr>
      </p:pic>
      <p:sp>
        <p:nvSpPr>
          <p:cNvPr id="9" name="Text 6"/>
          <p:cNvSpPr txBox="1"/>
          <p:nvPr/>
        </p:nvSpPr>
        <p:spPr>
          <a:xfrm>
            <a:off x="8305495" y="3337560"/>
            <a:ext cx="2240280" cy="411480"/>
          </a:xfrm>
          <a:prstGeom prst="rect">
            <a:avLst/>
          </a:prstGeom>
          <a:noFill/>
          <a:ln/>
        </p:spPr>
        <p:txBody>
          <a:bodyPr wrap="square" lIns="0" tIns="0" rIns="0" bIns="0" rtlCol="0" anchor="t"/>
          <a:lstStyle/>
          <a:p>
            <a:pPr rtl="1" algn="r" indent="0" marL="0">
              <a:buNone/>
            </a:pPr>
            <a:r>
              <a:rPr lang="fa-IR" altLang="en-US" sz="2100" b="1" dirty="0">
                <a:solidFill>
                  <a:schemeClr val="tx1"/>
                </a:solidFill>
              </a:rPr>
              <a:t>حساسیت</a:t>
            </a:r>
            <a:endParaRPr lang="fa-IR" sz="2100" dirty="0"/>
          </a:p>
        </p:txBody>
      </p:sp>
      <p:sp>
        <p:nvSpPr>
          <p:cNvPr id="10" name="Text 7"/>
          <p:cNvSpPr txBox="1"/>
          <p:nvPr/>
        </p:nvSpPr>
        <p:spPr>
          <a:xfrm>
            <a:off x="8305495" y="3749040"/>
            <a:ext cx="2240280" cy="274320"/>
          </a:xfrm>
          <a:prstGeom prst="rect">
            <a:avLst/>
          </a:prstGeom>
          <a:noFill/>
          <a:ln/>
        </p:spPr>
        <p:txBody>
          <a:bodyPr wrap="square" lIns="0" tIns="0" rIns="0" bIns="0" rtlCol="0" anchor="t"/>
          <a:lstStyle/>
          <a:p>
            <a:pPr rtl="1" algn="r" indent="0" marL="0">
              <a:buNone/>
            </a:pPr>
            <a:r>
              <a:rPr lang="fa-IR" altLang="en-US" sz="1200" dirty="0">
                <a:solidFill>
                  <a:schemeClr val="accent4"/>
                </a:solidFill>
              </a:rPr>
              <a:t>Sensitivity</a:t>
            </a:r>
            <a:endParaRPr lang="fa-IR" sz="1200" dirty="0"/>
          </a:p>
        </p:txBody>
      </p:sp>
      <p:sp>
        <p:nvSpPr>
          <p:cNvPr id="11" name="Text 8"/>
          <p:cNvSpPr txBox="1"/>
          <p:nvPr/>
        </p:nvSpPr>
        <p:spPr>
          <a:xfrm>
            <a:off x="8305495" y="4206240"/>
            <a:ext cx="3108960" cy="1097280"/>
          </a:xfrm>
          <a:prstGeom prst="rect">
            <a:avLst/>
          </a:prstGeom>
          <a:noFill/>
          <a:ln/>
        </p:spPr>
        <p:txBody>
          <a:bodyPr wrap="square" lIns="0" tIns="0" rIns="0" bIns="0" rtlCol="0" anchor="t"/>
          <a:lstStyle/>
          <a:p>
            <a:pPr rtl="1" algn="r" indent="0" marL="0">
              <a:buNone/>
            </a:pPr>
            <a:r>
              <a:rPr lang="fa-IR" altLang="en-US" sz="1500" dirty="0">
                <a:solidFill>
                  <a:schemeClr val="tx1"/>
                </a:solidFill>
              </a:rPr>
              <a:t>چند درصد طغیان‌های واقعی را می‌گیرد؟</a:t>
            </a:r>
            <a:endParaRPr lang="fa-IR" sz="1500" dirty="0"/>
          </a:p>
        </p:txBody>
      </p:sp>
      <p:sp>
        <p:nvSpPr>
          <p:cNvPr id="12" name="kpi-card-1"/>
          <p:cNvSpPr/>
          <p:nvPr/>
        </p:nvSpPr>
        <p:spPr>
          <a:xfrm>
            <a:off x="4314139" y="3063240"/>
            <a:ext cx="3566160" cy="2468880"/>
          </a:xfrm>
          <a:prstGeom prst="roundRect">
            <a:avLst>
              <a:gd name="adj" fmla="val 4444"/>
            </a:avLst>
          </a:prstGeom>
          <a:solidFill>
            <a:schemeClr val="bg2"/>
          </a:solidFill>
          <a:ln w="12700">
            <a:solidFill>
              <a:schemeClr val="bg2"/>
            </a:solidFill>
            <a:prstDash val="solid"/>
          </a:ln>
        </p:spPr>
      </p:sp>
      <p:sp>
        <p:nvSpPr>
          <p:cNvPr id="13" name="kpi-1-circle"/>
          <p:cNvSpPr/>
          <p:nvPr/>
        </p:nvSpPr>
        <p:spPr>
          <a:xfrm>
            <a:off x="6920179" y="3291840"/>
            <a:ext cx="685800" cy="685800"/>
          </a:xfrm>
          <a:prstGeom prst="ellipse">
            <a:avLst/>
          </a:prstGeom>
          <a:solidFill>
            <a:schemeClr val="accent2"/>
          </a:solidFill>
          <a:ln w="12700">
            <a:solidFill>
              <a:schemeClr val="accent2"/>
            </a:solidFill>
            <a:prstDash val="solid"/>
          </a:ln>
        </p:spPr>
      </p:sp>
      <p:pic>
        <p:nvPicPr>
          <p:cNvPr id="14" name="kpi-1-icon" descr="preencoded.png">    </p:cNvPr>
          <p:cNvPicPr>
            <a:picLocks noChangeAspect="1"/>
          </p:cNvPicPr>
          <p:nvPr/>
        </p:nvPicPr>
        <p:blipFill>
          <a:blip r:embed="rId2"/>
          <a:stretch>
            <a:fillRect/>
          </a:stretch>
        </p:blipFill>
        <p:spPr>
          <a:xfrm>
            <a:off x="7091629" y="3463290"/>
            <a:ext cx="342900" cy="342900"/>
          </a:xfrm>
          <a:prstGeom prst="rect">
            <a:avLst/>
          </a:prstGeom>
        </p:spPr>
      </p:pic>
      <p:sp>
        <p:nvSpPr>
          <p:cNvPr id="15" name="Text 11"/>
          <p:cNvSpPr txBox="1"/>
          <p:nvPr/>
        </p:nvSpPr>
        <p:spPr>
          <a:xfrm>
            <a:off x="4542739" y="3337560"/>
            <a:ext cx="2240280" cy="411480"/>
          </a:xfrm>
          <a:prstGeom prst="rect">
            <a:avLst/>
          </a:prstGeom>
          <a:noFill/>
          <a:ln/>
        </p:spPr>
        <p:txBody>
          <a:bodyPr wrap="square" lIns="0" tIns="0" rIns="0" bIns="0" rtlCol="0" anchor="t"/>
          <a:lstStyle/>
          <a:p>
            <a:pPr rtl="1" algn="r" indent="0" marL="0">
              <a:buNone/>
            </a:pPr>
            <a:r>
              <a:rPr lang="fa-IR" altLang="en-US" sz="2100" b="1" dirty="0">
                <a:solidFill>
                  <a:schemeClr val="tx1"/>
                </a:solidFill>
              </a:rPr>
              <a:t>هشدار کاذب</a:t>
            </a:r>
            <a:endParaRPr lang="fa-IR" sz="2100" dirty="0"/>
          </a:p>
        </p:txBody>
      </p:sp>
      <p:sp>
        <p:nvSpPr>
          <p:cNvPr id="16" name="Text 12"/>
          <p:cNvSpPr txBox="1"/>
          <p:nvPr/>
        </p:nvSpPr>
        <p:spPr>
          <a:xfrm>
            <a:off x="4542739" y="3749040"/>
            <a:ext cx="2240280" cy="274320"/>
          </a:xfrm>
          <a:prstGeom prst="rect">
            <a:avLst/>
          </a:prstGeom>
          <a:noFill/>
          <a:ln/>
        </p:spPr>
        <p:txBody>
          <a:bodyPr wrap="square" lIns="0" tIns="0" rIns="0" bIns="0" rtlCol="0" anchor="t"/>
          <a:lstStyle/>
          <a:p>
            <a:pPr rtl="1" algn="r" indent="0" marL="0">
              <a:buNone/>
            </a:pPr>
            <a:r>
              <a:rPr lang="fa-IR" altLang="en-US" sz="1200" dirty="0">
                <a:solidFill>
                  <a:schemeClr val="accent4"/>
                </a:solidFill>
              </a:rPr>
              <a:t>1 − Specificity</a:t>
            </a:r>
            <a:endParaRPr lang="fa-IR" sz="1200" dirty="0"/>
          </a:p>
        </p:txBody>
      </p:sp>
      <p:sp>
        <p:nvSpPr>
          <p:cNvPr id="17" name="Text 13"/>
          <p:cNvSpPr txBox="1"/>
          <p:nvPr/>
        </p:nvSpPr>
        <p:spPr>
          <a:xfrm>
            <a:off x="4542739" y="4206240"/>
            <a:ext cx="3108960" cy="1097280"/>
          </a:xfrm>
          <a:prstGeom prst="rect">
            <a:avLst/>
          </a:prstGeom>
          <a:noFill/>
          <a:ln/>
        </p:spPr>
        <p:txBody>
          <a:bodyPr wrap="square" lIns="0" tIns="0" rIns="0" bIns="0" rtlCol="0" anchor="t"/>
          <a:lstStyle/>
          <a:p>
            <a:pPr rtl="1" algn="r" indent="0" marL="0">
              <a:buNone/>
            </a:pPr>
            <a:r>
              <a:rPr lang="fa-IR" altLang="en-US" sz="1500" dirty="0">
                <a:solidFill>
                  <a:schemeClr val="tx1"/>
                </a:solidFill>
              </a:rPr>
              <a:t>چند هشدار بی‌مورد به تیم تحمیل می‌کند؟</a:t>
            </a:r>
            <a:endParaRPr lang="fa-IR" sz="1500" dirty="0"/>
          </a:p>
        </p:txBody>
      </p:sp>
      <p:sp>
        <p:nvSpPr>
          <p:cNvPr id="18" name="kpi-card-2"/>
          <p:cNvSpPr/>
          <p:nvPr/>
        </p:nvSpPr>
        <p:spPr>
          <a:xfrm>
            <a:off x="551383" y="3063240"/>
            <a:ext cx="3566160" cy="2468880"/>
          </a:xfrm>
          <a:prstGeom prst="roundRect">
            <a:avLst>
              <a:gd name="adj" fmla="val 4444"/>
            </a:avLst>
          </a:prstGeom>
          <a:solidFill>
            <a:schemeClr val="bg2"/>
          </a:solidFill>
          <a:ln w="12700">
            <a:solidFill>
              <a:schemeClr val="bg2"/>
            </a:solidFill>
            <a:prstDash val="solid"/>
          </a:ln>
        </p:spPr>
      </p:sp>
      <p:sp>
        <p:nvSpPr>
          <p:cNvPr id="19" name="kpi-2-circle"/>
          <p:cNvSpPr/>
          <p:nvPr/>
        </p:nvSpPr>
        <p:spPr>
          <a:xfrm>
            <a:off x="3157423" y="3291840"/>
            <a:ext cx="685800" cy="685800"/>
          </a:xfrm>
          <a:prstGeom prst="ellipse">
            <a:avLst/>
          </a:prstGeom>
          <a:solidFill>
            <a:schemeClr val="accent1"/>
          </a:solidFill>
          <a:ln w="12700">
            <a:solidFill>
              <a:schemeClr val="accent1"/>
            </a:solidFill>
            <a:prstDash val="solid"/>
          </a:ln>
        </p:spPr>
      </p:sp>
      <p:pic>
        <p:nvPicPr>
          <p:cNvPr id="20" name="kpi-2-icon" descr="preencoded.png">    </p:cNvPr>
          <p:cNvPicPr>
            <a:picLocks noChangeAspect="1"/>
          </p:cNvPicPr>
          <p:nvPr/>
        </p:nvPicPr>
        <p:blipFill>
          <a:blip r:embed="rId3"/>
          <a:stretch>
            <a:fillRect/>
          </a:stretch>
        </p:blipFill>
        <p:spPr>
          <a:xfrm>
            <a:off x="3328873" y="3463290"/>
            <a:ext cx="342900" cy="342900"/>
          </a:xfrm>
          <a:prstGeom prst="rect">
            <a:avLst/>
          </a:prstGeom>
        </p:spPr>
      </p:pic>
      <p:sp>
        <p:nvSpPr>
          <p:cNvPr id="21" name="Text 16"/>
          <p:cNvSpPr txBox="1"/>
          <p:nvPr/>
        </p:nvSpPr>
        <p:spPr>
          <a:xfrm>
            <a:off x="779983" y="3337560"/>
            <a:ext cx="2240280" cy="411480"/>
          </a:xfrm>
          <a:prstGeom prst="rect">
            <a:avLst/>
          </a:prstGeom>
          <a:noFill/>
          <a:ln/>
        </p:spPr>
        <p:txBody>
          <a:bodyPr wrap="square" lIns="0" tIns="0" rIns="0" bIns="0" rtlCol="0" anchor="t"/>
          <a:lstStyle/>
          <a:p>
            <a:pPr rtl="1" algn="r" indent="0" marL="0">
              <a:buNone/>
            </a:pPr>
            <a:r>
              <a:rPr lang="fa-IR" altLang="en-US" sz="2100" b="1" dirty="0">
                <a:solidFill>
                  <a:schemeClr val="tx1"/>
                </a:solidFill>
              </a:rPr>
              <a:t>بهنگامی</a:t>
            </a:r>
            <a:endParaRPr lang="fa-IR" sz="2100" dirty="0"/>
          </a:p>
        </p:txBody>
      </p:sp>
      <p:sp>
        <p:nvSpPr>
          <p:cNvPr id="22" name="Text 17"/>
          <p:cNvSpPr txBox="1"/>
          <p:nvPr/>
        </p:nvSpPr>
        <p:spPr>
          <a:xfrm>
            <a:off x="779983" y="3749040"/>
            <a:ext cx="2240280" cy="274320"/>
          </a:xfrm>
          <a:prstGeom prst="rect">
            <a:avLst/>
          </a:prstGeom>
          <a:noFill/>
          <a:ln/>
        </p:spPr>
        <p:txBody>
          <a:bodyPr wrap="square" lIns="0" tIns="0" rIns="0" bIns="0" rtlCol="0" anchor="t"/>
          <a:lstStyle/>
          <a:p>
            <a:pPr rtl="1" algn="r" indent="0" marL="0">
              <a:buNone/>
            </a:pPr>
            <a:r>
              <a:rPr lang="fa-IR" altLang="en-US" sz="1200" dirty="0">
                <a:solidFill>
                  <a:schemeClr val="accent4"/>
                </a:solidFill>
              </a:rPr>
              <a:t>Timeliness</a:t>
            </a:r>
            <a:endParaRPr lang="fa-IR" sz="1200" dirty="0"/>
          </a:p>
        </p:txBody>
      </p:sp>
      <p:sp>
        <p:nvSpPr>
          <p:cNvPr id="23" name="Text 18"/>
          <p:cNvSpPr txBox="1"/>
          <p:nvPr/>
        </p:nvSpPr>
        <p:spPr>
          <a:xfrm>
            <a:off x="779983" y="4206240"/>
            <a:ext cx="3108960" cy="1097280"/>
          </a:xfrm>
          <a:prstGeom prst="rect">
            <a:avLst/>
          </a:prstGeom>
          <a:noFill/>
          <a:ln/>
        </p:spPr>
        <p:txBody>
          <a:bodyPr wrap="square" lIns="0" tIns="0" rIns="0" bIns="0" rtlCol="0" anchor="t"/>
          <a:lstStyle/>
          <a:p>
            <a:pPr rtl="1" algn="r" indent="0" marL="0">
              <a:buNone/>
            </a:pPr>
            <a:r>
              <a:rPr lang="fa-IR" altLang="en-US" sz="1500" dirty="0">
                <a:solidFill>
                  <a:schemeClr val="tx1"/>
                </a:solidFill>
              </a:rPr>
              <a:t>چند روز پس از شروع واقعی هشدار می‌دهد؟</a:t>
            </a:r>
            <a:endParaRPr lang="fa-IR" sz="1500" dirty="0"/>
          </a:p>
        </p:txBody>
      </p:sp>
      <p:sp>
        <p:nvSpPr>
          <p:cNvPr id="24" name="Text 19"/>
          <p:cNvSpPr txBox="1"/>
          <p:nvPr/>
        </p:nvSpPr>
        <p:spPr>
          <a:xfrm>
            <a:off x="548640" y="5760720"/>
            <a:ext cx="11091672" cy="411480"/>
          </a:xfrm>
          <a:prstGeom prst="rect">
            <a:avLst/>
          </a:prstGeom>
          <a:noFill/>
          <a:ln/>
        </p:spPr>
        <p:txBody>
          <a:bodyPr wrap="square" lIns="0" tIns="0" rIns="0" bIns="0" rtlCol="0" anchor="t"/>
          <a:lstStyle/>
          <a:p>
            <a:pPr rtl="1" algn="r" indent="0" marL="0">
              <a:buNone/>
            </a:pPr>
            <a:r>
              <a:rPr lang="fa-IR" altLang="en-US" sz="1500" b="1" dirty="0">
                <a:solidFill>
                  <a:schemeClr val="accent2"/>
                </a:solidFill>
              </a:rPr>
              <a:t>این سه با هم بیشینه نمی‌شوند: آستانه پایین‌تر یعنی حساسیت و بهنگامی بیشتر، و هشدار کاذب بیشتر.</a:t>
            </a:r>
            <a:endParaRPr lang="fa-IR" sz="15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روش ۱: EARS (C1، C2، C3)، روش ساده CDC</a:t>
            </a:r>
            <a:endParaRPr lang="fa-IR" sz="3000" dirty="0"/>
          </a:p>
        </p:txBody>
      </p:sp>
      <p:graphicFrame>
        <p:nvGraphicFramePr>
          <p:cNvPr id="3" name="ears-chart" descr=""/>
          <p:cNvGraphicFramePr/>
          <p:nvPr/>
        </p:nvGraphicFramePr>
        <p:xfrm>
          <a:off x="548640" y="1280160"/>
          <a:ext cx="6949440" cy="4892040"/>
        </p:xfrm>
        <a:graphic xmlns:a="http://schemas.openxmlformats.org/drawingml/2006/main">
          <a:graphicData uri="http://schemas.openxmlformats.org/drawingml/2006/chart">
            <c:chart xmlns:c="http://schemas.openxmlformats.org/drawingml/2006/chart" r:id="rId1"/>
          </a:graphicData>
        </a:graphic>
      </p:graphicFrame>
      <p:sp>
        <p:nvSpPr>
          <p:cNvPr id="4" name="ears-formula"/>
          <p:cNvSpPr/>
          <p:nvPr/>
        </p:nvSpPr>
        <p:spPr>
          <a:xfrm>
            <a:off x="7772400" y="1371600"/>
            <a:ext cx="3867912" cy="1417320"/>
          </a:xfrm>
          <a:prstGeom prst="roundRect">
            <a:avLst>
              <a:gd name="adj" fmla="val 6452"/>
            </a:avLst>
          </a:prstGeom>
          <a:solidFill>
            <a:schemeClr val="tx1"/>
          </a:solidFill>
          <a:ln w="12700">
            <a:solidFill>
              <a:schemeClr val="tx1"/>
            </a:solidFill>
            <a:prstDash val="solid"/>
          </a:ln>
        </p:spPr>
      </p:sp>
      <p:sp>
        <p:nvSpPr>
          <p:cNvPr id="5" name="Text 2"/>
          <p:cNvSpPr txBox="1"/>
          <p:nvPr/>
        </p:nvSpPr>
        <p:spPr>
          <a:xfrm>
            <a:off x="7909560" y="1463040"/>
            <a:ext cx="3593592" cy="1234440"/>
          </a:xfrm>
          <a:prstGeom prst="rect">
            <a:avLst/>
          </a:prstGeom>
          <a:noFill/>
          <a:ln/>
        </p:spPr>
        <p:txBody>
          <a:bodyPr wrap="square" lIns="0" tIns="0" rIns="0" bIns="0" rtlCol="0" anchor="ctr"/>
          <a:lstStyle/>
          <a:p>
            <a:pPr algn="l" indent="0" marL="0">
              <a:buNone/>
            </a:pPr>
            <a:r>
              <a:rPr lang="en-US" sz="1300" dirty="0">
                <a:solidFill>
                  <a:schemeClr val="bg1"/>
                </a:solidFill>
                <a:latin typeface="Courier New" pitchFamily="34" charset="0"/>
                <a:ea typeface="Courier New" pitchFamily="34" charset="-122"/>
                <a:cs typeface="Courier New" pitchFamily="34" charset="-120"/>
              </a:rPr>
              <a:t>z(t) = (x(t) − m) / s</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m, s = mean, SD of days t−9 … t−3</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alarm if z(t) &gt; 3</a:t>
            </a:r>
            <a:endParaRPr lang="en-US" sz="1300" dirty="0"/>
          </a:p>
        </p:txBody>
      </p:sp>
      <p:sp>
        <p:nvSpPr>
          <p:cNvPr id="6" name="Text 3"/>
          <p:cNvSpPr txBox="1"/>
          <p:nvPr/>
        </p:nvSpPr>
        <p:spPr>
          <a:xfrm>
            <a:off x="7772400" y="3017520"/>
            <a:ext cx="3867912" cy="3017520"/>
          </a:xfrm>
          <a:prstGeom prst="rect">
            <a:avLst/>
          </a:prstGeom>
          <a:noFill/>
          <a:ln/>
        </p:spPr>
        <p:txBody>
          <a:bodyPr wrap="square" lIns="0" tIns="0" rIns="0" bIns="0" rtlCol="0" anchor="t"/>
          <a:lstStyle/>
          <a:p>
            <a:pPr rtl="1" algn="r" marL="342900" indent="-342900">
              <a:spcAft>
                <a:spcPts val="800"/>
              </a:spcAft>
              <a:buSzPct val="100000"/>
              <a:buChar char="•"/>
            </a:pPr>
            <a:r>
              <a:rPr lang="fa-IR" altLang="en-US" sz="1400" dirty="0">
                <a:solidFill>
                  <a:schemeClr val="tx1"/>
                </a:solidFill>
              </a:rPr>
              <a:t>C1: پایه = ۷ روز قبل</a:t>
            </a:r>
            <a:endParaRPr lang="fa-IR" sz="1400" dirty="0"/>
          </a:p>
          <a:p>
            <a:pPr rtl="1" algn="r" marL="342900" indent="-342900">
              <a:spcAft>
                <a:spcPts val="800"/>
              </a:spcAft>
              <a:buSzPct val="100000"/>
              <a:buChar char="•"/>
            </a:pPr>
            <a:r>
              <a:rPr lang="fa-IR" altLang="en-US" sz="1400" dirty="0">
                <a:solidFill>
                  <a:schemeClr val="tx1"/>
                </a:solidFill>
              </a:rPr>
              <a:t>C2: پایه = روزهای ۹ تا ۳ قبل (۲ روز «فاصله حفاظتی» تا خود طغیان پایه را بالا نبرد)</a:t>
            </a:r>
            <a:endParaRPr lang="fa-IR" sz="1400" dirty="0"/>
          </a:p>
          <a:p>
            <a:pPr rtl="1" algn="r" marL="342900" indent="-342900">
              <a:spcAft>
                <a:spcPts val="800"/>
              </a:spcAft>
              <a:buSzPct val="100000"/>
              <a:buChar char="•"/>
            </a:pPr>
            <a:r>
              <a:rPr lang="fa-IR" altLang="en-US" sz="1400" dirty="0">
                <a:solidFill>
                  <a:schemeClr val="tx1"/>
                </a:solidFill>
              </a:rPr>
              <a:t>C3: جمع آماره C2 در ۳ روز اخیر؛ حساس به افزایش پایدار</a:t>
            </a:r>
            <a:endParaRPr lang="fa-IR" sz="1400" dirty="0"/>
          </a:p>
          <a:p>
            <a:pPr rtl="1" algn="r" marL="342900" indent="-342900">
              <a:spcAft>
                <a:spcPts val="800"/>
              </a:spcAft>
              <a:buSzPct val="100000"/>
              <a:buChar char="•"/>
            </a:pPr>
            <a:r>
              <a:rPr lang="fa-IR" altLang="en-US" sz="1400" b="1" dirty="0">
                <a:solidFill>
                  <a:schemeClr val="tx1"/>
                </a:solidFill>
              </a:rPr>
              <a:t>فقط ۷ روز داده لازم دارد، ولی فصل و روز هفته را نمی‌شناسد</a:t>
            </a:r>
            <a:endParaRPr lang="fa-IR" sz="1400" dirty="0"/>
          </a:p>
        </p:txBody>
      </p:sp>
      <p:sp>
        <p:nvSpPr>
          <p:cNvPr id="7" name="Text 4"/>
          <p:cNvSpPr txBox="1"/>
          <p:nvPr/>
        </p:nvSpPr>
        <p:spPr>
          <a:xfrm>
            <a:off x="7772400" y="5989320"/>
            <a:ext cx="3867912" cy="274320"/>
          </a:xfrm>
          <a:prstGeom prst="rect">
            <a:avLst/>
          </a:prstGeom>
          <a:noFill/>
          <a:ln/>
        </p:spPr>
        <p:txBody>
          <a:bodyPr wrap="square" lIns="0" tIns="0" rIns="0" bIns="0" rtlCol="0" anchor="t"/>
          <a:lstStyle/>
          <a:p>
            <a:pPr rtl="1" algn="r" indent="0" marL="0">
              <a:buNone/>
            </a:pPr>
            <a:r>
              <a:rPr lang="fa-IR" altLang="en-US" sz="1000" dirty="0">
                <a:solidFill>
                  <a:schemeClr val="accent4"/>
                </a:solidFill>
              </a:rPr>
              <a:t>Hutwagner و همکاران، J Urban Health ۲۰۰۳</a:t>
            </a:r>
            <a:endParaRPr lang="fa-IR"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روش ۲: CUSUM، جمع‌کردن افزایش‌های کوچک</a:t>
            </a:r>
            <a:endParaRPr lang="fa-IR" sz="3000" dirty="0"/>
          </a:p>
        </p:txBody>
      </p:sp>
      <p:graphicFrame>
        <p:nvGraphicFramePr>
          <p:cNvPr id="3" name="cusum-chart" descr=""/>
          <p:cNvGraphicFramePr/>
          <p:nvPr/>
        </p:nvGraphicFramePr>
        <p:xfrm>
          <a:off x="548640" y="1280160"/>
          <a:ext cx="6949440" cy="4892040"/>
        </p:xfrm>
        <a:graphic xmlns:a="http://schemas.openxmlformats.org/drawingml/2006/main">
          <a:graphicData uri="http://schemas.openxmlformats.org/drawingml/2006/chart">
            <c:chart xmlns:c="http://schemas.openxmlformats.org/drawingml/2006/chart" r:id="rId1"/>
          </a:graphicData>
        </a:graphic>
      </p:graphicFrame>
      <p:sp>
        <p:nvSpPr>
          <p:cNvPr id="4" name="cusum-formula"/>
          <p:cNvSpPr/>
          <p:nvPr/>
        </p:nvSpPr>
        <p:spPr>
          <a:xfrm>
            <a:off x="7772400" y="1371600"/>
            <a:ext cx="3867912" cy="1417320"/>
          </a:xfrm>
          <a:prstGeom prst="roundRect">
            <a:avLst>
              <a:gd name="adj" fmla="val 6452"/>
            </a:avLst>
          </a:prstGeom>
          <a:solidFill>
            <a:schemeClr val="tx1"/>
          </a:solidFill>
          <a:ln w="12700">
            <a:solidFill>
              <a:schemeClr val="tx1"/>
            </a:solidFill>
            <a:prstDash val="solid"/>
          </a:ln>
        </p:spPr>
      </p:sp>
      <p:sp>
        <p:nvSpPr>
          <p:cNvPr id="5" name="Text 2"/>
          <p:cNvSpPr txBox="1"/>
          <p:nvPr/>
        </p:nvSpPr>
        <p:spPr>
          <a:xfrm>
            <a:off x="7909560" y="1463040"/>
            <a:ext cx="3593592" cy="1234440"/>
          </a:xfrm>
          <a:prstGeom prst="rect">
            <a:avLst/>
          </a:prstGeom>
          <a:noFill/>
          <a:ln/>
        </p:spPr>
        <p:txBody>
          <a:bodyPr wrap="square" lIns="0" tIns="0" rIns="0" bIns="0" rtlCol="0" anchor="ctr"/>
          <a:lstStyle/>
          <a:p>
            <a:pPr algn="l" indent="0" marL="0">
              <a:buNone/>
            </a:pPr>
            <a:r>
              <a:rPr lang="en-US" sz="1300" dirty="0">
                <a:solidFill>
                  <a:schemeClr val="bg1"/>
                </a:solidFill>
                <a:latin typeface="Courier New" pitchFamily="34" charset="0"/>
                <a:ea typeface="Courier New" pitchFamily="34" charset="-122"/>
                <a:cs typeface="Courier New" pitchFamily="34" charset="-120"/>
              </a:rPr>
              <a:t>S(t) = max(0, S(t−1) + z(t) − k)</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alarm if S(t) &gt; h</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k = 0.5, h = 4</a:t>
            </a:r>
            <a:endParaRPr lang="en-US" sz="1300" dirty="0"/>
          </a:p>
        </p:txBody>
      </p:sp>
      <p:sp>
        <p:nvSpPr>
          <p:cNvPr id="6" name="Text 3"/>
          <p:cNvSpPr txBox="1"/>
          <p:nvPr/>
        </p:nvSpPr>
        <p:spPr>
          <a:xfrm>
            <a:off x="7772400" y="3017520"/>
            <a:ext cx="3867912" cy="3108960"/>
          </a:xfrm>
          <a:prstGeom prst="rect">
            <a:avLst/>
          </a:prstGeom>
          <a:noFill/>
          <a:ln/>
        </p:spPr>
        <p:txBody>
          <a:bodyPr wrap="square" lIns="0" tIns="0" rIns="0" bIns="0" rtlCol="0" anchor="t"/>
          <a:lstStyle/>
          <a:p>
            <a:pPr rtl="1" algn="r" marL="342900" indent="-342900">
              <a:spcAft>
                <a:spcPts val="1000"/>
              </a:spcAft>
              <a:buSzPct val="100000"/>
              <a:buChar char="•"/>
            </a:pPr>
            <a:r>
              <a:rPr lang="fa-IR" altLang="en-US" sz="1400" dirty="0">
                <a:solidFill>
                  <a:schemeClr val="tx1"/>
                </a:solidFill>
              </a:rPr>
              <a:t>هر روز فقط «اضافه بر k» انباشته می‌شود؛ روزهای عادی آن را به صفر برمی‌گردانند</a:t>
            </a:r>
            <a:endParaRPr lang="fa-IR" sz="1400" dirty="0"/>
          </a:p>
          <a:p>
            <a:pPr rtl="1" algn="r" marL="342900" indent="-342900">
              <a:spcAft>
                <a:spcPts val="1000"/>
              </a:spcAft>
              <a:buSzPct val="100000"/>
              <a:buChar char="•"/>
            </a:pPr>
            <a:r>
              <a:rPr lang="fa-IR" altLang="en-US" sz="1400" dirty="0">
                <a:solidFill>
                  <a:schemeClr val="tx1"/>
                </a:solidFill>
              </a:rPr>
              <a:t>در این داده: هشدار روز ۳۶ (۲۰ تیر)، یک روز زودتر از C2 و بدون هشدار کاذب روز ۲۹</a:t>
            </a:r>
            <a:endParaRPr lang="fa-IR" sz="1400" dirty="0"/>
          </a:p>
          <a:p>
            <a:pPr rtl="1" algn="r" marL="342900" indent="-342900">
              <a:spcAft>
                <a:spcPts val="1000"/>
              </a:spcAft>
              <a:buSzPct val="100000"/>
              <a:buChar char="•"/>
            </a:pPr>
            <a:r>
              <a:rPr lang="fa-IR" altLang="en-US" sz="1400" b="1" dirty="0">
                <a:solidFill>
                  <a:schemeClr val="tx1"/>
                </a:solidFill>
              </a:rPr>
              <a:t>k و h را باید با داده خودتان تنظیم کنید؛ پس از هشدار آماره بالا می‌ماند و باید صفر شود</a:t>
            </a:r>
            <a:endParaRPr lang="fa-IR" sz="1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پاسخ معما: طغیان از روز ۳۱ شروع شده بود</a:t>
            </a:r>
            <a:endParaRPr lang="fa-IR" sz="3000" dirty="0"/>
          </a:p>
        </p:txBody>
      </p:sp>
      <p:graphicFrame>
        <p:nvGraphicFramePr>
          <p:cNvPr id="9" name="answer-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651760"/>
                <a:gridCol w="2651760"/>
                <a:gridCol w="2834640"/>
                <a:gridCol w="2953512"/>
              </a:tblGrid>
              <a:tr h="548640">
                <a:tc>
                  <a:txBody>
                    <a:bodyPr/>
                    <a:lstStyle/>
                    <a:p>
                      <a:pPr rtl="1" algn="r" indent="0" marL="0">
                        <a:buNone/>
                      </a:pPr>
                      <a:r>
                        <a:rPr lang="fa-IR" altLang="en-US" sz="1600" b="1" dirty="0">
                          <a:solidFill>
                            <a:schemeClr val="bg1"/>
                          </a:solidFill>
                        </a:rPr>
                        <a:t>هشدار کاذب</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tx2"/>
                    </a:solidFill>
                  </a:tcPr>
                </a:tc>
                <a:tc>
                  <a:txBody>
                    <a:bodyPr/>
                    <a:lstStyle/>
                    <a:p>
                      <a:pPr rtl="1" algn="r" indent="0" marL="0">
                        <a:buNone/>
                      </a:pPr>
                      <a:r>
                        <a:rPr lang="fa-IR" altLang="en-US" sz="1600" b="1" dirty="0">
                          <a:solidFill>
                            <a:schemeClr val="bg1"/>
                          </a:solidFill>
                        </a:rPr>
                        <a:t>تأخیر از شروع واقعی</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tx2"/>
                    </a:solidFill>
                  </a:tcPr>
                </a:tc>
                <a:tc>
                  <a:txBody>
                    <a:bodyPr/>
                    <a:lstStyle/>
                    <a:p>
                      <a:pPr rtl="1" algn="r" indent="0" marL="0">
                        <a:buNone/>
                      </a:pPr>
                      <a:r>
                        <a:rPr lang="fa-IR" altLang="en-US" sz="1600" b="1" dirty="0">
                          <a:solidFill>
                            <a:schemeClr val="bg1"/>
                          </a:solidFill>
                        </a:rPr>
                        <a:t>اولین هشدار درست</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tx2"/>
                    </a:solidFill>
                  </a:tcPr>
                </a:tc>
                <a:tc>
                  <a:txBody>
                    <a:bodyPr/>
                    <a:lstStyle/>
                    <a:p>
                      <a:pPr rtl="1" algn="r" indent="0" marL="0">
                        <a:buNone/>
                      </a:pPr>
                      <a:r>
                        <a:rPr lang="fa-IR" altLang="en-US" sz="1600" b="1" dirty="0">
                          <a:solidFill>
                            <a:schemeClr val="bg1"/>
                          </a:solidFill>
                        </a:rPr>
                        <a:t>روش</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tx2"/>
                    </a:solidFill>
                  </a:tcPr>
                </a:tc>
              </a:tr>
              <a:tr h="548640">
                <a:tc>
                  <a:txBody>
                    <a:bodyPr/>
                    <a:lstStyle/>
                    <a:p>
                      <a:pPr rtl="1" algn="r" indent="0" marL="0">
                        <a:buNone/>
                      </a:pPr>
                      <a:r>
                        <a:rPr lang="fa-IR" altLang="en-US" sz="1600" dirty="0">
                          <a:solidFill>
                            <a:schemeClr val="tx1"/>
                          </a:solidFill>
                        </a:rPr>
                        <a:t>؟</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c>
                  <a:txBody>
                    <a:bodyPr/>
                    <a:lstStyle/>
                    <a:p>
                      <a:pPr rtl="1" algn="r" indent="0" marL="0">
                        <a:buNone/>
                      </a:pPr>
                      <a:r>
                        <a:rPr lang="fa-IR" altLang="en-US" sz="1600" dirty="0">
                          <a:solidFill>
                            <a:schemeClr val="tx1"/>
                          </a:solidFill>
                        </a:rPr>
                        <a:t>؟</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c>
                  <a:txBody>
                    <a:bodyPr/>
                    <a:lstStyle/>
                    <a:p>
                      <a:pPr rtl="1" algn="r" indent="0" marL="0">
                        <a:buNone/>
                      </a:pPr>
                      <a:r>
                        <a:rPr lang="fa-IR" altLang="en-US" sz="1600" dirty="0">
                          <a:solidFill>
                            <a:schemeClr val="tx1"/>
                          </a:solidFill>
                        </a:rPr>
                        <a:t>روی تخته</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c>
                  <a:txBody>
                    <a:bodyPr/>
                    <a:lstStyle/>
                    <a:p>
                      <a:pPr rtl="1" algn="r" indent="0" marL="0">
                        <a:buNone/>
                      </a:pPr>
                      <a:r>
                        <a:rPr lang="fa-IR" altLang="en-US" sz="1600" b="1" dirty="0">
                          <a:solidFill>
                            <a:schemeClr val="tx1"/>
                          </a:solidFill>
                        </a:rPr>
                        <a:t>چشم گروه‌ها (اسلاید ۲)</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r>
              <a:tr h="548640">
                <a:tc>
                  <a:txBody>
                    <a:bodyPr/>
                    <a:lstStyle/>
                    <a:p>
                      <a:pPr rtl="1" algn="r" indent="0" marL="0">
                        <a:buNone/>
                      </a:pPr>
                      <a:r>
                        <a:rPr lang="fa-IR" altLang="en-US" sz="1600" dirty="0">
                          <a:solidFill>
                            <a:schemeClr val="tx1"/>
                          </a:solidFill>
                        </a:rPr>
                        <a:t>۱ (روز ۲۹، شنبه)</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rtl="1" algn="r" indent="0" marL="0">
                        <a:buNone/>
                      </a:pPr>
                      <a:r>
                        <a:rPr lang="fa-IR" altLang="en-US" sz="1600" dirty="0">
                          <a:solidFill>
                            <a:schemeClr val="tx1"/>
                          </a:solidFill>
                        </a:rPr>
                        <a:t>۶ روز</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rtl="1" algn="r" indent="0" marL="0">
                        <a:buNone/>
                      </a:pPr>
                      <a:r>
                        <a:rPr lang="fa-IR" altLang="en-US" sz="1600" dirty="0">
                          <a:solidFill>
                            <a:schemeClr val="tx1"/>
                          </a:solidFill>
                        </a:rPr>
                        <a:t>روز ۳۷ (۲۱ تیر)</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rtl="1" algn="r" indent="0" marL="0">
                        <a:buNone/>
                      </a:pPr>
                      <a:r>
                        <a:rPr lang="fa-IR" altLang="en-US" sz="1600" b="1" dirty="0">
                          <a:solidFill>
                            <a:schemeClr val="tx1"/>
                          </a:solidFill>
                        </a:rPr>
                        <a:t>EARS C2</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r>
              <a:tr h="548640">
                <a:tc>
                  <a:txBody>
                    <a:bodyPr/>
                    <a:lstStyle/>
                    <a:p>
                      <a:pPr rtl="1" algn="r" indent="0" marL="0">
                        <a:buNone/>
                      </a:pPr>
                      <a:r>
                        <a:rPr lang="fa-IR" altLang="en-US" sz="1600" dirty="0">
                          <a:solidFill>
                            <a:schemeClr val="tx1"/>
                          </a:solidFill>
                        </a:rPr>
                        <a:t>۰</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c>
                  <a:txBody>
                    <a:bodyPr/>
                    <a:lstStyle/>
                    <a:p>
                      <a:pPr rtl="1" algn="r" indent="0" marL="0">
                        <a:buNone/>
                      </a:pPr>
                      <a:r>
                        <a:rPr lang="fa-IR" altLang="en-US" sz="1600" dirty="0">
                          <a:solidFill>
                            <a:schemeClr val="tx1"/>
                          </a:solidFill>
                        </a:rPr>
                        <a:t>۵ روز</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c>
                  <a:txBody>
                    <a:bodyPr/>
                    <a:lstStyle/>
                    <a:p>
                      <a:pPr rtl="1" algn="r" indent="0" marL="0">
                        <a:buNone/>
                      </a:pPr>
                      <a:r>
                        <a:rPr lang="fa-IR" altLang="en-US" sz="1600" dirty="0">
                          <a:solidFill>
                            <a:schemeClr val="tx1"/>
                          </a:solidFill>
                        </a:rPr>
                        <a:t>روز ۳۶ (۲۰ تیر)</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c>
                  <a:txBody>
                    <a:bodyPr/>
                    <a:lstStyle/>
                    <a:p>
                      <a:pPr rtl="1" algn="r" indent="0" marL="0">
                        <a:buNone/>
                      </a:pPr>
                      <a:r>
                        <a:rPr lang="fa-IR" altLang="en-US" sz="1600" b="1" dirty="0">
                          <a:solidFill>
                            <a:schemeClr val="tx1"/>
                          </a:solidFill>
                        </a:rPr>
                        <a:t>CUSUM (k=0.5, h=4)</a:t>
                      </a:r>
                      <a:endParaRPr lang="fa-IR" sz="16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r>
            </a:tbl>
          </a:graphicData>
        </a:graphic>
      </p:graphicFrame>
      <p:sp>
        <p:nvSpPr>
          <p:cNvPr id="4" name="lesson-circle"/>
          <p:cNvSpPr/>
          <p:nvPr/>
        </p:nvSpPr>
        <p:spPr>
          <a:xfrm>
            <a:off x="10835640" y="3977640"/>
            <a:ext cx="777240" cy="777240"/>
          </a:xfrm>
          <a:prstGeom prst="ellipse">
            <a:avLst/>
          </a:prstGeom>
          <a:solidFill>
            <a:schemeClr val="accent1"/>
          </a:solidFill>
          <a:ln w="12700">
            <a:solidFill>
              <a:schemeClr val="accent1"/>
            </a:solidFill>
            <a:prstDash val="solid"/>
          </a:ln>
        </p:spPr>
      </p:sp>
      <p:pic>
        <p:nvPicPr>
          <p:cNvPr id="5" name="lesson-icon" descr="preencoded.png">    </p:cNvPr>
          <p:cNvPicPr>
            <a:picLocks noChangeAspect="1"/>
          </p:cNvPicPr>
          <p:nvPr/>
        </p:nvPicPr>
        <p:blipFill>
          <a:blip r:embed="rId1"/>
          <a:stretch>
            <a:fillRect/>
          </a:stretch>
        </p:blipFill>
        <p:spPr>
          <a:xfrm>
            <a:off x="11029950" y="4171950"/>
            <a:ext cx="388620" cy="388620"/>
          </a:xfrm>
          <a:prstGeom prst="rect">
            <a:avLst/>
          </a:prstGeom>
        </p:spPr>
      </p:pic>
      <p:sp>
        <p:nvSpPr>
          <p:cNvPr id="6" name="Text 2"/>
          <p:cNvSpPr txBox="1"/>
          <p:nvPr/>
        </p:nvSpPr>
        <p:spPr>
          <a:xfrm>
            <a:off x="6858000" y="4069080"/>
            <a:ext cx="3794760" cy="411480"/>
          </a:xfrm>
          <a:prstGeom prst="rect">
            <a:avLst/>
          </a:prstGeom>
          <a:noFill/>
          <a:ln/>
        </p:spPr>
        <p:txBody>
          <a:bodyPr wrap="square" lIns="0" tIns="0" rIns="0" bIns="0" rtlCol="0" anchor="t"/>
          <a:lstStyle/>
          <a:p>
            <a:pPr rtl="1" algn="r" indent="0" marL="0">
              <a:buNone/>
            </a:pPr>
            <a:r>
              <a:rPr lang="fa-IR" altLang="en-US" sz="2000" b="1" dirty="0">
                <a:solidFill>
                  <a:schemeClr val="tx1"/>
                </a:solidFill>
              </a:rPr>
              <a:t>درس اصلی</a:t>
            </a:r>
            <a:endParaRPr lang="fa-IR" sz="2000" dirty="0"/>
          </a:p>
        </p:txBody>
      </p:sp>
      <p:sp>
        <p:nvSpPr>
          <p:cNvPr id="7" name="Text 3"/>
          <p:cNvSpPr txBox="1"/>
          <p:nvPr/>
        </p:nvSpPr>
        <p:spPr>
          <a:xfrm>
            <a:off x="548640" y="4526280"/>
            <a:ext cx="10104120" cy="1371600"/>
          </a:xfrm>
          <a:prstGeom prst="rect">
            <a:avLst/>
          </a:prstGeom>
          <a:noFill/>
          <a:ln/>
        </p:spPr>
        <p:txBody>
          <a:bodyPr wrap="square" lIns="0" tIns="0" rIns="0" bIns="0" rtlCol="0" anchor="t"/>
          <a:lstStyle/>
          <a:p>
            <a:pPr rtl="1" algn="r" indent="0" marL="0">
              <a:buNone/>
            </a:pPr>
            <a:r>
              <a:rPr lang="fa-IR" altLang="en-US" sz="1600" dirty="0">
                <a:solidFill>
                  <a:schemeClr val="tx1"/>
                </a:solidFill>
              </a:rPr>
              <a:t>هر دو روش با داده‌ای که اثر جمعه و شنبه دارد کار کردند. اگر ابتدا اثر روز هفته را حذف کنیم (مثلاً مقایسه هر روز با همان روز هفته‌های قبل، یا افزودن روز هفته به مدل)، هر دو زودتر و با هشدار کاذب کمتر عمل می‌کنند.</a:t>
            </a:r>
            <a:endParaRPr lang="fa-IR" sz="16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روش ۳: Farrington، مقایسه با سال‌های قبل</a:t>
            </a:r>
            <a:endParaRPr lang="fa-IR" sz="3000" dirty="0"/>
          </a:p>
        </p:txBody>
      </p:sp>
      <p:sp>
        <p:nvSpPr>
          <p:cNvPr id="3" name="Text 1"/>
          <p:cNvSpPr txBox="1"/>
          <p:nvPr/>
        </p:nvSpPr>
        <p:spPr>
          <a:xfrm>
            <a:off x="11612880" y="1673352"/>
            <a:ext cx="640080" cy="365760"/>
          </a:xfrm>
          <a:prstGeom prst="rect">
            <a:avLst/>
          </a:prstGeom>
          <a:noFill/>
          <a:ln/>
        </p:spPr>
        <p:txBody>
          <a:bodyPr wrap="square" lIns="0" tIns="0" rIns="0" bIns="0" rtlCol="0" anchor="t"/>
          <a:lstStyle/>
          <a:p>
            <a:pPr algn="l" indent="0" marL="0">
              <a:buNone/>
            </a:pPr>
            <a:r>
              <a:rPr lang="fa-IR" altLang="en-US" sz="1300" dirty="0">
                <a:solidFill>
                  <a:schemeClr val="tx1"/>
                </a:solidFill>
              </a:rPr>
              <a:t>۱۴۰۵</a:t>
            </a:r>
            <a:endParaRPr lang="fa-IR" sz="1300" dirty="0"/>
          </a:p>
        </p:txBody>
      </p:sp>
      <p:sp>
        <p:nvSpPr>
          <p:cNvPr id="4" name="fgrid-0-0"/>
          <p:cNvSpPr/>
          <p:nvPr/>
        </p:nvSpPr>
        <p:spPr>
          <a:xfrm>
            <a:off x="11155680" y="1600200"/>
            <a:ext cx="320040" cy="429768"/>
          </a:xfrm>
          <a:prstGeom prst="rect">
            <a:avLst/>
          </a:prstGeom>
          <a:solidFill>
            <a:srgbClr val="E9ECF1"/>
          </a:solidFill>
          <a:ln w="12700">
            <a:solidFill>
              <a:srgbClr val="E9ECF1"/>
            </a:solidFill>
            <a:prstDash val="solid"/>
          </a:ln>
        </p:spPr>
      </p:sp>
      <p:sp>
        <p:nvSpPr>
          <p:cNvPr id="5" name="fgrid-0-1"/>
          <p:cNvSpPr/>
          <p:nvPr/>
        </p:nvSpPr>
        <p:spPr>
          <a:xfrm>
            <a:off x="10789920" y="1600200"/>
            <a:ext cx="320040" cy="429768"/>
          </a:xfrm>
          <a:prstGeom prst="rect">
            <a:avLst/>
          </a:prstGeom>
          <a:solidFill>
            <a:srgbClr val="E9ECF1"/>
          </a:solidFill>
          <a:ln w="12700">
            <a:solidFill>
              <a:srgbClr val="E9ECF1"/>
            </a:solidFill>
            <a:prstDash val="solid"/>
          </a:ln>
        </p:spPr>
      </p:sp>
      <p:sp>
        <p:nvSpPr>
          <p:cNvPr id="6" name="fgrid-0-2"/>
          <p:cNvSpPr/>
          <p:nvPr/>
        </p:nvSpPr>
        <p:spPr>
          <a:xfrm>
            <a:off x="10424160" y="1600200"/>
            <a:ext cx="320040" cy="429768"/>
          </a:xfrm>
          <a:prstGeom prst="rect">
            <a:avLst/>
          </a:prstGeom>
          <a:solidFill>
            <a:srgbClr val="E9ECF1"/>
          </a:solidFill>
          <a:ln w="12700">
            <a:solidFill>
              <a:srgbClr val="E9ECF1"/>
            </a:solidFill>
            <a:prstDash val="solid"/>
          </a:ln>
        </p:spPr>
      </p:sp>
      <p:sp>
        <p:nvSpPr>
          <p:cNvPr id="7" name="fgrid-0-3"/>
          <p:cNvSpPr/>
          <p:nvPr/>
        </p:nvSpPr>
        <p:spPr>
          <a:xfrm>
            <a:off x="10058400" y="1600200"/>
            <a:ext cx="320040" cy="429768"/>
          </a:xfrm>
          <a:prstGeom prst="rect">
            <a:avLst/>
          </a:prstGeom>
          <a:solidFill>
            <a:srgbClr val="E9ECF1"/>
          </a:solidFill>
          <a:ln w="12700">
            <a:solidFill>
              <a:srgbClr val="E9ECF1"/>
            </a:solidFill>
            <a:prstDash val="solid"/>
          </a:ln>
        </p:spPr>
      </p:sp>
      <p:sp>
        <p:nvSpPr>
          <p:cNvPr id="8" name="fgrid-0-4"/>
          <p:cNvSpPr/>
          <p:nvPr/>
        </p:nvSpPr>
        <p:spPr>
          <a:xfrm>
            <a:off x="9692640" y="1600200"/>
            <a:ext cx="320040" cy="429768"/>
          </a:xfrm>
          <a:prstGeom prst="rect">
            <a:avLst/>
          </a:prstGeom>
          <a:solidFill>
            <a:srgbClr val="E9ECF1"/>
          </a:solidFill>
          <a:ln w="12700">
            <a:solidFill>
              <a:srgbClr val="E9ECF1"/>
            </a:solidFill>
            <a:prstDash val="solid"/>
          </a:ln>
        </p:spPr>
      </p:sp>
      <p:sp>
        <p:nvSpPr>
          <p:cNvPr id="9" name="fgrid-0-5"/>
          <p:cNvSpPr/>
          <p:nvPr/>
        </p:nvSpPr>
        <p:spPr>
          <a:xfrm>
            <a:off x="9326880" y="1600200"/>
            <a:ext cx="320040" cy="429768"/>
          </a:xfrm>
          <a:prstGeom prst="rect">
            <a:avLst/>
          </a:prstGeom>
          <a:solidFill>
            <a:srgbClr val="E9ECF1"/>
          </a:solidFill>
          <a:ln w="12700">
            <a:solidFill>
              <a:srgbClr val="E9ECF1"/>
            </a:solidFill>
            <a:prstDash val="solid"/>
          </a:ln>
        </p:spPr>
      </p:sp>
      <p:sp>
        <p:nvSpPr>
          <p:cNvPr id="10" name="fgrid-0-6"/>
          <p:cNvSpPr/>
          <p:nvPr/>
        </p:nvSpPr>
        <p:spPr>
          <a:xfrm>
            <a:off x="8961120" y="1600200"/>
            <a:ext cx="320040" cy="429768"/>
          </a:xfrm>
          <a:prstGeom prst="rect">
            <a:avLst/>
          </a:prstGeom>
          <a:solidFill>
            <a:srgbClr val="E9ECF1"/>
          </a:solidFill>
          <a:ln w="12700">
            <a:solidFill>
              <a:srgbClr val="E9ECF1"/>
            </a:solidFill>
            <a:prstDash val="solid"/>
          </a:ln>
        </p:spPr>
      </p:sp>
      <p:sp>
        <p:nvSpPr>
          <p:cNvPr id="11" name="fgrid-0-7"/>
          <p:cNvSpPr/>
          <p:nvPr/>
        </p:nvSpPr>
        <p:spPr>
          <a:xfrm>
            <a:off x="8595360" y="1600200"/>
            <a:ext cx="320040" cy="429768"/>
          </a:xfrm>
          <a:prstGeom prst="rect">
            <a:avLst/>
          </a:prstGeom>
          <a:solidFill>
            <a:srgbClr val="C8423A"/>
          </a:solidFill>
          <a:ln w="12700">
            <a:solidFill>
              <a:srgbClr val="C8423A"/>
            </a:solidFill>
            <a:prstDash val="solid"/>
          </a:ln>
        </p:spPr>
      </p:sp>
      <p:sp>
        <p:nvSpPr>
          <p:cNvPr id="12" name="fgrid-0-8"/>
          <p:cNvSpPr/>
          <p:nvPr/>
        </p:nvSpPr>
        <p:spPr>
          <a:xfrm>
            <a:off x="8229600" y="1600200"/>
            <a:ext cx="320040" cy="429768"/>
          </a:xfrm>
          <a:prstGeom prst="rect">
            <a:avLst/>
          </a:prstGeom>
          <a:solidFill>
            <a:srgbClr val="FFFFFF"/>
          </a:solidFill>
          <a:ln w="12700">
            <a:solidFill>
              <a:srgbClr val="E9ECF1"/>
            </a:solidFill>
            <a:prstDash val="solid"/>
          </a:ln>
        </p:spPr>
      </p:sp>
      <p:sp>
        <p:nvSpPr>
          <p:cNvPr id="13" name="fgrid-0-9"/>
          <p:cNvSpPr/>
          <p:nvPr/>
        </p:nvSpPr>
        <p:spPr>
          <a:xfrm>
            <a:off x="7863840" y="1600200"/>
            <a:ext cx="320040" cy="429768"/>
          </a:xfrm>
          <a:prstGeom prst="rect">
            <a:avLst/>
          </a:prstGeom>
          <a:solidFill>
            <a:srgbClr val="FFFFFF"/>
          </a:solidFill>
          <a:ln w="12700">
            <a:solidFill>
              <a:srgbClr val="E9ECF1"/>
            </a:solidFill>
            <a:prstDash val="solid"/>
          </a:ln>
        </p:spPr>
      </p:sp>
      <p:sp>
        <p:nvSpPr>
          <p:cNvPr id="14" name="fgrid-0-10"/>
          <p:cNvSpPr/>
          <p:nvPr/>
        </p:nvSpPr>
        <p:spPr>
          <a:xfrm>
            <a:off x="7498080" y="1600200"/>
            <a:ext cx="320040" cy="429768"/>
          </a:xfrm>
          <a:prstGeom prst="rect">
            <a:avLst/>
          </a:prstGeom>
          <a:solidFill>
            <a:srgbClr val="FFFFFF"/>
          </a:solidFill>
          <a:ln w="12700">
            <a:solidFill>
              <a:srgbClr val="E9ECF1"/>
            </a:solidFill>
            <a:prstDash val="solid"/>
          </a:ln>
        </p:spPr>
      </p:sp>
      <p:sp>
        <p:nvSpPr>
          <p:cNvPr id="15" name="fgrid-0-11"/>
          <p:cNvSpPr/>
          <p:nvPr/>
        </p:nvSpPr>
        <p:spPr>
          <a:xfrm>
            <a:off x="7132320" y="1600200"/>
            <a:ext cx="320040" cy="429768"/>
          </a:xfrm>
          <a:prstGeom prst="rect">
            <a:avLst/>
          </a:prstGeom>
          <a:solidFill>
            <a:srgbClr val="FFFFFF"/>
          </a:solidFill>
          <a:ln w="12700">
            <a:solidFill>
              <a:srgbClr val="E9ECF1"/>
            </a:solidFill>
            <a:prstDash val="solid"/>
          </a:ln>
        </p:spPr>
      </p:sp>
      <p:sp>
        <p:nvSpPr>
          <p:cNvPr id="16" name="fgrid-0-12"/>
          <p:cNvSpPr/>
          <p:nvPr/>
        </p:nvSpPr>
        <p:spPr>
          <a:xfrm>
            <a:off x="6766560" y="1600200"/>
            <a:ext cx="320040" cy="429768"/>
          </a:xfrm>
          <a:prstGeom prst="rect">
            <a:avLst/>
          </a:prstGeom>
          <a:solidFill>
            <a:srgbClr val="FFFFFF"/>
          </a:solidFill>
          <a:ln w="12700">
            <a:solidFill>
              <a:srgbClr val="E9ECF1"/>
            </a:solidFill>
            <a:prstDash val="solid"/>
          </a:ln>
        </p:spPr>
      </p:sp>
      <p:sp>
        <p:nvSpPr>
          <p:cNvPr id="17" name="fgrid-0-13"/>
          <p:cNvSpPr/>
          <p:nvPr/>
        </p:nvSpPr>
        <p:spPr>
          <a:xfrm>
            <a:off x="6400800" y="1600200"/>
            <a:ext cx="320040" cy="429768"/>
          </a:xfrm>
          <a:prstGeom prst="rect">
            <a:avLst/>
          </a:prstGeom>
          <a:solidFill>
            <a:srgbClr val="FFFFFF"/>
          </a:solidFill>
          <a:ln w="12700">
            <a:solidFill>
              <a:srgbClr val="E9ECF1"/>
            </a:solidFill>
            <a:prstDash val="solid"/>
          </a:ln>
        </p:spPr>
      </p:sp>
      <p:sp>
        <p:nvSpPr>
          <p:cNvPr id="18" name="fgrid-0-14"/>
          <p:cNvSpPr/>
          <p:nvPr/>
        </p:nvSpPr>
        <p:spPr>
          <a:xfrm>
            <a:off x="6035040" y="1600200"/>
            <a:ext cx="320040" cy="429768"/>
          </a:xfrm>
          <a:prstGeom prst="rect">
            <a:avLst/>
          </a:prstGeom>
          <a:solidFill>
            <a:srgbClr val="FFFFFF"/>
          </a:solidFill>
          <a:ln w="12700">
            <a:solidFill>
              <a:srgbClr val="E9ECF1"/>
            </a:solidFill>
            <a:prstDash val="solid"/>
          </a:ln>
        </p:spPr>
      </p:sp>
      <p:sp>
        <p:nvSpPr>
          <p:cNvPr id="19" name="Text 17"/>
          <p:cNvSpPr txBox="1"/>
          <p:nvPr/>
        </p:nvSpPr>
        <p:spPr>
          <a:xfrm>
            <a:off x="11612880" y="2176272"/>
            <a:ext cx="640080" cy="365760"/>
          </a:xfrm>
          <a:prstGeom prst="rect">
            <a:avLst/>
          </a:prstGeom>
          <a:noFill/>
          <a:ln/>
        </p:spPr>
        <p:txBody>
          <a:bodyPr wrap="square" lIns="0" tIns="0" rIns="0" bIns="0" rtlCol="0" anchor="t"/>
          <a:lstStyle/>
          <a:p>
            <a:pPr algn="l" indent="0" marL="0">
              <a:buNone/>
            </a:pPr>
            <a:r>
              <a:rPr lang="fa-IR" altLang="en-US" sz="1300" dirty="0">
                <a:solidFill>
                  <a:schemeClr val="tx1"/>
                </a:solidFill>
              </a:rPr>
              <a:t>۱۴۰۴</a:t>
            </a:r>
            <a:endParaRPr lang="fa-IR" sz="1300" dirty="0"/>
          </a:p>
        </p:txBody>
      </p:sp>
      <p:sp>
        <p:nvSpPr>
          <p:cNvPr id="20" name="fgrid-1-0"/>
          <p:cNvSpPr/>
          <p:nvPr/>
        </p:nvSpPr>
        <p:spPr>
          <a:xfrm>
            <a:off x="11155680" y="2103120"/>
            <a:ext cx="320040" cy="429768"/>
          </a:xfrm>
          <a:prstGeom prst="rect">
            <a:avLst/>
          </a:prstGeom>
          <a:solidFill>
            <a:srgbClr val="E9ECF1"/>
          </a:solidFill>
          <a:ln w="12700">
            <a:solidFill>
              <a:srgbClr val="E9ECF1"/>
            </a:solidFill>
            <a:prstDash val="solid"/>
          </a:ln>
        </p:spPr>
      </p:sp>
      <p:sp>
        <p:nvSpPr>
          <p:cNvPr id="21" name="fgrid-1-1"/>
          <p:cNvSpPr/>
          <p:nvPr/>
        </p:nvSpPr>
        <p:spPr>
          <a:xfrm>
            <a:off x="10789920" y="2103120"/>
            <a:ext cx="320040" cy="429768"/>
          </a:xfrm>
          <a:prstGeom prst="rect">
            <a:avLst/>
          </a:prstGeom>
          <a:solidFill>
            <a:srgbClr val="E9ECF1"/>
          </a:solidFill>
          <a:ln w="12700">
            <a:solidFill>
              <a:srgbClr val="E9ECF1"/>
            </a:solidFill>
            <a:prstDash val="solid"/>
          </a:ln>
        </p:spPr>
      </p:sp>
      <p:sp>
        <p:nvSpPr>
          <p:cNvPr id="22" name="fgrid-1-2"/>
          <p:cNvSpPr/>
          <p:nvPr/>
        </p:nvSpPr>
        <p:spPr>
          <a:xfrm>
            <a:off x="10424160" y="2103120"/>
            <a:ext cx="320040" cy="429768"/>
          </a:xfrm>
          <a:prstGeom prst="rect">
            <a:avLst/>
          </a:prstGeom>
          <a:solidFill>
            <a:srgbClr val="E9ECF1"/>
          </a:solidFill>
          <a:ln w="12700">
            <a:solidFill>
              <a:srgbClr val="E9ECF1"/>
            </a:solidFill>
            <a:prstDash val="solid"/>
          </a:ln>
        </p:spPr>
      </p:sp>
      <p:sp>
        <p:nvSpPr>
          <p:cNvPr id="23" name="fgrid-1-3"/>
          <p:cNvSpPr/>
          <p:nvPr/>
        </p:nvSpPr>
        <p:spPr>
          <a:xfrm>
            <a:off x="10058400" y="2103120"/>
            <a:ext cx="320040" cy="429768"/>
          </a:xfrm>
          <a:prstGeom prst="rect">
            <a:avLst/>
          </a:prstGeom>
          <a:solidFill>
            <a:srgbClr val="E9ECF1"/>
          </a:solidFill>
          <a:ln w="12700">
            <a:solidFill>
              <a:srgbClr val="E9ECF1"/>
            </a:solidFill>
            <a:prstDash val="solid"/>
          </a:ln>
        </p:spPr>
      </p:sp>
      <p:sp>
        <p:nvSpPr>
          <p:cNvPr id="24" name="fgrid-1-4"/>
          <p:cNvSpPr/>
          <p:nvPr/>
        </p:nvSpPr>
        <p:spPr>
          <a:xfrm>
            <a:off x="9692640" y="2103120"/>
            <a:ext cx="320040" cy="429768"/>
          </a:xfrm>
          <a:prstGeom prst="rect">
            <a:avLst/>
          </a:prstGeom>
          <a:solidFill>
            <a:srgbClr val="3D6B9E"/>
          </a:solidFill>
          <a:ln w="12700">
            <a:solidFill>
              <a:srgbClr val="3D6B9E"/>
            </a:solidFill>
            <a:prstDash val="solid"/>
          </a:ln>
        </p:spPr>
      </p:sp>
      <p:sp>
        <p:nvSpPr>
          <p:cNvPr id="25" name="fgrid-1-5"/>
          <p:cNvSpPr/>
          <p:nvPr/>
        </p:nvSpPr>
        <p:spPr>
          <a:xfrm>
            <a:off x="9326880" y="2103120"/>
            <a:ext cx="320040" cy="429768"/>
          </a:xfrm>
          <a:prstGeom prst="rect">
            <a:avLst/>
          </a:prstGeom>
          <a:solidFill>
            <a:srgbClr val="3D6B9E"/>
          </a:solidFill>
          <a:ln w="12700">
            <a:solidFill>
              <a:srgbClr val="3D6B9E"/>
            </a:solidFill>
            <a:prstDash val="solid"/>
          </a:ln>
        </p:spPr>
      </p:sp>
      <p:sp>
        <p:nvSpPr>
          <p:cNvPr id="26" name="fgrid-1-6"/>
          <p:cNvSpPr/>
          <p:nvPr/>
        </p:nvSpPr>
        <p:spPr>
          <a:xfrm>
            <a:off x="8961120" y="2103120"/>
            <a:ext cx="320040" cy="429768"/>
          </a:xfrm>
          <a:prstGeom prst="rect">
            <a:avLst/>
          </a:prstGeom>
          <a:solidFill>
            <a:srgbClr val="3D6B9E"/>
          </a:solidFill>
          <a:ln w="12700">
            <a:solidFill>
              <a:srgbClr val="3D6B9E"/>
            </a:solidFill>
            <a:prstDash val="solid"/>
          </a:ln>
        </p:spPr>
      </p:sp>
      <p:sp>
        <p:nvSpPr>
          <p:cNvPr id="27" name="fgrid-1-7"/>
          <p:cNvSpPr/>
          <p:nvPr/>
        </p:nvSpPr>
        <p:spPr>
          <a:xfrm>
            <a:off x="8595360" y="2103120"/>
            <a:ext cx="320040" cy="429768"/>
          </a:xfrm>
          <a:prstGeom prst="rect">
            <a:avLst/>
          </a:prstGeom>
          <a:solidFill>
            <a:srgbClr val="3D6B9E"/>
          </a:solidFill>
          <a:ln w="12700">
            <a:solidFill>
              <a:srgbClr val="3D6B9E"/>
            </a:solidFill>
            <a:prstDash val="solid"/>
          </a:ln>
        </p:spPr>
      </p:sp>
      <p:sp>
        <p:nvSpPr>
          <p:cNvPr id="28" name="fgrid-1-8"/>
          <p:cNvSpPr/>
          <p:nvPr/>
        </p:nvSpPr>
        <p:spPr>
          <a:xfrm>
            <a:off x="8229600" y="2103120"/>
            <a:ext cx="320040" cy="429768"/>
          </a:xfrm>
          <a:prstGeom prst="rect">
            <a:avLst/>
          </a:prstGeom>
          <a:solidFill>
            <a:srgbClr val="3D6B9E"/>
          </a:solidFill>
          <a:ln w="12700">
            <a:solidFill>
              <a:srgbClr val="3D6B9E"/>
            </a:solidFill>
            <a:prstDash val="solid"/>
          </a:ln>
        </p:spPr>
      </p:sp>
      <p:sp>
        <p:nvSpPr>
          <p:cNvPr id="29" name="fgrid-1-9"/>
          <p:cNvSpPr/>
          <p:nvPr/>
        </p:nvSpPr>
        <p:spPr>
          <a:xfrm>
            <a:off x="7863840" y="2103120"/>
            <a:ext cx="320040" cy="429768"/>
          </a:xfrm>
          <a:prstGeom prst="rect">
            <a:avLst/>
          </a:prstGeom>
          <a:solidFill>
            <a:srgbClr val="3D6B9E"/>
          </a:solidFill>
          <a:ln w="12700">
            <a:solidFill>
              <a:srgbClr val="3D6B9E"/>
            </a:solidFill>
            <a:prstDash val="solid"/>
          </a:ln>
        </p:spPr>
      </p:sp>
      <p:sp>
        <p:nvSpPr>
          <p:cNvPr id="30" name="fgrid-1-10"/>
          <p:cNvSpPr/>
          <p:nvPr/>
        </p:nvSpPr>
        <p:spPr>
          <a:xfrm>
            <a:off x="7498080" y="2103120"/>
            <a:ext cx="320040" cy="429768"/>
          </a:xfrm>
          <a:prstGeom prst="rect">
            <a:avLst/>
          </a:prstGeom>
          <a:solidFill>
            <a:srgbClr val="3D6B9E"/>
          </a:solidFill>
          <a:ln w="12700">
            <a:solidFill>
              <a:srgbClr val="3D6B9E"/>
            </a:solidFill>
            <a:prstDash val="solid"/>
          </a:ln>
        </p:spPr>
      </p:sp>
      <p:sp>
        <p:nvSpPr>
          <p:cNvPr id="31" name="fgrid-1-11"/>
          <p:cNvSpPr/>
          <p:nvPr/>
        </p:nvSpPr>
        <p:spPr>
          <a:xfrm>
            <a:off x="7132320" y="2103120"/>
            <a:ext cx="320040" cy="429768"/>
          </a:xfrm>
          <a:prstGeom prst="rect">
            <a:avLst/>
          </a:prstGeom>
          <a:solidFill>
            <a:srgbClr val="E9ECF1"/>
          </a:solidFill>
          <a:ln w="12700">
            <a:solidFill>
              <a:srgbClr val="E9ECF1"/>
            </a:solidFill>
            <a:prstDash val="solid"/>
          </a:ln>
        </p:spPr>
      </p:sp>
      <p:sp>
        <p:nvSpPr>
          <p:cNvPr id="32" name="fgrid-1-12"/>
          <p:cNvSpPr/>
          <p:nvPr/>
        </p:nvSpPr>
        <p:spPr>
          <a:xfrm>
            <a:off x="6766560" y="2103120"/>
            <a:ext cx="320040" cy="429768"/>
          </a:xfrm>
          <a:prstGeom prst="rect">
            <a:avLst/>
          </a:prstGeom>
          <a:solidFill>
            <a:srgbClr val="E9ECF1"/>
          </a:solidFill>
          <a:ln w="12700">
            <a:solidFill>
              <a:srgbClr val="E9ECF1"/>
            </a:solidFill>
            <a:prstDash val="solid"/>
          </a:ln>
        </p:spPr>
      </p:sp>
      <p:sp>
        <p:nvSpPr>
          <p:cNvPr id="33" name="fgrid-1-13"/>
          <p:cNvSpPr/>
          <p:nvPr/>
        </p:nvSpPr>
        <p:spPr>
          <a:xfrm>
            <a:off x="6400800" y="2103120"/>
            <a:ext cx="320040" cy="429768"/>
          </a:xfrm>
          <a:prstGeom prst="rect">
            <a:avLst/>
          </a:prstGeom>
          <a:solidFill>
            <a:srgbClr val="E9ECF1"/>
          </a:solidFill>
          <a:ln w="12700">
            <a:solidFill>
              <a:srgbClr val="E9ECF1"/>
            </a:solidFill>
            <a:prstDash val="solid"/>
          </a:ln>
        </p:spPr>
      </p:sp>
      <p:sp>
        <p:nvSpPr>
          <p:cNvPr id="34" name="fgrid-1-14"/>
          <p:cNvSpPr/>
          <p:nvPr/>
        </p:nvSpPr>
        <p:spPr>
          <a:xfrm>
            <a:off x="6035040" y="2103120"/>
            <a:ext cx="320040" cy="429768"/>
          </a:xfrm>
          <a:prstGeom prst="rect">
            <a:avLst/>
          </a:prstGeom>
          <a:solidFill>
            <a:srgbClr val="E9ECF1"/>
          </a:solidFill>
          <a:ln w="12700">
            <a:solidFill>
              <a:srgbClr val="E9ECF1"/>
            </a:solidFill>
            <a:prstDash val="solid"/>
          </a:ln>
        </p:spPr>
      </p:sp>
      <p:sp>
        <p:nvSpPr>
          <p:cNvPr id="35" name="Text 33"/>
          <p:cNvSpPr txBox="1"/>
          <p:nvPr/>
        </p:nvSpPr>
        <p:spPr>
          <a:xfrm>
            <a:off x="11612880" y="2679192"/>
            <a:ext cx="640080" cy="365760"/>
          </a:xfrm>
          <a:prstGeom prst="rect">
            <a:avLst/>
          </a:prstGeom>
          <a:noFill/>
          <a:ln/>
        </p:spPr>
        <p:txBody>
          <a:bodyPr wrap="square" lIns="0" tIns="0" rIns="0" bIns="0" rtlCol="0" anchor="t"/>
          <a:lstStyle/>
          <a:p>
            <a:pPr algn="l" indent="0" marL="0">
              <a:buNone/>
            </a:pPr>
            <a:r>
              <a:rPr lang="fa-IR" altLang="en-US" sz="1300" dirty="0">
                <a:solidFill>
                  <a:schemeClr val="tx1"/>
                </a:solidFill>
              </a:rPr>
              <a:t>۱۴۰۳</a:t>
            </a:r>
            <a:endParaRPr lang="fa-IR" sz="1300" dirty="0"/>
          </a:p>
        </p:txBody>
      </p:sp>
      <p:sp>
        <p:nvSpPr>
          <p:cNvPr id="36" name="fgrid-2-0"/>
          <p:cNvSpPr/>
          <p:nvPr/>
        </p:nvSpPr>
        <p:spPr>
          <a:xfrm>
            <a:off x="11155680" y="2606040"/>
            <a:ext cx="320040" cy="429768"/>
          </a:xfrm>
          <a:prstGeom prst="rect">
            <a:avLst/>
          </a:prstGeom>
          <a:solidFill>
            <a:srgbClr val="E9ECF1"/>
          </a:solidFill>
          <a:ln w="12700">
            <a:solidFill>
              <a:srgbClr val="E9ECF1"/>
            </a:solidFill>
            <a:prstDash val="solid"/>
          </a:ln>
        </p:spPr>
      </p:sp>
      <p:sp>
        <p:nvSpPr>
          <p:cNvPr id="37" name="fgrid-2-1"/>
          <p:cNvSpPr/>
          <p:nvPr/>
        </p:nvSpPr>
        <p:spPr>
          <a:xfrm>
            <a:off x="10789920" y="2606040"/>
            <a:ext cx="320040" cy="429768"/>
          </a:xfrm>
          <a:prstGeom prst="rect">
            <a:avLst/>
          </a:prstGeom>
          <a:solidFill>
            <a:srgbClr val="E9ECF1"/>
          </a:solidFill>
          <a:ln w="12700">
            <a:solidFill>
              <a:srgbClr val="E9ECF1"/>
            </a:solidFill>
            <a:prstDash val="solid"/>
          </a:ln>
        </p:spPr>
      </p:sp>
      <p:sp>
        <p:nvSpPr>
          <p:cNvPr id="38" name="fgrid-2-2"/>
          <p:cNvSpPr/>
          <p:nvPr/>
        </p:nvSpPr>
        <p:spPr>
          <a:xfrm>
            <a:off x="10424160" y="2606040"/>
            <a:ext cx="320040" cy="429768"/>
          </a:xfrm>
          <a:prstGeom prst="rect">
            <a:avLst/>
          </a:prstGeom>
          <a:solidFill>
            <a:srgbClr val="E9ECF1"/>
          </a:solidFill>
          <a:ln w="12700">
            <a:solidFill>
              <a:srgbClr val="E9ECF1"/>
            </a:solidFill>
            <a:prstDash val="solid"/>
          </a:ln>
        </p:spPr>
      </p:sp>
      <p:sp>
        <p:nvSpPr>
          <p:cNvPr id="39" name="fgrid-2-3"/>
          <p:cNvSpPr/>
          <p:nvPr/>
        </p:nvSpPr>
        <p:spPr>
          <a:xfrm>
            <a:off x="10058400" y="2606040"/>
            <a:ext cx="320040" cy="429768"/>
          </a:xfrm>
          <a:prstGeom prst="rect">
            <a:avLst/>
          </a:prstGeom>
          <a:solidFill>
            <a:srgbClr val="E9ECF1"/>
          </a:solidFill>
          <a:ln w="12700">
            <a:solidFill>
              <a:srgbClr val="E9ECF1"/>
            </a:solidFill>
            <a:prstDash val="solid"/>
          </a:ln>
        </p:spPr>
      </p:sp>
      <p:sp>
        <p:nvSpPr>
          <p:cNvPr id="40" name="fgrid-2-4"/>
          <p:cNvSpPr/>
          <p:nvPr/>
        </p:nvSpPr>
        <p:spPr>
          <a:xfrm>
            <a:off x="9692640" y="2606040"/>
            <a:ext cx="320040" cy="429768"/>
          </a:xfrm>
          <a:prstGeom prst="rect">
            <a:avLst/>
          </a:prstGeom>
          <a:solidFill>
            <a:srgbClr val="3D6B9E"/>
          </a:solidFill>
          <a:ln w="12700">
            <a:solidFill>
              <a:srgbClr val="3D6B9E"/>
            </a:solidFill>
            <a:prstDash val="solid"/>
          </a:ln>
        </p:spPr>
      </p:sp>
      <p:sp>
        <p:nvSpPr>
          <p:cNvPr id="41" name="fgrid-2-5"/>
          <p:cNvSpPr/>
          <p:nvPr/>
        </p:nvSpPr>
        <p:spPr>
          <a:xfrm>
            <a:off x="9326880" y="2606040"/>
            <a:ext cx="320040" cy="429768"/>
          </a:xfrm>
          <a:prstGeom prst="rect">
            <a:avLst/>
          </a:prstGeom>
          <a:solidFill>
            <a:srgbClr val="3D6B9E"/>
          </a:solidFill>
          <a:ln w="12700">
            <a:solidFill>
              <a:srgbClr val="3D6B9E"/>
            </a:solidFill>
            <a:prstDash val="solid"/>
          </a:ln>
        </p:spPr>
      </p:sp>
      <p:sp>
        <p:nvSpPr>
          <p:cNvPr id="42" name="fgrid-2-6"/>
          <p:cNvSpPr/>
          <p:nvPr/>
        </p:nvSpPr>
        <p:spPr>
          <a:xfrm>
            <a:off x="8961120" y="2606040"/>
            <a:ext cx="320040" cy="429768"/>
          </a:xfrm>
          <a:prstGeom prst="rect">
            <a:avLst/>
          </a:prstGeom>
          <a:solidFill>
            <a:srgbClr val="3D6B9E"/>
          </a:solidFill>
          <a:ln w="12700">
            <a:solidFill>
              <a:srgbClr val="3D6B9E"/>
            </a:solidFill>
            <a:prstDash val="solid"/>
          </a:ln>
        </p:spPr>
      </p:sp>
      <p:sp>
        <p:nvSpPr>
          <p:cNvPr id="43" name="fgrid-2-7"/>
          <p:cNvSpPr/>
          <p:nvPr/>
        </p:nvSpPr>
        <p:spPr>
          <a:xfrm>
            <a:off x="8595360" y="2606040"/>
            <a:ext cx="320040" cy="429768"/>
          </a:xfrm>
          <a:prstGeom prst="rect">
            <a:avLst/>
          </a:prstGeom>
          <a:solidFill>
            <a:srgbClr val="3D6B9E"/>
          </a:solidFill>
          <a:ln w="12700">
            <a:solidFill>
              <a:srgbClr val="3D6B9E"/>
            </a:solidFill>
            <a:prstDash val="solid"/>
          </a:ln>
        </p:spPr>
      </p:sp>
      <p:sp>
        <p:nvSpPr>
          <p:cNvPr id="44" name="fgrid-2-8"/>
          <p:cNvSpPr/>
          <p:nvPr/>
        </p:nvSpPr>
        <p:spPr>
          <a:xfrm>
            <a:off x="8229600" y="2606040"/>
            <a:ext cx="320040" cy="429768"/>
          </a:xfrm>
          <a:prstGeom prst="rect">
            <a:avLst/>
          </a:prstGeom>
          <a:solidFill>
            <a:srgbClr val="3D6B9E"/>
          </a:solidFill>
          <a:ln w="12700">
            <a:solidFill>
              <a:srgbClr val="3D6B9E"/>
            </a:solidFill>
            <a:prstDash val="solid"/>
          </a:ln>
        </p:spPr>
      </p:sp>
      <p:sp>
        <p:nvSpPr>
          <p:cNvPr id="45" name="fgrid-2-9"/>
          <p:cNvSpPr/>
          <p:nvPr/>
        </p:nvSpPr>
        <p:spPr>
          <a:xfrm>
            <a:off x="7863840" y="2606040"/>
            <a:ext cx="320040" cy="429768"/>
          </a:xfrm>
          <a:prstGeom prst="rect">
            <a:avLst/>
          </a:prstGeom>
          <a:solidFill>
            <a:srgbClr val="3D6B9E"/>
          </a:solidFill>
          <a:ln w="12700">
            <a:solidFill>
              <a:srgbClr val="3D6B9E"/>
            </a:solidFill>
            <a:prstDash val="solid"/>
          </a:ln>
        </p:spPr>
      </p:sp>
      <p:sp>
        <p:nvSpPr>
          <p:cNvPr id="46" name="fgrid-2-10"/>
          <p:cNvSpPr/>
          <p:nvPr/>
        </p:nvSpPr>
        <p:spPr>
          <a:xfrm>
            <a:off x="7498080" y="2606040"/>
            <a:ext cx="320040" cy="429768"/>
          </a:xfrm>
          <a:prstGeom prst="rect">
            <a:avLst/>
          </a:prstGeom>
          <a:solidFill>
            <a:srgbClr val="3D6B9E"/>
          </a:solidFill>
          <a:ln w="12700">
            <a:solidFill>
              <a:srgbClr val="3D6B9E"/>
            </a:solidFill>
            <a:prstDash val="solid"/>
          </a:ln>
        </p:spPr>
      </p:sp>
      <p:sp>
        <p:nvSpPr>
          <p:cNvPr id="47" name="fgrid-2-11"/>
          <p:cNvSpPr/>
          <p:nvPr/>
        </p:nvSpPr>
        <p:spPr>
          <a:xfrm>
            <a:off x="7132320" y="2606040"/>
            <a:ext cx="320040" cy="429768"/>
          </a:xfrm>
          <a:prstGeom prst="rect">
            <a:avLst/>
          </a:prstGeom>
          <a:solidFill>
            <a:srgbClr val="E9ECF1"/>
          </a:solidFill>
          <a:ln w="12700">
            <a:solidFill>
              <a:srgbClr val="E9ECF1"/>
            </a:solidFill>
            <a:prstDash val="solid"/>
          </a:ln>
        </p:spPr>
      </p:sp>
      <p:sp>
        <p:nvSpPr>
          <p:cNvPr id="48" name="fgrid-2-12"/>
          <p:cNvSpPr/>
          <p:nvPr/>
        </p:nvSpPr>
        <p:spPr>
          <a:xfrm>
            <a:off x="6766560" y="2606040"/>
            <a:ext cx="320040" cy="429768"/>
          </a:xfrm>
          <a:prstGeom prst="rect">
            <a:avLst/>
          </a:prstGeom>
          <a:solidFill>
            <a:srgbClr val="E9ECF1"/>
          </a:solidFill>
          <a:ln w="12700">
            <a:solidFill>
              <a:srgbClr val="E9ECF1"/>
            </a:solidFill>
            <a:prstDash val="solid"/>
          </a:ln>
        </p:spPr>
      </p:sp>
      <p:sp>
        <p:nvSpPr>
          <p:cNvPr id="49" name="fgrid-2-13"/>
          <p:cNvSpPr/>
          <p:nvPr/>
        </p:nvSpPr>
        <p:spPr>
          <a:xfrm>
            <a:off x="6400800" y="2606040"/>
            <a:ext cx="320040" cy="429768"/>
          </a:xfrm>
          <a:prstGeom prst="rect">
            <a:avLst/>
          </a:prstGeom>
          <a:solidFill>
            <a:srgbClr val="E9ECF1"/>
          </a:solidFill>
          <a:ln w="12700">
            <a:solidFill>
              <a:srgbClr val="E9ECF1"/>
            </a:solidFill>
            <a:prstDash val="solid"/>
          </a:ln>
        </p:spPr>
      </p:sp>
      <p:sp>
        <p:nvSpPr>
          <p:cNvPr id="50" name="fgrid-2-14"/>
          <p:cNvSpPr/>
          <p:nvPr/>
        </p:nvSpPr>
        <p:spPr>
          <a:xfrm>
            <a:off x="6035040" y="2606040"/>
            <a:ext cx="320040" cy="429768"/>
          </a:xfrm>
          <a:prstGeom prst="rect">
            <a:avLst/>
          </a:prstGeom>
          <a:solidFill>
            <a:srgbClr val="E9ECF1"/>
          </a:solidFill>
          <a:ln w="12700">
            <a:solidFill>
              <a:srgbClr val="E9ECF1"/>
            </a:solidFill>
            <a:prstDash val="solid"/>
          </a:ln>
        </p:spPr>
      </p:sp>
      <p:sp>
        <p:nvSpPr>
          <p:cNvPr id="51" name="Text 49"/>
          <p:cNvSpPr txBox="1"/>
          <p:nvPr/>
        </p:nvSpPr>
        <p:spPr>
          <a:xfrm>
            <a:off x="11612880" y="3182112"/>
            <a:ext cx="640080" cy="365760"/>
          </a:xfrm>
          <a:prstGeom prst="rect">
            <a:avLst/>
          </a:prstGeom>
          <a:noFill/>
          <a:ln/>
        </p:spPr>
        <p:txBody>
          <a:bodyPr wrap="square" lIns="0" tIns="0" rIns="0" bIns="0" rtlCol="0" anchor="t"/>
          <a:lstStyle/>
          <a:p>
            <a:pPr algn="l" indent="0" marL="0">
              <a:buNone/>
            </a:pPr>
            <a:r>
              <a:rPr lang="fa-IR" altLang="en-US" sz="1300" dirty="0">
                <a:solidFill>
                  <a:schemeClr val="tx1"/>
                </a:solidFill>
              </a:rPr>
              <a:t>۱۴۰۲</a:t>
            </a:r>
            <a:endParaRPr lang="fa-IR" sz="1300" dirty="0"/>
          </a:p>
        </p:txBody>
      </p:sp>
      <p:sp>
        <p:nvSpPr>
          <p:cNvPr id="52" name="fgrid-3-0"/>
          <p:cNvSpPr/>
          <p:nvPr/>
        </p:nvSpPr>
        <p:spPr>
          <a:xfrm>
            <a:off x="11155680" y="3108960"/>
            <a:ext cx="320040" cy="429768"/>
          </a:xfrm>
          <a:prstGeom prst="rect">
            <a:avLst/>
          </a:prstGeom>
          <a:solidFill>
            <a:srgbClr val="E9ECF1"/>
          </a:solidFill>
          <a:ln w="12700">
            <a:solidFill>
              <a:srgbClr val="E9ECF1"/>
            </a:solidFill>
            <a:prstDash val="solid"/>
          </a:ln>
        </p:spPr>
      </p:sp>
      <p:sp>
        <p:nvSpPr>
          <p:cNvPr id="53" name="fgrid-3-1"/>
          <p:cNvSpPr/>
          <p:nvPr/>
        </p:nvSpPr>
        <p:spPr>
          <a:xfrm>
            <a:off x="10789920" y="3108960"/>
            <a:ext cx="320040" cy="429768"/>
          </a:xfrm>
          <a:prstGeom prst="rect">
            <a:avLst/>
          </a:prstGeom>
          <a:solidFill>
            <a:srgbClr val="E9ECF1"/>
          </a:solidFill>
          <a:ln w="12700">
            <a:solidFill>
              <a:srgbClr val="E9ECF1"/>
            </a:solidFill>
            <a:prstDash val="solid"/>
          </a:ln>
        </p:spPr>
      </p:sp>
      <p:sp>
        <p:nvSpPr>
          <p:cNvPr id="54" name="fgrid-3-2"/>
          <p:cNvSpPr/>
          <p:nvPr/>
        </p:nvSpPr>
        <p:spPr>
          <a:xfrm>
            <a:off x="10424160" y="3108960"/>
            <a:ext cx="320040" cy="429768"/>
          </a:xfrm>
          <a:prstGeom prst="rect">
            <a:avLst/>
          </a:prstGeom>
          <a:solidFill>
            <a:srgbClr val="E9ECF1"/>
          </a:solidFill>
          <a:ln w="12700">
            <a:solidFill>
              <a:srgbClr val="E9ECF1"/>
            </a:solidFill>
            <a:prstDash val="solid"/>
          </a:ln>
        </p:spPr>
      </p:sp>
      <p:sp>
        <p:nvSpPr>
          <p:cNvPr id="55" name="fgrid-3-3"/>
          <p:cNvSpPr/>
          <p:nvPr/>
        </p:nvSpPr>
        <p:spPr>
          <a:xfrm>
            <a:off x="10058400" y="3108960"/>
            <a:ext cx="320040" cy="429768"/>
          </a:xfrm>
          <a:prstGeom prst="rect">
            <a:avLst/>
          </a:prstGeom>
          <a:solidFill>
            <a:srgbClr val="E9ECF1"/>
          </a:solidFill>
          <a:ln w="12700">
            <a:solidFill>
              <a:srgbClr val="E9ECF1"/>
            </a:solidFill>
            <a:prstDash val="solid"/>
          </a:ln>
        </p:spPr>
      </p:sp>
      <p:sp>
        <p:nvSpPr>
          <p:cNvPr id="56" name="fgrid-3-4"/>
          <p:cNvSpPr/>
          <p:nvPr/>
        </p:nvSpPr>
        <p:spPr>
          <a:xfrm>
            <a:off x="9692640" y="3108960"/>
            <a:ext cx="320040" cy="429768"/>
          </a:xfrm>
          <a:prstGeom prst="rect">
            <a:avLst/>
          </a:prstGeom>
          <a:solidFill>
            <a:srgbClr val="3D6B9E"/>
          </a:solidFill>
          <a:ln w="12700">
            <a:solidFill>
              <a:srgbClr val="3D6B9E"/>
            </a:solidFill>
            <a:prstDash val="solid"/>
          </a:ln>
        </p:spPr>
      </p:sp>
      <p:sp>
        <p:nvSpPr>
          <p:cNvPr id="57" name="fgrid-3-5"/>
          <p:cNvSpPr/>
          <p:nvPr/>
        </p:nvSpPr>
        <p:spPr>
          <a:xfrm>
            <a:off x="9326880" y="3108960"/>
            <a:ext cx="320040" cy="429768"/>
          </a:xfrm>
          <a:prstGeom prst="rect">
            <a:avLst/>
          </a:prstGeom>
          <a:solidFill>
            <a:srgbClr val="3D6B9E"/>
          </a:solidFill>
          <a:ln w="12700">
            <a:solidFill>
              <a:srgbClr val="3D6B9E"/>
            </a:solidFill>
            <a:prstDash val="solid"/>
          </a:ln>
        </p:spPr>
      </p:sp>
      <p:sp>
        <p:nvSpPr>
          <p:cNvPr id="58" name="fgrid-3-6"/>
          <p:cNvSpPr/>
          <p:nvPr/>
        </p:nvSpPr>
        <p:spPr>
          <a:xfrm>
            <a:off x="8961120" y="3108960"/>
            <a:ext cx="320040" cy="429768"/>
          </a:xfrm>
          <a:prstGeom prst="rect">
            <a:avLst/>
          </a:prstGeom>
          <a:solidFill>
            <a:srgbClr val="3D6B9E"/>
          </a:solidFill>
          <a:ln w="12700">
            <a:solidFill>
              <a:srgbClr val="3D6B9E"/>
            </a:solidFill>
            <a:prstDash val="solid"/>
          </a:ln>
        </p:spPr>
      </p:sp>
      <p:sp>
        <p:nvSpPr>
          <p:cNvPr id="59" name="fgrid-3-7"/>
          <p:cNvSpPr/>
          <p:nvPr/>
        </p:nvSpPr>
        <p:spPr>
          <a:xfrm>
            <a:off x="8595360" y="3108960"/>
            <a:ext cx="320040" cy="429768"/>
          </a:xfrm>
          <a:prstGeom prst="rect">
            <a:avLst/>
          </a:prstGeom>
          <a:solidFill>
            <a:srgbClr val="3D6B9E"/>
          </a:solidFill>
          <a:ln w="12700">
            <a:solidFill>
              <a:srgbClr val="3D6B9E"/>
            </a:solidFill>
            <a:prstDash val="solid"/>
          </a:ln>
        </p:spPr>
      </p:sp>
      <p:sp>
        <p:nvSpPr>
          <p:cNvPr id="60" name="fgrid-3-8"/>
          <p:cNvSpPr/>
          <p:nvPr/>
        </p:nvSpPr>
        <p:spPr>
          <a:xfrm>
            <a:off x="8229600" y="3108960"/>
            <a:ext cx="320040" cy="429768"/>
          </a:xfrm>
          <a:prstGeom prst="rect">
            <a:avLst/>
          </a:prstGeom>
          <a:solidFill>
            <a:srgbClr val="3D6B9E"/>
          </a:solidFill>
          <a:ln w="12700">
            <a:solidFill>
              <a:srgbClr val="3D6B9E"/>
            </a:solidFill>
            <a:prstDash val="solid"/>
          </a:ln>
        </p:spPr>
      </p:sp>
      <p:sp>
        <p:nvSpPr>
          <p:cNvPr id="61" name="fgrid-3-9"/>
          <p:cNvSpPr/>
          <p:nvPr/>
        </p:nvSpPr>
        <p:spPr>
          <a:xfrm>
            <a:off x="7863840" y="3108960"/>
            <a:ext cx="320040" cy="429768"/>
          </a:xfrm>
          <a:prstGeom prst="rect">
            <a:avLst/>
          </a:prstGeom>
          <a:solidFill>
            <a:srgbClr val="3D6B9E"/>
          </a:solidFill>
          <a:ln w="12700">
            <a:solidFill>
              <a:srgbClr val="3D6B9E"/>
            </a:solidFill>
            <a:prstDash val="solid"/>
          </a:ln>
        </p:spPr>
      </p:sp>
      <p:sp>
        <p:nvSpPr>
          <p:cNvPr id="62" name="fgrid-3-10"/>
          <p:cNvSpPr/>
          <p:nvPr/>
        </p:nvSpPr>
        <p:spPr>
          <a:xfrm>
            <a:off x="7498080" y="3108960"/>
            <a:ext cx="320040" cy="429768"/>
          </a:xfrm>
          <a:prstGeom prst="rect">
            <a:avLst/>
          </a:prstGeom>
          <a:solidFill>
            <a:srgbClr val="3D6B9E"/>
          </a:solidFill>
          <a:ln w="12700">
            <a:solidFill>
              <a:srgbClr val="3D6B9E"/>
            </a:solidFill>
            <a:prstDash val="solid"/>
          </a:ln>
        </p:spPr>
      </p:sp>
      <p:sp>
        <p:nvSpPr>
          <p:cNvPr id="63" name="fgrid-3-11"/>
          <p:cNvSpPr/>
          <p:nvPr/>
        </p:nvSpPr>
        <p:spPr>
          <a:xfrm>
            <a:off x="7132320" y="3108960"/>
            <a:ext cx="320040" cy="429768"/>
          </a:xfrm>
          <a:prstGeom prst="rect">
            <a:avLst/>
          </a:prstGeom>
          <a:solidFill>
            <a:srgbClr val="E9ECF1"/>
          </a:solidFill>
          <a:ln w="12700">
            <a:solidFill>
              <a:srgbClr val="E9ECF1"/>
            </a:solidFill>
            <a:prstDash val="solid"/>
          </a:ln>
        </p:spPr>
      </p:sp>
      <p:sp>
        <p:nvSpPr>
          <p:cNvPr id="64" name="fgrid-3-12"/>
          <p:cNvSpPr/>
          <p:nvPr/>
        </p:nvSpPr>
        <p:spPr>
          <a:xfrm>
            <a:off x="6766560" y="3108960"/>
            <a:ext cx="320040" cy="429768"/>
          </a:xfrm>
          <a:prstGeom prst="rect">
            <a:avLst/>
          </a:prstGeom>
          <a:solidFill>
            <a:srgbClr val="E9ECF1"/>
          </a:solidFill>
          <a:ln w="12700">
            <a:solidFill>
              <a:srgbClr val="E9ECF1"/>
            </a:solidFill>
            <a:prstDash val="solid"/>
          </a:ln>
        </p:spPr>
      </p:sp>
      <p:sp>
        <p:nvSpPr>
          <p:cNvPr id="65" name="fgrid-3-13"/>
          <p:cNvSpPr/>
          <p:nvPr/>
        </p:nvSpPr>
        <p:spPr>
          <a:xfrm>
            <a:off x="6400800" y="3108960"/>
            <a:ext cx="320040" cy="429768"/>
          </a:xfrm>
          <a:prstGeom prst="rect">
            <a:avLst/>
          </a:prstGeom>
          <a:solidFill>
            <a:srgbClr val="E9ECF1"/>
          </a:solidFill>
          <a:ln w="12700">
            <a:solidFill>
              <a:srgbClr val="E9ECF1"/>
            </a:solidFill>
            <a:prstDash val="solid"/>
          </a:ln>
        </p:spPr>
      </p:sp>
      <p:sp>
        <p:nvSpPr>
          <p:cNvPr id="66" name="fgrid-3-14"/>
          <p:cNvSpPr/>
          <p:nvPr/>
        </p:nvSpPr>
        <p:spPr>
          <a:xfrm>
            <a:off x="6035040" y="3108960"/>
            <a:ext cx="320040" cy="429768"/>
          </a:xfrm>
          <a:prstGeom prst="rect">
            <a:avLst/>
          </a:prstGeom>
          <a:solidFill>
            <a:srgbClr val="E9ECF1"/>
          </a:solidFill>
          <a:ln w="12700">
            <a:solidFill>
              <a:srgbClr val="E9ECF1"/>
            </a:solidFill>
            <a:prstDash val="solid"/>
          </a:ln>
        </p:spPr>
      </p:sp>
      <p:sp>
        <p:nvSpPr>
          <p:cNvPr id="67" name="Text 65"/>
          <p:cNvSpPr txBox="1"/>
          <p:nvPr/>
        </p:nvSpPr>
        <p:spPr>
          <a:xfrm>
            <a:off x="11612880" y="3685032"/>
            <a:ext cx="640080" cy="365760"/>
          </a:xfrm>
          <a:prstGeom prst="rect">
            <a:avLst/>
          </a:prstGeom>
          <a:noFill/>
          <a:ln/>
        </p:spPr>
        <p:txBody>
          <a:bodyPr wrap="square" lIns="0" tIns="0" rIns="0" bIns="0" rtlCol="0" anchor="t"/>
          <a:lstStyle/>
          <a:p>
            <a:pPr algn="l" indent="0" marL="0">
              <a:buNone/>
            </a:pPr>
            <a:r>
              <a:rPr lang="fa-IR" altLang="en-US" sz="1300" dirty="0">
                <a:solidFill>
                  <a:schemeClr val="tx1"/>
                </a:solidFill>
              </a:rPr>
              <a:t>۱۴۰۱</a:t>
            </a:r>
            <a:endParaRPr lang="fa-IR" sz="1300" dirty="0"/>
          </a:p>
        </p:txBody>
      </p:sp>
      <p:sp>
        <p:nvSpPr>
          <p:cNvPr id="68" name="fgrid-4-0"/>
          <p:cNvSpPr/>
          <p:nvPr/>
        </p:nvSpPr>
        <p:spPr>
          <a:xfrm>
            <a:off x="11155680" y="3611880"/>
            <a:ext cx="320040" cy="429768"/>
          </a:xfrm>
          <a:prstGeom prst="rect">
            <a:avLst/>
          </a:prstGeom>
          <a:solidFill>
            <a:srgbClr val="E9ECF1"/>
          </a:solidFill>
          <a:ln w="12700">
            <a:solidFill>
              <a:srgbClr val="E9ECF1"/>
            </a:solidFill>
            <a:prstDash val="solid"/>
          </a:ln>
        </p:spPr>
      </p:sp>
      <p:sp>
        <p:nvSpPr>
          <p:cNvPr id="69" name="fgrid-4-1"/>
          <p:cNvSpPr/>
          <p:nvPr/>
        </p:nvSpPr>
        <p:spPr>
          <a:xfrm>
            <a:off x="10789920" y="3611880"/>
            <a:ext cx="320040" cy="429768"/>
          </a:xfrm>
          <a:prstGeom prst="rect">
            <a:avLst/>
          </a:prstGeom>
          <a:solidFill>
            <a:srgbClr val="E9ECF1"/>
          </a:solidFill>
          <a:ln w="12700">
            <a:solidFill>
              <a:srgbClr val="E9ECF1"/>
            </a:solidFill>
            <a:prstDash val="solid"/>
          </a:ln>
        </p:spPr>
      </p:sp>
      <p:sp>
        <p:nvSpPr>
          <p:cNvPr id="70" name="fgrid-4-2"/>
          <p:cNvSpPr/>
          <p:nvPr/>
        </p:nvSpPr>
        <p:spPr>
          <a:xfrm>
            <a:off x="10424160" y="3611880"/>
            <a:ext cx="320040" cy="429768"/>
          </a:xfrm>
          <a:prstGeom prst="rect">
            <a:avLst/>
          </a:prstGeom>
          <a:solidFill>
            <a:srgbClr val="E9ECF1"/>
          </a:solidFill>
          <a:ln w="12700">
            <a:solidFill>
              <a:srgbClr val="E9ECF1"/>
            </a:solidFill>
            <a:prstDash val="solid"/>
          </a:ln>
        </p:spPr>
      </p:sp>
      <p:sp>
        <p:nvSpPr>
          <p:cNvPr id="71" name="fgrid-4-3"/>
          <p:cNvSpPr/>
          <p:nvPr/>
        </p:nvSpPr>
        <p:spPr>
          <a:xfrm>
            <a:off x="10058400" y="3611880"/>
            <a:ext cx="320040" cy="429768"/>
          </a:xfrm>
          <a:prstGeom prst="rect">
            <a:avLst/>
          </a:prstGeom>
          <a:solidFill>
            <a:srgbClr val="E9ECF1"/>
          </a:solidFill>
          <a:ln w="12700">
            <a:solidFill>
              <a:srgbClr val="E9ECF1"/>
            </a:solidFill>
            <a:prstDash val="solid"/>
          </a:ln>
        </p:spPr>
      </p:sp>
      <p:sp>
        <p:nvSpPr>
          <p:cNvPr id="72" name="fgrid-4-4"/>
          <p:cNvSpPr/>
          <p:nvPr/>
        </p:nvSpPr>
        <p:spPr>
          <a:xfrm>
            <a:off x="9692640" y="3611880"/>
            <a:ext cx="320040" cy="429768"/>
          </a:xfrm>
          <a:prstGeom prst="rect">
            <a:avLst/>
          </a:prstGeom>
          <a:solidFill>
            <a:srgbClr val="3D6B9E"/>
          </a:solidFill>
          <a:ln w="12700">
            <a:solidFill>
              <a:srgbClr val="3D6B9E"/>
            </a:solidFill>
            <a:prstDash val="solid"/>
          </a:ln>
        </p:spPr>
      </p:sp>
      <p:sp>
        <p:nvSpPr>
          <p:cNvPr id="73" name="fgrid-4-5"/>
          <p:cNvSpPr/>
          <p:nvPr/>
        </p:nvSpPr>
        <p:spPr>
          <a:xfrm>
            <a:off x="9326880" y="3611880"/>
            <a:ext cx="320040" cy="429768"/>
          </a:xfrm>
          <a:prstGeom prst="rect">
            <a:avLst/>
          </a:prstGeom>
          <a:solidFill>
            <a:srgbClr val="3D6B9E"/>
          </a:solidFill>
          <a:ln w="12700">
            <a:solidFill>
              <a:srgbClr val="3D6B9E"/>
            </a:solidFill>
            <a:prstDash val="solid"/>
          </a:ln>
        </p:spPr>
      </p:sp>
      <p:sp>
        <p:nvSpPr>
          <p:cNvPr id="74" name="fgrid-4-6"/>
          <p:cNvSpPr/>
          <p:nvPr/>
        </p:nvSpPr>
        <p:spPr>
          <a:xfrm>
            <a:off x="8961120" y="3611880"/>
            <a:ext cx="320040" cy="429768"/>
          </a:xfrm>
          <a:prstGeom prst="rect">
            <a:avLst/>
          </a:prstGeom>
          <a:solidFill>
            <a:srgbClr val="3D6B9E"/>
          </a:solidFill>
          <a:ln w="12700">
            <a:solidFill>
              <a:srgbClr val="3D6B9E"/>
            </a:solidFill>
            <a:prstDash val="solid"/>
          </a:ln>
        </p:spPr>
      </p:sp>
      <p:sp>
        <p:nvSpPr>
          <p:cNvPr id="75" name="fgrid-4-7"/>
          <p:cNvSpPr/>
          <p:nvPr/>
        </p:nvSpPr>
        <p:spPr>
          <a:xfrm>
            <a:off x="8595360" y="3611880"/>
            <a:ext cx="320040" cy="429768"/>
          </a:xfrm>
          <a:prstGeom prst="rect">
            <a:avLst/>
          </a:prstGeom>
          <a:solidFill>
            <a:srgbClr val="3D6B9E"/>
          </a:solidFill>
          <a:ln w="12700">
            <a:solidFill>
              <a:srgbClr val="3D6B9E"/>
            </a:solidFill>
            <a:prstDash val="solid"/>
          </a:ln>
        </p:spPr>
      </p:sp>
      <p:sp>
        <p:nvSpPr>
          <p:cNvPr id="76" name="fgrid-4-8"/>
          <p:cNvSpPr/>
          <p:nvPr/>
        </p:nvSpPr>
        <p:spPr>
          <a:xfrm>
            <a:off x="8229600" y="3611880"/>
            <a:ext cx="320040" cy="429768"/>
          </a:xfrm>
          <a:prstGeom prst="rect">
            <a:avLst/>
          </a:prstGeom>
          <a:solidFill>
            <a:srgbClr val="3D6B9E"/>
          </a:solidFill>
          <a:ln w="12700">
            <a:solidFill>
              <a:srgbClr val="3D6B9E"/>
            </a:solidFill>
            <a:prstDash val="solid"/>
          </a:ln>
        </p:spPr>
      </p:sp>
      <p:sp>
        <p:nvSpPr>
          <p:cNvPr id="77" name="fgrid-4-9"/>
          <p:cNvSpPr/>
          <p:nvPr/>
        </p:nvSpPr>
        <p:spPr>
          <a:xfrm>
            <a:off x="7863840" y="3611880"/>
            <a:ext cx="320040" cy="429768"/>
          </a:xfrm>
          <a:prstGeom prst="rect">
            <a:avLst/>
          </a:prstGeom>
          <a:solidFill>
            <a:srgbClr val="3D6B9E"/>
          </a:solidFill>
          <a:ln w="12700">
            <a:solidFill>
              <a:srgbClr val="3D6B9E"/>
            </a:solidFill>
            <a:prstDash val="solid"/>
          </a:ln>
        </p:spPr>
      </p:sp>
      <p:sp>
        <p:nvSpPr>
          <p:cNvPr id="78" name="fgrid-4-10"/>
          <p:cNvSpPr/>
          <p:nvPr/>
        </p:nvSpPr>
        <p:spPr>
          <a:xfrm>
            <a:off x="7498080" y="3611880"/>
            <a:ext cx="320040" cy="429768"/>
          </a:xfrm>
          <a:prstGeom prst="rect">
            <a:avLst/>
          </a:prstGeom>
          <a:solidFill>
            <a:srgbClr val="3D6B9E"/>
          </a:solidFill>
          <a:ln w="12700">
            <a:solidFill>
              <a:srgbClr val="3D6B9E"/>
            </a:solidFill>
            <a:prstDash val="solid"/>
          </a:ln>
        </p:spPr>
      </p:sp>
      <p:sp>
        <p:nvSpPr>
          <p:cNvPr id="79" name="fgrid-4-11"/>
          <p:cNvSpPr/>
          <p:nvPr/>
        </p:nvSpPr>
        <p:spPr>
          <a:xfrm>
            <a:off x="7132320" y="3611880"/>
            <a:ext cx="320040" cy="429768"/>
          </a:xfrm>
          <a:prstGeom prst="rect">
            <a:avLst/>
          </a:prstGeom>
          <a:solidFill>
            <a:srgbClr val="E9ECF1"/>
          </a:solidFill>
          <a:ln w="12700">
            <a:solidFill>
              <a:srgbClr val="E9ECF1"/>
            </a:solidFill>
            <a:prstDash val="solid"/>
          </a:ln>
        </p:spPr>
      </p:sp>
      <p:sp>
        <p:nvSpPr>
          <p:cNvPr id="80" name="fgrid-4-12"/>
          <p:cNvSpPr/>
          <p:nvPr/>
        </p:nvSpPr>
        <p:spPr>
          <a:xfrm>
            <a:off x="6766560" y="3611880"/>
            <a:ext cx="320040" cy="429768"/>
          </a:xfrm>
          <a:prstGeom prst="rect">
            <a:avLst/>
          </a:prstGeom>
          <a:solidFill>
            <a:srgbClr val="E9ECF1"/>
          </a:solidFill>
          <a:ln w="12700">
            <a:solidFill>
              <a:srgbClr val="E9ECF1"/>
            </a:solidFill>
            <a:prstDash val="solid"/>
          </a:ln>
        </p:spPr>
      </p:sp>
      <p:sp>
        <p:nvSpPr>
          <p:cNvPr id="81" name="fgrid-4-13"/>
          <p:cNvSpPr/>
          <p:nvPr/>
        </p:nvSpPr>
        <p:spPr>
          <a:xfrm>
            <a:off x="6400800" y="3611880"/>
            <a:ext cx="320040" cy="429768"/>
          </a:xfrm>
          <a:prstGeom prst="rect">
            <a:avLst/>
          </a:prstGeom>
          <a:solidFill>
            <a:srgbClr val="E9ECF1"/>
          </a:solidFill>
          <a:ln w="12700">
            <a:solidFill>
              <a:srgbClr val="E9ECF1"/>
            </a:solidFill>
            <a:prstDash val="solid"/>
          </a:ln>
        </p:spPr>
      </p:sp>
      <p:sp>
        <p:nvSpPr>
          <p:cNvPr id="82" name="fgrid-4-14"/>
          <p:cNvSpPr/>
          <p:nvPr/>
        </p:nvSpPr>
        <p:spPr>
          <a:xfrm>
            <a:off x="6035040" y="3611880"/>
            <a:ext cx="320040" cy="429768"/>
          </a:xfrm>
          <a:prstGeom prst="rect">
            <a:avLst/>
          </a:prstGeom>
          <a:solidFill>
            <a:srgbClr val="E9ECF1"/>
          </a:solidFill>
          <a:ln w="12700">
            <a:solidFill>
              <a:srgbClr val="E9ECF1"/>
            </a:solidFill>
            <a:prstDash val="solid"/>
          </a:ln>
        </p:spPr>
      </p:sp>
      <p:sp>
        <p:nvSpPr>
          <p:cNvPr id="83" name="Text 81"/>
          <p:cNvSpPr txBox="1"/>
          <p:nvPr/>
        </p:nvSpPr>
        <p:spPr>
          <a:xfrm>
            <a:off x="11612880" y="4187952"/>
            <a:ext cx="640080" cy="365760"/>
          </a:xfrm>
          <a:prstGeom prst="rect">
            <a:avLst/>
          </a:prstGeom>
          <a:noFill/>
          <a:ln/>
        </p:spPr>
        <p:txBody>
          <a:bodyPr wrap="square" lIns="0" tIns="0" rIns="0" bIns="0" rtlCol="0" anchor="t"/>
          <a:lstStyle/>
          <a:p>
            <a:pPr algn="l" indent="0" marL="0">
              <a:buNone/>
            </a:pPr>
            <a:r>
              <a:rPr lang="fa-IR" altLang="en-US" sz="1300" dirty="0">
                <a:solidFill>
                  <a:schemeClr val="tx1"/>
                </a:solidFill>
              </a:rPr>
              <a:t>۱۴۰۰</a:t>
            </a:r>
            <a:endParaRPr lang="fa-IR" sz="1300" dirty="0"/>
          </a:p>
        </p:txBody>
      </p:sp>
      <p:sp>
        <p:nvSpPr>
          <p:cNvPr id="84" name="fgrid-5-0"/>
          <p:cNvSpPr/>
          <p:nvPr/>
        </p:nvSpPr>
        <p:spPr>
          <a:xfrm>
            <a:off x="11155680" y="4114800"/>
            <a:ext cx="320040" cy="429768"/>
          </a:xfrm>
          <a:prstGeom prst="rect">
            <a:avLst/>
          </a:prstGeom>
          <a:solidFill>
            <a:srgbClr val="E9ECF1"/>
          </a:solidFill>
          <a:ln w="12700">
            <a:solidFill>
              <a:srgbClr val="E9ECF1"/>
            </a:solidFill>
            <a:prstDash val="solid"/>
          </a:ln>
        </p:spPr>
      </p:sp>
      <p:sp>
        <p:nvSpPr>
          <p:cNvPr id="85" name="fgrid-5-1"/>
          <p:cNvSpPr/>
          <p:nvPr/>
        </p:nvSpPr>
        <p:spPr>
          <a:xfrm>
            <a:off x="10789920" y="4114800"/>
            <a:ext cx="320040" cy="429768"/>
          </a:xfrm>
          <a:prstGeom prst="rect">
            <a:avLst/>
          </a:prstGeom>
          <a:solidFill>
            <a:srgbClr val="E9ECF1"/>
          </a:solidFill>
          <a:ln w="12700">
            <a:solidFill>
              <a:srgbClr val="E9ECF1"/>
            </a:solidFill>
            <a:prstDash val="solid"/>
          </a:ln>
        </p:spPr>
      </p:sp>
      <p:sp>
        <p:nvSpPr>
          <p:cNvPr id="86" name="fgrid-5-2"/>
          <p:cNvSpPr/>
          <p:nvPr/>
        </p:nvSpPr>
        <p:spPr>
          <a:xfrm>
            <a:off x="10424160" y="4114800"/>
            <a:ext cx="320040" cy="429768"/>
          </a:xfrm>
          <a:prstGeom prst="rect">
            <a:avLst/>
          </a:prstGeom>
          <a:solidFill>
            <a:srgbClr val="E9ECF1"/>
          </a:solidFill>
          <a:ln w="12700">
            <a:solidFill>
              <a:srgbClr val="E9ECF1"/>
            </a:solidFill>
            <a:prstDash val="solid"/>
          </a:ln>
        </p:spPr>
      </p:sp>
      <p:sp>
        <p:nvSpPr>
          <p:cNvPr id="87" name="fgrid-5-3"/>
          <p:cNvSpPr/>
          <p:nvPr/>
        </p:nvSpPr>
        <p:spPr>
          <a:xfrm>
            <a:off x="10058400" y="4114800"/>
            <a:ext cx="320040" cy="429768"/>
          </a:xfrm>
          <a:prstGeom prst="rect">
            <a:avLst/>
          </a:prstGeom>
          <a:solidFill>
            <a:srgbClr val="E9ECF1"/>
          </a:solidFill>
          <a:ln w="12700">
            <a:solidFill>
              <a:srgbClr val="E9ECF1"/>
            </a:solidFill>
            <a:prstDash val="solid"/>
          </a:ln>
        </p:spPr>
      </p:sp>
      <p:sp>
        <p:nvSpPr>
          <p:cNvPr id="88" name="fgrid-5-4"/>
          <p:cNvSpPr/>
          <p:nvPr/>
        </p:nvSpPr>
        <p:spPr>
          <a:xfrm>
            <a:off x="9692640" y="4114800"/>
            <a:ext cx="320040" cy="429768"/>
          </a:xfrm>
          <a:prstGeom prst="rect">
            <a:avLst/>
          </a:prstGeom>
          <a:solidFill>
            <a:srgbClr val="3D6B9E"/>
          </a:solidFill>
          <a:ln w="12700">
            <a:solidFill>
              <a:srgbClr val="3D6B9E"/>
            </a:solidFill>
            <a:prstDash val="solid"/>
          </a:ln>
        </p:spPr>
      </p:sp>
      <p:sp>
        <p:nvSpPr>
          <p:cNvPr id="89" name="fgrid-5-5"/>
          <p:cNvSpPr/>
          <p:nvPr/>
        </p:nvSpPr>
        <p:spPr>
          <a:xfrm>
            <a:off x="9326880" y="4114800"/>
            <a:ext cx="320040" cy="429768"/>
          </a:xfrm>
          <a:prstGeom prst="rect">
            <a:avLst/>
          </a:prstGeom>
          <a:solidFill>
            <a:srgbClr val="3D6B9E"/>
          </a:solidFill>
          <a:ln w="12700">
            <a:solidFill>
              <a:srgbClr val="3D6B9E"/>
            </a:solidFill>
            <a:prstDash val="solid"/>
          </a:ln>
        </p:spPr>
      </p:sp>
      <p:sp>
        <p:nvSpPr>
          <p:cNvPr id="90" name="fgrid-5-6"/>
          <p:cNvSpPr/>
          <p:nvPr/>
        </p:nvSpPr>
        <p:spPr>
          <a:xfrm>
            <a:off x="8961120" y="4114800"/>
            <a:ext cx="320040" cy="429768"/>
          </a:xfrm>
          <a:prstGeom prst="rect">
            <a:avLst/>
          </a:prstGeom>
          <a:solidFill>
            <a:srgbClr val="3D6B9E"/>
          </a:solidFill>
          <a:ln w="12700">
            <a:solidFill>
              <a:srgbClr val="3D6B9E"/>
            </a:solidFill>
            <a:prstDash val="solid"/>
          </a:ln>
        </p:spPr>
      </p:sp>
      <p:sp>
        <p:nvSpPr>
          <p:cNvPr id="91" name="fgrid-5-7"/>
          <p:cNvSpPr/>
          <p:nvPr/>
        </p:nvSpPr>
        <p:spPr>
          <a:xfrm>
            <a:off x="8595360" y="4114800"/>
            <a:ext cx="320040" cy="429768"/>
          </a:xfrm>
          <a:prstGeom prst="rect">
            <a:avLst/>
          </a:prstGeom>
          <a:solidFill>
            <a:srgbClr val="3D6B9E"/>
          </a:solidFill>
          <a:ln w="12700">
            <a:solidFill>
              <a:srgbClr val="3D6B9E"/>
            </a:solidFill>
            <a:prstDash val="solid"/>
          </a:ln>
        </p:spPr>
      </p:sp>
      <p:sp>
        <p:nvSpPr>
          <p:cNvPr id="92" name="fgrid-5-8"/>
          <p:cNvSpPr/>
          <p:nvPr/>
        </p:nvSpPr>
        <p:spPr>
          <a:xfrm>
            <a:off x="8229600" y="4114800"/>
            <a:ext cx="320040" cy="429768"/>
          </a:xfrm>
          <a:prstGeom prst="rect">
            <a:avLst/>
          </a:prstGeom>
          <a:solidFill>
            <a:srgbClr val="3D6B9E"/>
          </a:solidFill>
          <a:ln w="12700">
            <a:solidFill>
              <a:srgbClr val="3D6B9E"/>
            </a:solidFill>
            <a:prstDash val="solid"/>
          </a:ln>
        </p:spPr>
      </p:sp>
      <p:sp>
        <p:nvSpPr>
          <p:cNvPr id="93" name="fgrid-5-9"/>
          <p:cNvSpPr/>
          <p:nvPr/>
        </p:nvSpPr>
        <p:spPr>
          <a:xfrm>
            <a:off x="7863840" y="4114800"/>
            <a:ext cx="320040" cy="429768"/>
          </a:xfrm>
          <a:prstGeom prst="rect">
            <a:avLst/>
          </a:prstGeom>
          <a:solidFill>
            <a:srgbClr val="3D6B9E"/>
          </a:solidFill>
          <a:ln w="12700">
            <a:solidFill>
              <a:srgbClr val="3D6B9E"/>
            </a:solidFill>
            <a:prstDash val="solid"/>
          </a:ln>
        </p:spPr>
      </p:sp>
      <p:sp>
        <p:nvSpPr>
          <p:cNvPr id="94" name="fgrid-5-10"/>
          <p:cNvSpPr/>
          <p:nvPr/>
        </p:nvSpPr>
        <p:spPr>
          <a:xfrm>
            <a:off x="7498080" y="4114800"/>
            <a:ext cx="320040" cy="429768"/>
          </a:xfrm>
          <a:prstGeom prst="rect">
            <a:avLst/>
          </a:prstGeom>
          <a:solidFill>
            <a:srgbClr val="3D6B9E"/>
          </a:solidFill>
          <a:ln w="12700">
            <a:solidFill>
              <a:srgbClr val="3D6B9E"/>
            </a:solidFill>
            <a:prstDash val="solid"/>
          </a:ln>
        </p:spPr>
      </p:sp>
      <p:sp>
        <p:nvSpPr>
          <p:cNvPr id="95" name="fgrid-5-11"/>
          <p:cNvSpPr/>
          <p:nvPr/>
        </p:nvSpPr>
        <p:spPr>
          <a:xfrm>
            <a:off x="7132320" y="4114800"/>
            <a:ext cx="320040" cy="429768"/>
          </a:xfrm>
          <a:prstGeom prst="rect">
            <a:avLst/>
          </a:prstGeom>
          <a:solidFill>
            <a:srgbClr val="E9ECF1"/>
          </a:solidFill>
          <a:ln w="12700">
            <a:solidFill>
              <a:srgbClr val="E9ECF1"/>
            </a:solidFill>
            <a:prstDash val="solid"/>
          </a:ln>
        </p:spPr>
      </p:sp>
      <p:sp>
        <p:nvSpPr>
          <p:cNvPr id="96" name="fgrid-5-12"/>
          <p:cNvSpPr/>
          <p:nvPr/>
        </p:nvSpPr>
        <p:spPr>
          <a:xfrm>
            <a:off x="6766560" y="4114800"/>
            <a:ext cx="320040" cy="429768"/>
          </a:xfrm>
          <a:prstGeom prst="rect">
            <a:avLst/>
          </a:prstGeom>
          <a:solidFill>
            <a:srgbClr val="E9ECF1"/>
          </a:solidFill>
          <a:ln w="12700">
            <a:solidFill>
              <a:srgbClr val="E9ECF1"/>
            </a:solidFill>
            <a:prstDash val="solid"/>
          </a:ln>
        </p:spPr>
      </p:sp>
      <p:sp>
        <p:nvSpPr>
          <p:cNvPr id="97" name="fgrid-5-13"/>
          <p:cNvSpPr/>
          <p:nvPr/>
        </p:nvSpPr>
        <p:spPr>
          <a:xfrm>
            <a:off x="6400800" y="4114800"/>
            <a:ext cx="320040" cy="429768"/>
          </a:xfrm>
          <a:prstGeom prst="rect">
            <a:avLst/>
          </a:prstGeom>
          <a:solidFill>
            <a:srgbClr val="E9ECF1"/>
          </a:solidFill>
          <a:ln w="12700">
            <a:solidFill>
              <a:srgbClr val="E9ECF1"/>
            </a:solidFill>
            <a:prstDash val="solid"/>
          </a:ln>
        </p:spPr>
      </p:sp>
      <p:sp>
        <p:nvSpPr>
          <p:cNvPr id="98" name="fgrid-5-14"/>
          <p:cNvSpPr/>
          <p:nvPr/>
        </p:nvSpPr>
        <p:spPr>
          <a:xfrm>
            <a:off x="6035040" y="4114800"/>
            <a:ext cx="320040" cy="429768"/>
          </a:xfrm>
          <a:prstGeom prst="rect">
            <a:avLst/>
          </a:prstGeom>
          <a:solidFill>
            <a:srgbClr val="E9ECF1"/>
          </a:solidFill>
          <a:ln w="12700">
            <a:solidFill>
              <a:srgbClr val="E9ECF1"/>
            </a:solidFill>
            <a:prstDash val="solid"/>
          </a:ln>
        </p:spPr>
      </p:sp>
      <p:sp>
        <p:nvSpPr>
          <p:cNvPr id="99" name="Text 97"/>
          <p:cNvSpPr txBox="1"/>
          <p:nvPr/>
        </p:nvSpPr>
        <p:spPr>
          <a:xfrm>
            <a:off x="6035040" y="4663440"/>
            <a:ext cx="5486400" cy="274320"/>
          </a:xfrm>
          <a:prstGeom prst="rect">
            <a:avLst/>
          </a:prstGeom>
          <a:noFill/>
          <a:ln/>
        </p:spPr>
        <p:txBody>
          <a:bodyPr wrap="square" lIns="0" tIns="0" rIns="0" bIns="0" rtlCol="0" anchor="t"/>
          <a:lstStyle/>
          <a:p>
            <a:pPr rtl="1" algn="ctr" indent="0" marL="0">
              <a:buNone/>
            </a:pPr>
            <a:r>
              <a:rPr lang="fa-IR" altLang="en-US" sz="1100" dirty="0">
                <a:solidFill>
                  <a:schemeClr val="accent4"/>
                </a:solidFill>
              </a:rPr>
              <a:t>هفته →  (هر خانه یک هفته)</a:t>
            </a:r>
            <a:endParaRPr lang="fa-IR" sz="1100" dirty="0"/>
          </a:p>
        </p:txBody>
      </p:sp>
      <p:sp>
        <p:nvSpPr>
          <p:cNvPr id="100" name="fleg-0"/>
          <p:cNvSpPr/>
          <p:nvPr/>
        </p:nvSpPr>
        <p:spPr>
          <a:xfrm>
            <a:off x="11292840" y="4983480"/>
            <a:ext cx="274320" cy="274320"/>
          </a:xfrm>
          <a:prstGeom prst="rect">
            <a:avLst/>
          </a:prstGeom>
          <a:solidFill>
            <a:srgbClr val="C8423A"/>
          </a:solidFill>
          <a:ln w="12700">
            <a:solidFill>
              <a:srgbClr val="C8423A"/>
            </a:solidFill>
            <a:prstDash val="solid"/>
          </a:ln>
        </p:spPr>
      </p:sp>
      <p:sp>
        <p:nvSpPr>
          <p:cNvPr id="101" name="Text 99"/>
          <p:cNvSpPr txBox="1"/>
          <p:nvPr/>
        </p:nvSpPr>
        <p:spPr>
          <a:xfrm>
            <a:off x="6035040" y="4965192"/>
            <a:ext cx="5120640" cy="320040"/>
          </a:xfrm>
          <a:prstGeom prst="rect">
            <a:avLst/>
          </a:prstGeom>
          <a:noFill/>
          <a:ln/>
        </p:spPr>
        <p:txBody>
          <a:bodyPr wrap="square" lIns="0" tIns="0" rIns="0" bIns="0" rtlCol="0" anchor="t"/>
          <a:lstStyle/>
          <a:p>
            <a:pPr rtl="1" algn="r" indent="0" marL="0">
              <a:buNone/>
            </a:pPr>
            <a:r>
              <a:rPr lang="fa-IR" altLang="en-US" sz="1300" dirty="0">
                <a:solidFill>
                  <a:schemeClr val="tx1"/>
                </a:solidFill>
              </a:rPr>
              <a:t>هفته جاری</a:t>
            </a:r>
            <a:endParaRPr lang="fa-IR" sz="1300" dirty="0"/>
          </a:p>
        </p:txBody>
      </p:sp>
      <p:sp>
        <p:nvSpPr>
          <p:cNvPr id="102" name="fleg-1"/>
          <p:cNvSpPr/>
          <p:nvPr/>
        </p:nvSpPr>
        <p:spPr>
          <a:xfrm>
            <a:off x="11292840" y="5367528"/>
            <a:ext cx="274320" cy="274320"/>
          </a:xfrm>
          <a:prstGeom prst="rect">
            <a:avLst/>
          </a:prstGeom>
          <a:solidFill>
            <a:srgbClr val="3D6B9E"/>
          </a:solidFill>
          <a:ln w="12700">
            <a:solidFill>
              <a:srgbClr val="3D6B9E"/>
            </a:solidFill>
            <a:prstDash val="solid"/>
          </a:ln>
        </p:spPr>
      </p:sp>
      <p:sp>
        <p:nvSpPr>
          <p:cNvPr id="103" name="Text 101"/>
          <p:cNvSpPr txBox="1"/>
          <p:nvPr/>
        </p:nvSpPr>
        <p:spPr>
          <a:xfrm>
            <a:off x="6035040" y="5349240"/>
            <a:ext cx="5120640" cy="320040"/>
          </a:xfrm>
          <a:prstGeom prst="rect">
            <a:avLst/>
          </a:prstGeom>
          <a:noFill/>
          <a:ln/>
        </p:spPr>
        <p:txBody>
          <a:bodyPr wrap="square" lIns="0" tIns="0" rIns="0" bIns="0" rtlCol="0" anchor="t"/>
          <a:lstStyle/>
          <a:p>
            <a:pPr rtl="1" algn="r" indent="0" marL="0">
              <a:buNone/>
            </a:pPr>
            <a:r>
              <a:rPr lang="fa-IR" altLang="en-US" sz="1300" dirty="0">
                <a:solidFill>
                  <a:schemeClr val="tx1"/>
                </a:solidFill>
              </a:rPr>
              <a:t>پایه: ۵ سال قبل، ۳ هفته دو طرف (b = 5، w = 3)</a:t>
            </a:r>
            <a:endParaRPr lang="fa-IR" sz="1300" dirty="0"/>
          </a:p>
        </p:txBody>
      </p:sp>
      <p:sp>
        <p:nvSpPr>
          <p:cNvPr id="104" name="Text 102"/>
          <p:cNvSpPr txBox="1"/>
          <p:nvPr/>
        </p:nvSpPr>
        <p:spPr>
          <a:xfrm>
            <a:off x="548640" y="1463040"/>
            <a:ext cx="5120640" cy="4572000"/>
          </a:xfrm>
          <a:prstGeom prst="rect">
            <a:avLst/>
          </a:prstGeom>
          <a:noFill/>
          <a:ln/>
        </p:spPr>
        <p:txBody>
          <a:bodyPr wrap="square" lIns="0" tIns="0" rIns="0" bIns="0" rtlCol="0" anchor="t"/>
          <a:lstStyle/>
          <a:p>
            <a:pPr rtl="1" algn="r" marL="342900" indent="-342900">
              <a:spcAft>
                <a:spcPts val="900"/>
              </a:spcAft>
              <a:buSzPct val="100000"/>
              <a:buChar char="•"/>
            </a:pPr>
            <a:r>
              <a:rPr lang="fa-IR" altLang="en-US" sz="1500" dirty="0">
                <a:solidFill>
                  <a:schemeClr val="tx1"/>
                </a:solidFill>
              </a:rPr>
              <a:t>رگرسیون شبه‌پواسون روی همان هفته‌های سال‌های قبل: فصل خودبه‌خود کنترل می‌شود</a:t>
            </a:r>
            <a:endParaRPr lang="fa-IR" sz="1500" dirty="0"/>
          </a:p>
          <a:p>
            <a:pPr rtl="1" algn="r" marL="342900" indent="-342900">
              <a:spcAft>
                <a:spcPts val="900"/>
              </a:spcAft>
              <a:buSzPct val="100000"/>
              <a:buChar char="•"/>
            </a:pPr>
            <a:r>
              <a:rPr lang="fa-IR" altLang="en-US" sz="1500" dirty="0">
                <a:solidFill>
                  <a:schemeClr val="tx1"/>
                </a:solidFill>
              </a:rPr>
              <a:t>روند را برآورد می‌کند و وزن هفته‌هایی را که خودشان طغیان داشتند کم می‌کند</a:t>
            </a:r>
            <a:endParaRPr lang="fa-IR" sz="1500" dirty="0"/>
          </a:p>
          <a:p>
            <a:pPr rtl="1" algn="r" marL="342900" indent="-342900">
              <a:spcAft>
                <a:spcPts val="900"/>
              </a:spcAft>
              <a:buSzPct val="100000"/>
              <a:buChar char="•"/>
            </a:pPr>
            <a:r>
              <a:rPr lang="fa-IR" altLang="en-US" sz="1500" dirty="0">
                <a:solidFill>
                  <a:schemeClr val="tx1"/>
                </a:solidFill>
              </a:rPr>
              <a:t>نسخه بهبودیافته Noufaily (۲۰۱۳) در انگلستان و ولز، که نزدیک دو دهه هر هفته اجرا می‌شود، هشدار کاذب را کم کرد و حساسیت را حفظ کرد</a:t>
            </a:r>
            <a:endParaRPr lang="fa-IR" sz="1500" dirty="0"/>
          </a:p>
          <a:p>
            <a:pPr rtl="1" algn="r" marL="342900" indent="-342900">
              <a:spcAft>
                <a:spcPts val="900"/>
              </a:spcAft>
              <a:buSzPct val="100000"/>
              <a:buChar char="•"/>
            </a:pPr>
            <a:r>
              <a:rPr lang="fa-IR" altLang="en-US" sz="1500" b="1" dirty="0">
                <a:solidFill>
                  <a:schemeClr val="tx1"/>
                </a:solidFill>
              </a:rPr>
              <a:t>نیاز: چند سال داده هفتگی پایدار</a:t>
            </a:r>
            <a:endParaRPr lang="fa-IR" sz="1500" dirty="0"/>
          </a:p>
          <a:p>
            <a:pPr rtl="1" algn="r" marL="342900" indent="-342900">
              <a:spcAft>
                <a:spcPts val="900"/>
              </a:spcAft>
              <a:buSzPct val="100000"/>
              <a:buChar char="•"/>
            </a:pPr>
            <a:r>
              <a:rPr lang="fa-IR" altLang="en-US" sz="1500" dirty="0">
                <a:solidFill>
                  <a:schemeClr val="tx1"/>
                </a:solidFill>
              </a:rPr>
              <a:t>پیاده‌سازی: تابع farringtonFlexible در بسته surveillance نرم‌افزار R</a:t>
            </a:r>
            <a:endParaRPr lang="fa-IR" sz="1500" dirty="0"/>
          </a:p>
        </p:txBody>
      </p:sp>
      <p:sp>
        <p:nvSpPr>
          <p:cNvPr id="105" name="Text 103"/>
          <p:cNvSpPr txBox="1"/>
          <p:nvPr/>
        </p:nvSpPr>
        <p:spPr>
          <a:xfrm>
            <a:off x="548640" y="5989320"/>
            <a:ext cx="5120640" cy="274320"/>
          </a:xfrm>
          <a:prstGeom prst="rect">
            <a:avLst/>
          </a:prstGeom>
          <a:noFill/>
          <a:ln/>
        </p:spPr>
        <p:txBody>
          <a:bodyPr wrap="square" lIns="0" tIns="0" rIns="0" bIns="0" rtlCol="0" anchor="t"/>
          <a:lstStyle/>
          <a:p>
            <a:pPr rtl="1" algn="r" indent="0" marL="0">
              <a:buNone/>
            </a:pPr>
            <a:r>
              <a:rPr lang="fa-IR" altLang="en-US" sz="1000" dirty="0">
                <a:solidFill>
                  <a:schemeClr val="accent4"/>
                </a:solidFill>
              </a:rPr>
              <a:t>Noufaily و همکاران، Stat Med ۲۰۱۳</a:t>
            </a:r>
            <a:endParaRPr lang="fa-IR"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روش ۴: خوشه‌یابی زمانی-مکانی (Space-time scan)</a:t>
            </a:r>
            <a:endParaRPr lang="fa-IR" sz="3000" dirty="0"/>
          </a:p>
        </p:txBody>
      </p:sp>
      <p:sp>
        <p:nvSpPr>
          <p:cNvPr id="3" name="cyl-body"/>
          <p:cNvSpPr/>
          <p:nvPr/>
        </p:nvSpPr>
        <p:spPr>
          <a:xfrm>
            <a:off x="1463040" y="2057400"/>
            <a:ext cx="2926080" cy="2651760"/>
          </a:xfrm>
          <a:prstGeom prst="rect">
            <a:avLst/>
          </a:prstGeom>
          <a:solidFill>
            <a:srgbClr val="3D6B9E">
              <a:alpha val="25000"/>
            </a:srgbClr>
          </a:solidFill>
          <a:ln w="12700">
            <a:solidFill>
              <a:srgbClr val="3D6B9E">
                <a:alpha val="25000"/>
              </a:srgbClr>
            </a:solidFill>
            <a:prstDash val="solid"/>
          </a:ln>
        </p:spPr>
      </p:sp>
      <p:sp>
        <p:nvSpPr>
          <p:cNvPr id="4" name="cyl-base"/>
          <p:cNvSpPr/>
          <p:nvPr/>
        </p:nvSpPr>
        <p:spPr>
          <a:xfrm>
            <a:off x="1463040" y="4389120"/>
            <a:ext cx="2926080" cy="640080"/>
          </a:xfrm>
          <a:prstGeom prst="ellipse">
            <a:avLst/>
          </a:prstGeom>
          <a:solidFill>
            <a:srgbClr val="3D6B9E">
              <a:alpha val="45000"/>
            </a:srgbClr>
          </a:solidFill>
          <a:ln w="12700">
            <a:solidFill>
              <a:srgbClr val="3D6B9E"/>
            </a:solidFill>
            <a:prstDash val="solid"/>
          </a:ln>
        </p:spPr>
      </p:sp>
      <p:sp>
        <p:nvSpPr>
          <p:cNvPr id="5" name="cyl-top"/>
          <p:cNvSpPr/>
          <p:nvPr/>
        </p:nvSpPr>
        <p:spPr>
          <a:xfrm>
            <a:off x="1463040" y="1737360"/>
            <a:ext cx="2926080" cy="640080"/>
          </a:xfrm>
          <a:prstGeom prst="ellipse">
            <a:avLst/>
          </a:prstGeom>
          <a:solidFill>
            <a:srgbClr val="3D6B9E">
              <a:alpha val="60000"/>
            </a:srgbClr>
          </a:solidFill>
          <a:ln w="12700">
            <a:solidFill>
              <a:srgbClr val="3D6B9E"/>
            </a:solidFill>
            <a:prstDash val="solid"/>
          </a:ln>
        </p:spPr>
      </p:sp>
      <p:sp>
        <p:nvSpPr>
          <p:cNvPr id="6" name="cyl-case"/>
          <p:cNvSpPr/>
          <p:nvPr/>
        </p:nvSpPr>
        <p:spPr>
          <a:xfrm>
            <a:off x="2286000" y="2743200"/>
            <a:ext cx="164592" cy="164592"/>
          </a:xfrm>
          <a:prstGeom prst="ellipse">
            <a:avLst/>
          </a:prstGeom>
          <a:solidFill>
            <a:srgbClr val="C8423A"/>
          </a:solidFill>
          <a:ln w="12700">
            <a:solidFill>
              <a:srgbClr val="C8423A"/>
            </a:solidFill>
            <a:prstDash val="solid"/>
          </a:ln>
        </p:spPr>
      </p:sp>
      <p:sp>
        <p:nvSpPr>
          <p:cNvPr id="7" name="cyl-case"/>
          <p:cNvSpPr/>
          <p:nvPr/>
        </p:nvSpPr>
        <p:spPr>
          <a:xfrm>
            <a:off x="2834640" y="3108960"/>
            <a:ext cx="164592" cy="164592"/>
          </a:xfrm>
          <a:prstGeom prst="ellipse">
            <a:avLst/>
          </a:prstGeom>
          <a:solidFill>
            <a:srgbClr val="C8423A"/>
          </a:solidFill>
          <a:ln w="12700">
            <a:solidFill>
              <a:srgbClr val="C8423A"/>
            </a:solidFill>
            <a:prstDash val="solid"/>
          </a:ln>
        </p:spPr>
      </p:sp>
      <p:sp>
        <p:nvSpPr>
          <p:cNvPr id="8" name="cyl-case"/>
          <p:cNvSpPr/>
          <p:nvPr/>
        </p:nvSpPr>
        <p:spPr>
          <a:xfrm>
            <a:off x="2560320" y="2377440"/>
            <a:ext cx="164592" cy="164592"/>
          </a:xfrm>
          <a:prstGeom prst="ellipse">
            <a:avLst/>
          </a:prstGeom>
          <a:solidFill>
            <a:srgbClr val="C8423A"/>
          </a:solidFill>
          <a:ln w="12700">
            <a:solidFill>
              <a:srgbClr val="C8423A"/>
            </a:solidFill>
            <a:prstDash val="solid"/>
          </a:ln>
        </p:spPr>
      </p:sp>
      <p:sp>
        <p:nvSpPr>
          <p:cNvPr id="9" name="cyl-case"/>
          <p:cNvSpPr/>
          <p:nvPr/>
        </p:nvSpPr>
        <p:spPr>
          <a:xfrm>
            <a:off x="3291840" y="2743200"/>
            <a:ext cx="164592" cy="164592"/>
          </a:xfrm>
          <a:prstGeom prst="ellipse">
            <a:avLst/>
          </a:prstGeom>
          <a:solidFill>
            <a:srgbClr val="C8423A"/>
          </a:solidFill>
          <a:ln w="12700">
            <a:solidFill>
              <a:srgbClr val="C8423A"/>
            </a:solidFill>
            <a:prstDash val="solid"/>
          </a:ln>
        </p:spPr>
      </p:sp>
      <p:sp>
        <p:nvSpPr>
          <p:cNvPr id="10" name="cyl-case"/>
          <p:cNvSpPr/>
          <p:nvPr/>
        </p:nvSpPr>
        <p:spPr>
          <a:xfrm>
            <a:off x="2011680" y="3383280"/>
            <a:ext cx="164592" cy="164592"/>
          </a:xfrm>
          <a:prstGeom prst="ellipse">
            <a:avLst/>
          </a:prstGeom>
          <a:solidFill>
            <a:srgbClr val="C8423A"/>
          </a:solidFill>
          <a:ln w="12700">
            <a:solidFill>
              <a:srgbClr val="C8423A"/>
            </a:solidFill>
            <a:prstDash val="solid"/>
          </a:ln>
        </p:spPr>
      </p:sp>
      <p:sp>
        <p:nvSpPr>
          <p:cNvPr id="11" name="cyl-case"/>
          <p:cNvSpPr/>
          <p:nvPr/>
        </p:nvSpPr>
        <p:spPr>
          <a:xfrm>
            <a:off x="3017520" y="2194560"/>
            <a:ext cx="164592" cy="164592"/>
          </a:xfrm>
          <a:prstGeom prst="ellipse">
            <a:avLst/>
          </a:prstGeom>
          <a:solidFill>
            <a:srgbClr val="C8423A"/>
          </a:solidFill>
          <a:ln w="12700">
            <a:solidFill>
              <a:srgbClr val="C8423A"/>
            </a:solidFill>
            <a:prstDash val="solid"/>
          </a:ln>
        </p:spPr>
      </p:sp>
      <p:sp>
        <p:nvSpPr>
          <p:cNvPr id="12" name="Text 10"/>
          <p:cNvSpPr txBox="1"/>
          <p:nvPr/>
        </p:nvSpPr>
        <p:spPr>
          <a:xfrm>
            <a:off x="822960" y="5257800"/>
            <a:ext cx="4206240" cy="731520"/>
          </a:xfrm>
          <a:prstGeom prst="rect">
            <a:avLst/>
          </a:prstGeom>
          <a:noFill/>
          <a:ln/>
        </p:spPr>
        <p:txBody>
          <a:bodyPr wrap="square" lIns="0" tIns="0" rIns="0" bIns="0" rtlCol="0" anchor="t"/>
          <a:lstStyle/>
          <a:p>
            <a:pPr rtl="1" algn="ctr" indent="0" marL="0">
              <a:buNone/>
            </a:pPr>
            <a:r>
              <a:rPr lang="fa-IR" altLang="en-US" sz="1300" dirty="0">
                <a:solidFill>
                  <a:schemeClr val="accent4"/>
                </a:solidFill>
              </a:rPr>
              <a:t>دایره = مکان (شعاع متغیر)</a:t>
            </a:r>
            <a:endParaRPr lang="fa-IR" sz="1300" dirty="0"/>
          </a:p>
          <a:p>
            <a:pPr rtl="1" algn="ctr" indent="0" marL="0">
              <a:buNone/>
            </a:pPr>
            <a:r>
              <a:rPr lang="fa-IR" altLang="en-US" sz="1300" dirty="0">
                <a:solidFill>
                  <a:schemeClr val="accent4"/>
                </a:solidFill>
              </a:rPr>
              <a:t>ارتفاع = زمان (طول متغیر)</a:t>
            </a:r>
            <a:endParaRPr lang="fa-IR" sz="1300" dirty="0"/>
          </a:p>
        </p:txBody>
      </p:sp>
      <p:sp>
        <p:nvSpPr>
          <p:cNvPr id="13" name="Text 11"/>
          <p:cNvSpPr txBox="1"/>
          <p:nvPr/>
        </p:nvSpPr>
        <p:spPr>
          <a:xfrm>
            <a:off x="5486400" y="1463040"/>
            <a:ext cx="6153912" cy="2377440"/>
          </a:xfrm>
          <a:prstGeom prst="rect">
            <a:avLst/>
          </a:prstGeom>
          <a:noFill/>
          <a:ln/>
        </p:spPr>
        <p:txBody>
          <a:bodyPr wrap="square" lIns="0" tIns="0" rIns="0" bIns="0" rtlCol="0" anchor="t"/>
          <a:lstStyle/>
          <a:p>
            <a:pPr rtl="1" algn="r" marL="342900" indent="-342900">
              <a:spcAft>
                <a:spcPts val="900"/>
              </a:spcAft>
              <a:buSzPct val="100000"/>
              <a:buChar char="•"/>
            </a:pPr>
            <a:r>
              <a:rPr lang="fa-IR" altLang="en-US" sz="1500" dirty="0">
                <a:solidFill>
                  <a:schemeClr val="tx1"/>
                </a:solidFill>
              </a:rPr>
              <a:t>هزاران استوانه با مرکز، شعاع و طول زمانی متفاوت روی نقشه حرکت می‌کنند</a:t>
            </a:r>
            <a:endParaRPr lang="fa-IR" sz="1500" dirty="0"/>
          </a:p>
          <a:p>
            <a:pPr rtl="1" algn="r" marL="342900" indent="-342900">
              <a:spcAft>
                <a:spcPts val="900"/>
              </a:spcAft>
              <a:buSzPct val="100000"/>
              <a:buChar char="•"/>
            </a:pPr>
            <a:r>
              <a:rPr lang="fa-IR" altLang="en-US" sz="1500" dirty="0">
                <a:solidFill>
                  <a:schemeClr val="tx1"/>
                </a:solidFill>
              </a:rPr>
              <a:t>برای هر استوانه: نسبت مشاهده به انتظار، و معنی‌داری با شبیه‌سازی مونت‌کارلو</a:t>
            </a:r>
            <a:endParaRPr lang="fa-IR" sz="1500" dirty="0"/>
          </a:p>
          <a:p>
            <a:pPr rtl="1" algn="r" marL="342900" indent="-342900">
              <a:spcAft>
                <a:spcPts val="900"/>
              </a:spcAft>
              <a:buSzPct val="100000"/>
              <a:buChar char="•"/>
            </a:pPr>
            <a:r>
              <a:rPr lang="fa-IR" altLang="en-US" sz="1500" dirty="0">
                <a:solidFill>
                  <a:schemeClr val="tx1"/>
                </a:solidFill>
              </a:rPr>
              <a:t>نرم‌افزار رایگان SaTScan؛ نسخه «space-time permutation» فقط داده موارد لازم دارد، بدون جمعیت</a:t>
            </a:r>
            <a:endParaRPr lang="fa-IR" sz="1500" dirty="0"/>
          </a:p>
        </p:txBody>
      </p:sp>
      <p:sp>
        <p:nvSpPr>
          <p:cNvPr id="14" name="iran-example"/>
          <p:cNvSpPr/>
          <p:nvPr/>
        </p:nvSpPr>
        <p:spPr>
          <a:xfrm>
            <a:off x="5486400" y="3977640"/>
            <a:ext cx="6153912" cy="1965960"/>
          </a:xfrm>
          <a:prstGeom prst="roundRect">
            <a:avLst>
              <a:gd name="adj" fmla="val 4651"/>
            </a:avLst>
          </a:prstGeom>
          <a:solidFill>
            <a:schemeClr val="bg2"/>
          </a:solidFill>
          <a:ln w="12700">
            <a:solidFill>
              <a:schemeClr val="bg2"/>
            </a:solidFill>
            <a:prstDash val="solid"/>
          </a:ln>
        </p:spPr>
      </p:sp>
      <p:sp>
        <p:nvSpPr>
          <p:cNvPr id="15" name="map-circle"/>
          <p:cNvSpPr/>
          <p:nvPr/>
        </p:nvSpPr>
        <p:spPr>
          <a:xfrm>
            <a:off x="10744200" y="4160520"/>
            <a:ext cx="685800" cy="685800"/>
          </a:xfrm>
          <a:prstGeom prst="ellipse">
            <a:avLst/>
          </a:prstGeom>
          <a:solidFill>
            <a:schemeClr val="accent5"/>
          </a:solidFill>
          <a:ln w="12700">
            <a:solidFill>
              <a:schemeClr val="accent5"/>
            </a:solidFill>
            <a:prstDash val="solid"/>
          </a:ln>
        </p:spPr>
      </p:sp>
      <p:pic>
        <p:nvPicPr>
          <p:cNvPr id="16" name="map-icon" descr="preencoded.png">    </p:cNvPr>
          <p:cNvPicPr>
            <a:picLocks noChangeAspect="1"/>
          </p:cNvPicPr>
          <p:nvPr/>
        </p:nvPicPr>
        <p:blipFill>
          <a:blip r:embed="rId1"/>
          <a:stretch>
            <a:fillRect/>
          </a:stretch>
        </p:blipFill>
        <p:spPr>
          <a:xfrm>
            <a:off x="10915650" y="4331970"/>
            <a:ext cx="342900" cy="342900"/>
          </a:xfrm>
          <a:prstGeom prst="rect">
            <a:avLst/>
          </a:prstGeom>
        </p:spPr>
      </p:pic>
      <p:sp>
        <p:nvSpPr>
          <p:cNvPr id="17" name="Text 14"/>
          <p:cNvSpPr txBox="1"/>
          <p:nvPr/>
        </p:nvSpPr>
        <p:spPr>
          <a:xfrm>
            <a:off x="5715000" y="4160520"/>
            <a:ext cx="4846320" cy="365760"/>
          </a:xfrm>
          <a:prstGeom prst="rect">
            <a:avLst/>
          </a:prstGeom>
          <a:noFill/>
          <a:ln/>
        </p:spPr>
        <p:txBody>
          <a:bodyPr wrap="square" lIns="0" tIns="0" rIns="0" bIns="0" rtlCol="0" anchor="t"/>
          <a:lstStyle/>
          <a:p>
            <a:pPr rtl="1" algn="r" indent="0" marL="0">
              <a:buNone/>
            </a:pPr>
            <a:r>
              <a:rPr lang="fa-IR" altLang="en-US" sz="1700" b="1" dirty="0">
                <a:solidFill>
                  <a:schemeClr val="tx1"/>
                </a:solidFill>
              </a:rPr>
              <a:t>نمونه ایرانی: CCHF</a:t>
            </a:r>
            <a:endParaRPr lang="fa-IR" sz="1700" dirty="0"/>
          </a:p>
        </p:txBody>
      </p:sp>
      <p:sp>
        <p:nvSpPr>
          <p:cNvPr id="18" name="Text 15"/>
          <p:cNvSpPr txBox="1"/>
          <p:nvPr/>
        </p:nvSpPr>
        <p:spPr>
          <a:xfrm>
            <a:off x="5715000" y="4572000"/>
            <a:ext cx="4846320" cy="1280160"/>
          </a:xfrm>
          <a:prstGeom prst="rect">
            <a:avLst/>
          </a:prstGeom>
          <a:noFill/>
          <a:ln/>
        </p:spPr>
        <p:txBody>
          <a:bodyPr wrap="square" lIns="0" tIns="0" rIns="0" bIns="0" rtlCol="0" anchor="t"/>
          <a:lstStyle/>
          <a:p>
            <a:pPr rtl="1" algn="r" indent="0" marL="0">
              <a:buNone/>
            </a:pPr>
            <a:r>
              <a:rPr lang="fa-IR" altLang="en-US" sz="1400" dirty="0">
                <a:solidFill>
                  <a:schemeClr val="tx1"/>
                </a:solidFill>
              </a:rPr>
              <a:t>در تحلیل ۱۰۲۷ مورد ثبت‌شده بین ۲۰۰۰ تا ۲۰۱۴، سه خوشه مکانی در شرق، جنوب و غرب کشور پیدا شد. بیشترین بروز زمانی-مکانی در شرق بین ۲۰۰۶ و ۲۰۱۲ بود، و خوشه‌ها بیشتر در تابستان شکل گرفتند.</a:t>
            </a:r>
            <a:endParaRPr lang="fa-IR" sz="1400" dirty="0"/>
          </a:p>
        </p:txBody>
      </p:sp>
      <p:sp>
        <p:nvSpPr>
          <p:cNvPr id="19" name="Text 16"/>
          <p:cNvSpPr txBox="1"/>
          <p:nvPr/>
        </p:nvSpPr>
        <p:spPr>
          <a:xfrm>
            <a:off x="5486400" y="5989320"/>
            <a:ext cx="6153912" cy="274320"/>
          </a:xfrm>
          <a:prstGeom prst="rect">
            <a:avLst/>
          </a:prstGeom>
          <a:noFill/>
          <a:ln/>
        </p:spPr>
        <p:txBody>
          <a:bodyPr wrap="square" lIns="0" tIns="0" rIns="0" bIns="0" rtlCol="0" anchor="t"/>
          <a:lstStyle/>
          <a:p>
            <a:pPr rtl="1" algn="r" indent="0" marL="0">
              <a:buNone/>
            </a:pPr>
            <a:r>
              <a:rPr lang="fa-IR" altLang="en-US" sz="1000" dirty="0">
                <a:solidFill>
                  <a:schemeClr val="accent4"/>
                </a:solidFill>
              </a:rPr>
              <a:t>Ahmadkhani و همکاران، Ticks Tick Borne Dis ۲۰۱۸</a:t>
            </a:r>
            <a:endParaRPr lang="fa-IR"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کدام روش برای کدام موقعیت؟</a:t>
            </a:r>
            <a:endParaRPr lang="fa-IR" sz="3000" dirty="0"/>
          </a:p>
        </p:txBody>
      </p:sp>
      <p:graphicFrame>
        <p:nvGraphicFramePr>
          <p:cNvPr id="12" name="methods-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926080"/>
                <a:gridCol w="3291840"/>
                <a:gridCol w="2286000"/>
                <a:gridCol w="2587752"/>
              </a:tblGrid>
              <a:tr h="566928">
                <a:tc>
                  <a:txBody>
                    <a:bodyPr/>
                    <a:lstStyle/>
                    <a:p>
                      <a:pPr rtl="1" algn="r" indent="0" marL="0">
                        <a:buNone/>
                      </a:pPr>
                      <a:r>
                        <a:rPr lang="fa-IR" altLang="en-US" sz="1400" b="1" dirty="0">
                          <a:solidFill>
                            <a:schemeClr val="bg1"/>
                          </a:solidFill>
                        </a:rPr>
                        <a:t>ضعف</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tx2"/>
                    </a:solidFill>
                  </a:tcPr>
                </a:tc>
                <a:tc>
                  <a:txBody>
                    <a:bodyPr/>
                    <a:lstStyle/>
                    <a:p>
                      <a:pPr rtl="1" algn="r" indent="0" marL="0">
                        <a:buNone/>
                      </a:pPr>
                      <a:r>
                        <a:rPr lang="fa-IR" altLang="en-US" sz="1400" b="1" dirty="0">
                          <a:solidFill>
                            <a:schemeClr val="bg1"/>
                          </a:solidFill>
                        </a:rPr>
                        <a:t>قوت</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tx2"/>
                    </a:solidFill>
                  </a:tcPr>
                </a:tc>
                <a:tc>
                  <a:txBody>
                    <a:bodyPr/>
                    <a:lstStyle/>
                    <a:p>
                      <a:pPr rtl="1" algn="r" indent="0" marL="0">
                        <a:buNone/>
                      </a:pPr>
                      <a:r>
                        <a:rPr lang="fa-IR" altLang="en-US" sz="1400" b="1" dirty="0">
                          <a:solidFill>
                            <a:schemeClr val="bg1"/>
                          </a:solidFill>
                        </a:rPr>
                        <a:t>داده لازم</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tx2"/>
                    </a:solidFill>
                  </a:tcPr>
                </a:tc>
                <a:tc>
                  <a:txBody>
                    <a:bodyPr/>
                    <a:lstStyle/>
                    <a:p>
                      <a:pPr rtl="1" algn="r" indent="0" marL="0">
                        <a:buNone/>
                      </a:pPr>
                      <a:r>
                        <a:rPr lang="fa-IR" altLang="en-US" sz="1400" b="1" dirty="0">
                          <a:solidFill>
                            <a:schemeClr val="bg1"/>
                          </a:solidFill>
                        </a:rPr>
                        <a:t>روش</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tx2"/>
                    </a:solidFill>
                  </a:tcPr>
                </a:tc>
              </a:tr>
              <a:tr h="566928">
                <a:tc>
                  <a:txBody>
                    <a:bodyPr/>
                    <a:lstStyle/>
                    <a:p>
                      <a:pPr rtl="1" algn="r" indent="0" marL="0">
                        <a:buNone/>
                      </a:pPr>
                      <a:r>
                        <a:rPr lang="fa-IR" altLang="en-US" sz="1400" dirty="0">
                          <a:solidFill>
                            <a:schemeClr val="tx1"/>
                          </a:solidFill>
                        </a:rPr>
                        <a:t>فصل و روز هفته را نمی‌بیند</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c>
                  <a:txBody>
                    <a:bodyPr/>
                    <a:lstStyle/>
                    <a:p>
                      <a:pPr rtl="1" algn="r" indent="0" marL="0">
                        <a:buNone/>
                      </a:pPr>
                      <a:r>
                        <a:rPr lang="fa-IR" altLang="en-US" sz="1400" dirty="0">
                          <a:solidFill>
                            <a:schemeClr val="tx1"/>
                          </a:solidFill>
                        </a:rPr>
                        <a:t>ساده، برای سامانه جدید یا رویداد کوتاه‌مدت</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c>
                  <a:txBody>
                    <a:bodyPr/>
                    <a:lstStyle/>
                    <a:p>
                      <a:pPr rtl="1" algn="r" indent="0" marL="0">
                        <a:buNone/>
                      </a:pPr>
                      <a:r>
                        <a:rPr lang="fa-IR" altLang="en-US" sz="1400" dirty="0">
                          <a:solidFill>
                            <a:schemeClr val="tx1"/>
                          </a:solidFill>
                        </a:rPr>
                        <a:t>۷ روز اخیر</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c>
                  <a:txBody>
                    <a:bodyPr/>
                    <a:lstStyle/>
                    <a:p>
                      <a:pPr rtl="1" algn="r" indent="0" marL="0">
                        <a:buNone/>
                      </a:pPr>
                      <a:r>
                        <a:rPr lang="fa-IR" altLang="en-US" sz="1400" b="1" dirty="0">
                          <a:solidFill>
                            <a:schemeClr val="tx1"/>
                          </a:solidFill>
                        </a:rPr>
                        <a:t>EARS (C1–C3)</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r>
              <a:tr h="566928">
                <a:tc>
                  <a:txBody>
                    <a:bodyPr/>
                    <a:lstStyle/>
                    <a:p>
                      <a:pPr rtl="1" algn="r" indent="0" marL="0">
                        <a:buNone/>
                      </a:pPr>
                      <a:r>
                        <a:rPr lang="fa-IR" altLang="en-US" sz="1400" dirty="0">
                          <a:solidFill>
                            <a:schemeClr val="tx1"/>
                          </a:solidFill>
                        </a:rPr>
                        <a:t>تنظیم k و h؛ نیاز به صفرکردن</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rtl="1" algn="r" indent="0" marL="0">
                        <a:buNone/>
                      </a:pPr>
                      <a:r>
                        <a:rPr lang="fa-IR" altLang="en-US" sz="1400" dirty="0">
                          <a:solidFill>
                            <a:schemeClr val="tx1"/>
                          </a:solidFill>
                        </a:rPr>
                        <a:t>افزایش کوچک و تدریجی</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rtl="1" algn="r" indent="0" marL="0">
                        <a:buNone/>
                      </a:pPr>
                      <a:r>
                        <a:rPr lang="fa-IR" altLang="en-US" sz="1400" dirty="0">
                          <a:solidFill>
                            <a:schemeClr val="tx1"/>
                          </a:solidFill>
                        </a:rPr>
                        <a:t>یک دوره پایه پایدار</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rtl="1" algn="r" indent="0" marL="0">
                        <a:buNone/>
                      </a:pPr>
                      <a:r>
                        <a:rPr lang="fa-IR" altLang="en-US" sz="1400" b="1" dirty="0">
                          <a:solidFill>
                            <a:schemeClr val="tx1"/>
                          </a:solidFill>
                        </a:rPr>
                        <a:t>CUSUM</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r>
              <a:tr h="566928">
                <a:tc>
                  <a:txBody>
                    <a:bodyPr/>
                    <a:lstStyle/>
                    <a:p>
                      <a:pPr rtl="1" algn="r" indent="0" marL="0">
                        <a:buNone/>
                      </a:pPr>
                      <a:r>
                        <a:rPr lang="fa-IR" altLang="en-US" sz="1400" dirty="0">
                          <a:solidFill>
                            <a:schemeClr val="tx1"/>
                          </a:solidFill>
                        </a:rPr>
                        <a:t>داده طولانی؛ کند برای داده روزانه</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c>
                  <a:txBody>
                    <a:bodyPr/>
                    <a:lstStyle/>
                    <a:p>
                      <a:pPr rtl="1" algn="r" indent="0" marL="0">
                        <a:buNone/>
                      </a:pPr>
                      <a:r>
                        <a:rPr lang="fa-IR" altLang="en-US" sz="1400" dirty="0">
                          <a:solidFill>
                            <a:schemeClr val="tx1"/>
                          </a:solidFill>
                        </a:rPr>
                        <a:t>فصل، روند و طغیان‌های گذشته</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c>
                  <a:txBody>
                    <a:bodyPr/>
                    <a:lstStyle/>
                    <a:p>
                      <a:pPr rtl="1" algn="r" indent="0" marL="0">
                        <a:buNone/>
                      </a:pPr>
                      <a:r>
                        <a:rPr lang="fa-IR" altLang="en-US" sz="1400" dirty="0">
                          <a:solidFill>
                            <a:schemeClr val="tx1"/>
                          </a:solidFill>
                        </a:rPr>
                        <a:t>چند سال داده هفتگی</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c>
                  <a:txBody>
                    <a:bodyPr/>
                    <a:lstStyle/>
                    <a:p>
                      <a:pPr rtl="1" algn="r" indent="0" marL="0">
                        <a:buNone/>
                      </a:pPr>
                      <a:r>
                        <a:rPr lang="fa-IR" altLang="en-US" sz="1400" b="1" dirty="0">
                          <a:solidFill>
                            <a:schemeClr val="tx1"/>
                          </a:solidFill>
                        </a:rPr>
                        <a:t>Farrington / Noufaily</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2"/>
                    </a:solidFill>
                  </a:tcPr>
                </a:tc>
              </a:tr>
              <a:tr h="566928">
                <a:tc>
                  <a:txBody>
                    <a:bodyPr/>
                    <a:lstStyle/>
                    <a:p>
                      <a:pPr rtl="1" algn="r" indent="0" marL="0">
                        <a:buNone/>
                      </a:pPr>
                      <a:r>
                        <a:rPr lang="fa-IR" altLang="en-US" sz="1400" dirty="0">
                          <a:solidFill>
                            <a:schemeClr val="tx1"/>
                          </a:solidFill>
                        </a:rPr>
                        <a:t>محاسبه و تفسیر دشوارتر</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rtl="1" algn="r" indent="0" marL="0">
                        <a:buNone/>
                      </a:pPr>
                      <a:r>
                        <a:rPr lang="fa-IR" altLang="en-US" sz="1400" dirty="0">
                          <a:solidFill>
                            <a:schemeClr val="tx1"/>
                          </a:solidFill>
                        </a:rPr>
                        <a:t>خوشه محلی که در داده کل گم می‌شود</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rtl="1" algn="r" indent="0" marL="0">
                        <a:buNone/>
                      </a:pPr>
                      <a:r>
                        <a:rPr lang="fa-IR" altLang="en-US" sz="1400" dirty="0">
                          <a:solidFill>
                            <a:schemeClr val="tx1"/>
                          </a:solidFill>
                        </a:rPr>
                        <a:t>مکان هر مورد</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rtl="1" algn="r" indent="0" marL="0">
                        <a:buNone/>
                      </a:pPr>
                      <a:r>
                        <a:rPr lang="fa-IR" altLang="en-US" sz="1400" b="1" dirty="0">
                          <a:solidFill>
                            <a:schemeClr val="tx1"/>
                          </a:solidFill>
                        </a:rPr>
                        <a:t>Space-time scan</a:t>
                      </a:r>
                      <a:endParaRPr lang="fa-IR" sz="1400" dirty="0"/>
                    </a:p>
                  </a:txBody>
                  <a:tcPr marL="137160" marR="137160" marT="54864" marB="54864"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r>
            </a:tbl>
          </a:graphicData>
        </a:graphic>
      </p:graphicFrame>
      <p:sp>
        <p:nvSpPr>
          <p:cNvPr id="4" name="evidence-box"/>
          <p:cNvSpPr/>
          <p:nvPr/>
        </p:nvSpPr>
        <p:spPr>
          <a:xfrm>
            <a:off x="548640" y="4572000"/>
            <a:ext cx="11091672" cy="1371600"/>
          </a:xfrm>
          <a:prstGeom prst="roundRect">
            <a:avLst>
              <a:gd name="adj" fmla="val 6667"/>
            </a:avLst>
          </a:prstGeom>
          <a:solidFill>
            <a:schemeClr val="tx1"/>
          </a:solidFill>
          <a:ln w="12700">
            <a:solidFill>
              <a:schemeClr val="tx1"/>
            </a:solidFill>
            <a:prstDash val="solid"/>
          </a:ln>
        </p:spPr>
      </p:sp>
      <p:sp>
        <p:nvSpPr>
          <p:cNvPr id="5" name="Text 2"/>
          <p:cNvSpPr txBox="1"/>
          <p:nvPr/>
        </p:nvSpPr>
        <p:spPr>
          <a:xfrm>
            <a:off x="822960" y="4709160"/>
            <a:ext cx="10515600" cy="914400"/>
          </a:xfrm>
          <a:prstGeom prst="rect">
            <a:avLst/>
          </a:prstGeom>
          <a:noFill/>
          <a:ln/>
        </p:spPr>
        <p:txBody>
          <a:bodyPr wrap="square" lIns="0" tIns="0" rIns="0" bIns="0" rtlCol="0" anchor="ctr"/>
          <a:lstStyle/>
          <a:p>
            <a:pPr rtl="1" algn="r" indent="0" marL="0">
              <a:buNone/>
            </a:pPr>
            <a:r>
              <a:rPr lang="fa-IR" altLang="en-US" sz="1500" dirty="0">
                <a:solidFill>
                  <a:schemeClr val="bg1"/>
                </a:solidFill>
              </a:rPr>
              <a:t>شواهد: در مقایسه‌ای روی داده سندرمیک روزانه انگلستان، در میان نسخه‌هایی با اختصاصیت بالای ۹۰٪، Farrington Flexible بیشترین حساسیت و اختصاصیت را داشت. روش RAMMIE معمولاً ۲ تا ۳ روز زودتر هشدار داد.</a:t>
            </a:r>
            <a:endParaRPr lang="fa-IR" sz="1500" dirty="0"/>
          </a:p>
        </p:txBody>
      </p:sp>
      <p:sp>
        <p:nvSpPr>
          <p:cNvPr id="6" name="Text 3"/>
          <p:cNvSpPr txBox="1"/>
          <p:nvPr/>
        </p:nvSpPr>
        <p:spPr>
          <a:xfrm>
            <a:off x="822960" y="5596128"/>
            <a:ext cx="10515600" cy="274320"/>
          </a:xfrm>
          <a:prstGeom prst="rect">
            <a:avLst/>
          </a:prstGeom>
          <a:noFill/>
          <a:ln/>
        </p:spPr>
        <p:txBody>
          <a:bodyPr wrap="square" lIns="0" tIns="0" rIns="0" bIns="0" rtlCol="0" anchor="t"/>
          <a:lstStyle/>
          <a:p>
            <a:pPr rtl="1" algn="r" indent="0" marL="0">
              <a:buNone/>
            </a:pPr>
            <a:r>
              <a:rPr lang="fa-IR" altLang="en-US" sz="1000" dirty="0">
                <a:solidFill>
                  <a:schemeClr val="accent6"/>
                </a:solidFill>
              </a:rPr>
              <a:t>Noufaily و همکاران، Bioinformatics ۲۰۱۹</a:t>
            </a:r>
            <a:endParaRPr lang="fa-IR"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پنج دام در عمل</a:t>
            </a:r>
            <a:endParaRPr lang="fa-IR" sz="3000" dirty="0"/>
          </a:p>
        </p:txBody>
      </p:sp>
      <p:sp>
        <p:nvSpPr>
          <p:cNvPr id="3" name="trap-0-circle"/>
          <p:cNvSpPr/>
          <p:nvPr/>
        </p:nvSpPr>
        <p:spPr>
          <a:xfrm>
            <a:off x="10911535" y="1371600"/>
            <a:ext cx="731520" cy="731520"/>
          </a:xfrm>
          <a:prstGeom prst="ellipse">
            <a:avLst/>
          </a:prstGeom>
          <a:solidFill>
            <a:schemeClr val="accent1"/>
          </a:solidFill>
          <a:ln w="12700">
            <a:solidFill>
              <a:schemeClr val="accent1"/>
            </a:solidFill>
            <a:prstDash val="solid"/>
          </a:ln>
        </p:spPr>
      </p:sp>
      <p:pic>
        <p:nvPicPr>
          <p:cNvPr id="4" name="trap-0-icon" descr="preencoded.png">    </p:cNvPr>
          <p:cNvPicPr>
            <a:picLocks noChangeAspect="1"/>
          </p:cNvPicPr>
          <p:nvPr/>
        </p:nvPicPr>
        <p:blipFill>
          <a:blip r:embed="rId1"/>
          <a:stretch>
            <a:fillRect/>
          </a:stretch>
        </p:blipFill>
        <p:spPr>
          <a:xfrm>
            <a:off x="11094415" y="1554480"/>
            <a:ext cx="365760" cy="365760"/>
          </a:xfrm>
          <a:prstGeom prst="rect">
            <a:avLst/>
          </a:prstGeom>
        </p:spPr>
      </p:pic>
      <p:sp>
        <p:nvSpPr>
          <p:cNvPr id="5" name="Text 2"/>
          <p:cNvSpPr txBox="1"/>
          <p:nvPr/>
        </p:nvSpPr>
        <p:spPr>
          <a:xfrm>
            <a:off x="6949440" y="1417320"/>
            <a:ext cx="3794760" cy="640080"/>
          </a:xfrm>
          <a:prstGeom prst="rect">
            <a:avLst/>
          </a:prstGeom>
          <a:noFill/>
          <a:ln/>
        </p:spPr>
        <p:txBody>
          <a:bodyPr wrap="square" lIns="0" tIns="0" rIns="0" bIns="0" rtlCol="0" anchor="ctr"/>
          <a:lstStyle/>
          <a:p>
            <a:pPr rtl="1" algn="r" indent="0" marL="0">
              <a:buNone/>
            </a:pPr>
            <a:r>
              <a:rPr lang="fa-IR" altLang="en-US" sz="1800" b="1" dirty="0">
                <a:solidFill>
                  <a:schemeClr val="tx1"/>
                </a:solidFill>
              </a:rPr>
              <a:t>اثر روز هفته و تعطیلات</a:t>
            </a:r>
            <a:endParaRPr lang="fa-IR" sz="1800" dirty="0"/>
          </a:p>
        </p:txBody>
      </p:sp>
      <p:sp>
        <p:nvSpPr>
          <p:cNvPr id="6" name="Text 3"/>
          <p:cNvSpPr txBox="1"/>
          <p:nvPr/>
        </p:nvSpPr>
        <p:spPr>
          <a:xfrm>
            <a:off x="548640" y="1417320"/>
            <a:ext cx="6217920" cy="685800"/>
          </a:xfrm>
          <a:prstGeom prst="rect">
            <a:avLst/>
          </a:prstGeom>
          <a:noFill/>
          <a:ln/>
        </p:spPr>
        <p:txBody>
          <a:bodyPr wrap="square" lIns="0" tIns="0" rIns="0" bIns="0" rtlCol="0" anchor="ctr"/>
          <a:lstStyle/>
          <a:p>
            <a:pPr rtl="1" algn="r" indent="0" marL="0">
              <a:buNone/>
            </a:pPr>
            <a:r>
              <a:rPr lang="fa-IR" altLang="en-US" sz="1400" dirty="0">
                <a:solidFill>
                  <a:schemeClr val="tx1"/>
                </a:solidFill>
              </a:rPr>
              <a:t>جمعه پایین، شنبه بالا؛ نوروز همه چیز را جابه‌جا می‌کند. یا مدلش کنید یا با همان روز هفته مقایسه کنید.</a:t>
            </a:r>
            <a:endParaRPr lang="fa-IR" sz="1400" dirty="0"/>
          </a:p>
        </p:txBody>
      </p:sp>
      <p:sp>
        <p:nvSpPr>
          <p:cNvPr id="7" name="trap-1-circle"/>
          <p:cNvSpPr/>
          <p:nvPr/>
        </p:nvSpPr>
        <p:spPr>
          <a:xfrm>
            <a:off x="10911535" y="2322576"/>
            <a:ext cx="731520" cy="731520"/>
          </a:xfrm>
          <a:prstGeom prst="ellipse">
            <a:avLst/>
          </a:prstGeom>
          <a:solidFill>
            <a:schemeClr val="accent3"/>
          </a:solidFill>
          <a:ln w="12700">
            <a:solidFill>
              <a:schemeClr val="accent3"/>
            </a:solidFill>
            <a:prstDash val="solid"/>
          </a:ln>
        </p:spPr>
      </p:sp>
      <p:pic>
        <p:nvPicPr>
          <p:cNvPr id="8" name="trap-1-icon" descr="preencoded.png">    </p:cNvPr>
          <p:cNvPicPr>
            <a:picLocks noChangeAspect="1"/>
          </p:cNvPicPr>
          <p:nvPr/>
        </p:nvPicPr>
        <p:blipFill>
          <a:blip r:embed="rId2"/>
          <a:stretch>
            <a:fillRect/>
          </a:stretch>
        </p:blipFill>
        <p:spPr>
          <a:xfrm>
            <a:off x="11094415" y="2505456"/>
            <a:ext cx="365760" cy="365760"/>
          </a:xfrm>
          <a:prstGeom prst="rect">
            <a:avLst/>
          </a:prstGeom>
        </p:spPr>
      </p:pic>
      <p:sp>
        <p:nvSpPr>
          <p:cNvPr id="9" name="Text 5"/>
          <p:cNvSpPr txBox="1"/>
          <p:nvPr/>
        </p:nvSpPr>
        <p:spPr>
          <a:xfrm>
            <a:off x="6949440" y="2368296"/>
            <a:ext cx="3794760" cy="640080"/>
          </a:xfrm>
          <a:prstGeom prst="rect">
            <a:avLst/>
          </a:prstGeom>
          <a:noFill/>
          <a:ln/>
        </p:spPr>
        <p:txBody>
          <a:bodyPr wrap="square" lIns="0" tIns="0" rIns="0" bIns="0" rtlCol="0" anchor="ctr"/>
          <a:lstStyle/>
          <a:p>
            <a:pPr rtl="1" algn="r" indent="0" marL="0">
              <a:buNone/>
            </a:pPr>
            <a:r>
              <a:rPr lang="fa-IR" altLang="en-US" sz="1800" b="1" dirty="0">
                <a:solidFill>
                  <a:schemeClr val="tx1"/>
                </a:solidFill>
              </a:rPr>
              <a:t>تأخیر گزارش (برش راست)</a:t>
            </a:r>
            <a:endParaRPr lang="fa-IR" sz="1800" dirty="0"/>
          </a:p>
        </p:txBody>
      </p:sp>
      <p:sp>
        <p:nvSpPr>
          <p:cNvPr id="10" name="Text 6"/>
          <p:cNvSpPr txBox="1"/>
          <p:nvPr/>
        </p:nvSpPr>
        <p:spPr>
          <a:xfrm>
            <a:off x="548640" y="2368296"/>
            <a:ext cx="6217920" cy="685800"/>
          </a:xfrm>
          <a:prstGeom prst="rect">
            <a:avLst/>
          </a:prstGeom>
          <a:noFill/>
          <a:ln/>
        </p:spPr>
        <p:txBody>
          <a:bodyPr wrap="square" lIns="0" tIns="0" rIns="0" bIns="0" rtlCol="0" anchor="ctr"/>
          <a:lstStyle/>
          <a:p>
            <a:pPr rtl="1" algn="r" indent="0" marL="0">
              <a:buNone/>
            </a:pPr>
            <a:r>
              <a:rPr lang="fa-IR" altLang="en-US" sz="1400" dirty="0">
                <a:solidFill>
                  <a:schemeClr val="tx1"/>
                </a:solidFill>
              </a:rPr>
              <a:t>روزهای آخر همیشه کم‌شمارش‌اند و طغیان را پنهان می‌کنند. روش bodaDelay این را مدل می‌کند.</a:t>
            </a:r>
            <a:endParaRPr lang="fa-IR" sz="1400" dirty="0"/>
          </a:p>
        </p:txBody>
      </p:sp>
      <p:sp>
        <p:nvSpPr>
          <p:cNvPr id="11" name="trap-2-circle"/>
          <p:cNvSpPr/>
          <p:nvPr/>
        </p:nvSpPr>
        <p:spPr>
          <a:xfrm>
            <a:off x="10911535" y="3273552"/>
            <a:ext cx="731520" cy="731520"/>
          </a:xfrm>
          <a:prstGeom prst="ellipse">
            <a:avLst/>
          </a:prstGeom>
          <a:solidFill>
            <a:schemeClr val="accent5"/>
          </a:solidFill>
          <a:ln w="12700">
            <a:solidFill>
              <a:schemeClr val="accent5"/>
            </a:solidFill>
            <a:prstDash val="solid"/>
          </a:ln>
        </p:spPr>
      </p:sp>
      <p:pic>
        <p:nvPicPr>
          <p:cNvPr id="12" name="trap-2-icon" descr="preencoded.png">    </p:cNvPr>
          <p:cNvPicPr>
            <a:picLocks noChangeAspect="1"/>
          </p:cNvPicPr>
          <p:nvPr/>
        </p:nvPicPr>
        <p:blipFill>
          <a:blip r:embed="rId3"/>
          <a:stretch>
            <a:fillRect/>
          </a:stretch>
        </p:blipFill>
        <p:spPr>
          <a:xfrm>
            <a:off x="11094415" y="3456432"/>
            <a:ext cx="365760" cy="365760"/>
          </a:xfrm>
          <a:prstGeom prst="rect">
            <a:avLst/>
          </a:prstGeom>
        </p:spPr>
      </p:pic>
      <p:sp>
        <p:nvSpPr>
          <p:cNvPr id="13" name="Text 8"/>
          <p:cNvSpPr txBox="1"/>
          <p:nvPr/>
        </p:nvSpPr>
        <p:spPr>
          <a:xfrm>
            <a:off x="6949440" y="3319272"/>
            <a:ext cx="3794760" cy="640080"/>
          </a:xfrm>
          <a:prstGeom prst="rect">
            <a:avLst/>
          </a:prstGeom>
          <a:noFill/>
          <a:ln/>
        </p:spPr>
        <p:txBody>
          <a:bodyPr wrap="square" lIns="0" tIns="0" rIns="0" bIns="0" rtlCol="0" anchor="ctr"/>
          <a:lstStyle/>
          <a:p>
            <a:pPr rtl="1" algn="r" indent="0" marL="0">
              <a:buNone/>
            </a:pPr>
            <a:r>
              <a:rPr lang="fa-IR" altLang="en-US" sz="1800" b="1" dirty="0">
                <a:solidFill>
                  <a:schemeClr val="tx1"/>
                </a:solidFill>
              </a:rPr>
              <a:t>تغییر در آزمایش یا تعریف مورد</a:t>
            </a:r>
            <a:endParaRPr lang="fa-IR" sz="1800" dirty="0"/>
          </a:p>
        </p:txBody>
      </p:sp>
      <p:sp>
        <p:nvSpPr>
          <p:cNvPr id="14" name="Text 9"/>
          <p:cNvSpPr txBox="1"/>
          <p:nvPr/>
        </p:nvSpPr>
        <p:spPr>
          <a:xfrm>
            <a:off x="548640" y="3319272"/>
            <a:ext cx="6217920" cy="685800"/>
          </a:xfrm>
          <a:prstGeom prst="rect">
            <a:avLst/>
          </a:prstGeom>
          <a:noFill/>
          <a:ln/>
        </p:spPr>
        <p:txBody>
          <a:bodyPr wrap="square" lIns="0" tIns="0" rIns="0" bIns="0" rtlCol="0" anchor="ctr"/>
          <a:lstStyle/>
          <a:p>
            <a:pPr rtl="1" algn="r" indent="0" marL="0">
              <a:buNone/>
            </a:pPr>
            <a:r>
              <a:rPr lang="fa-IR" altLang="en-US" sz="1400" dirty="0">
                <a:solidFill>
                  <a:schemeClr val="tx1"/>
                </a:solidFill>
              </a:rPr>
              <a:t>کیت جدید یا کمپین غربالگری یک «طغیان» ساختگی می‌سازد.</a:t>
            </a:r>
            <a:endParaRPr lang="fa-IR" sz="1400" dirty="0"/>
          </a:p>
        </p:txBody>
      </p:sp>
      <p:sp>
        <p:nvSpPr>
          <p:cNvPr id="15" name="trap-3-circle"/>
          <p:cNvSpPr/>
          <p:nvPr/>
        </p:nvSpPr>
        <p:spPr>
          <a:xfrm>
            <a:off x="10911535" y="4224528"/>
            <a:ext cx="731520" cy="731520"/>
          </a:xfrm>
          <a:prstGeom prst="ellipse">
            <a:avLst/>
          </a:prstGeom>
          <a:solidFill>
            <a:schemeClr val="accent2"/>
          </a:solidFill>
          <a:ln w="12700">
            <a:solidFill>
              <a:schemeClr val="accent2"/>
            </a:solidFill>
            <a:prstDash val="solid"/>
          </a:ln>
        </p:spPr>
      </p:sp>
      <p:pic>
        <p:nvPicPr>
          <p:cNvPr id="16" name="trap-3-icon" descr="preencoded.png">    </p:cNvPr>
          <p:cNvPicPr>
            <a:picLocks noChangeAspect="1"/>
          </p:cNvPicPr>
          <p:nvPr/>
        </p:nvPicPr>
        <p:blipFill>
          <a:blip r:embed="rId4"/>
          <a:stretch>
            <a:fillRect/>
          </a:stretch>
        </p:blipFill>
        <p:spPr>
          <a:xfrm>
            <a:off x="11094415" y="4407408"/>
            <a:ext cx="365760" cy="365760"/>
          </a:xfrm>
          <a:prstGeom prst="rect">
            <a:avLst/>
          </a:prstGeom>
        </p:spPr>
      </p:pic>
      <p:sp>
        <p:nvSpPr>
          <p:cNvPr id="17" name="Text 11"/>
          <p:cNvSpPr txBox="1"/>
          <p:nvPr/>
        </p:nvSpPr>
        <p:spPr>
          <a:xfrm>
            <a:off x="6949440" y="4270248"/>
            <a:ext cx="3794760" cy="640080"/>
          </a:xfrm>
          <a:prstGeom prst="rect">
            <a:avLst/>
          </a:prstGeom>
          <a:noFill/>
          <a:ln/>
        </p:spPr>
        <p:txBody>
          <a:bodyPr wrap="square" lIns="0" tIns="0" rIns="0" bIns="0" rtlCol="0" anchor="ctr"/>
          <a:lstStyle/>
          <a:p>
            <a:pPr rtl="1" algn="r" indent="0" marL="0">
              <a:buNone/>
            </a:pPr>
            <a:r>
              <a:rPr lang="fa-IR" altLang="en-US" sz="1800" b="1" dirty="0">
                <a:solidFill>
                  <a:schemeClr val="tx1"/>
                </a:solidFill>
              </a:rPr>
              <a:t>آزمون چندگانه</a:t>
            </a:r>
            <a:endParaRPr lang="fa-IR" sz="1800" dirty="0"/>
          </a:p>
        </p:txBody>
      </p:sp>
      <p:sp>
        <p:nvSpPr>
          <p:cNvPr id="18" name="Text 12"/>
          <p:cNvSpPr txBox="1"/>
          <p:nvPr/>
        </p:nvSpPr>
        <p:spPr>
          <a:xfrm>
            <a:off x="548640" y="4270248"/>
            <a:ext cx="6217920" cy="685800"/>
          </a:xfrm>
          <a:prstGeom prst="rect">
            <a:avLst/>
          </a:prstGeom>
          <a:noFill/>
          <a:ln/>
        </p:spPr>
        <p:txBody>
          <a:bodyPr wrap="square" lIns="0" tIns="0" rIns="0" bIns="0" rtlCol="0" anchor="ctr"/>
          <a:lstStyle/>
          <a:p>
            <a:pPr rtl="1" algn="r" indent="0" marL="0">
              <a:buNone/>
            </a:pPr>
            <a:r>
              <a:rPr lang="fa-IR" altLang="en-US" sz="1400" dirty="0">
                <a:solidFill>
                  <a:schemeClr val="tx1"/>
                </a:solidFill>
              </a:rPr>
              <a:t>۳۰۰ شهرستان × ۲۰ سندرم × خطای ۱٪ ≈ ۶۰ هشدار کاذب در روز.</a:t>
            </a:r>
            <a:endParaRPr lang="fa-IR" sz="1400" dirty="0"/>
          </a:p>
        </p:txBody>
      </p:sp>
      <p:sp>
        <p:nvSpPr>
          <p:cNvPr id="19" name="trap-4-circle"/>
          <p:cNvSpPr/>
          <p:nvPr/>
        </p:nvSpPr>
        <p:spPr>
          <a:xfrm>
            <a:off x="10911535" y="5175504"/>
            <a:ext cx="731520" cy="731520"/>
          </a:xfrm>
          <a:prstGeom prst="ellipse">
            <a:avLst/>
          </a:prstGeom>
          <a:solidFill>
            <a:schemeClr val="tx2"/>
          </a:solidFill>
          <a:ln w="12700">
            <a:solidFill>
              <a:schemeClr val="tx2"/>
            </a:solidFill>
            <a:prstDash val="solid"/>
          </a:ln>
        </p:spPr>
      </p:sp>
      <p:pic>
        <p:nvPicPr>
          <p:cNvPr id="20" name="trap-4-icon" descr="preencoded.png">    </p:cNvPr>
          <p:cNvPicPr>
            <a:picLocks noChangeAspect="1"/>
          </p:cNvPicPr>
          <p:nvPr/>
        </p:nvPicPr>
        <p:blipFill>
          <a:blip r:embed="rId5"/>
          <a:stretch>
            <a:fillRect/>
          </a:stretch>
        </p:blipFill>
        <p:spPr>
          <a:xfrm>
            <a:off x="11094415" y="5358384"/>
            <a:ext cx="365760" cy="365760"/>
          </a:xfrm>
          <a:prstGeom prst="rect">
            <a:avLst/>
          </a:prstGeom>
        </p:spPr>
      </p:pic>
      <p:sp>
        <p:nvSpPr>
          <p:cNvPr id="21" name="Text 14"/>
          <p:cNvSpPr txBox="1"/>
          <p:nvPr/>
        </p:nvSpPr>
        <p:spPr>
          <a:xfrm>
            <a:off x="6949440" y="5221224"/>
            <a:ext cx="3794760" cy="640080"/>
          </a:xfrm>
          <a:prstGeom prst="rect">
            <a:avLst/>
          </a:prstGeom>
          <a:noFill/>
          <a:ln/>
        </p:spPr>
        <p:txBody>
          <a:bodyPr wrap="square" lIns="0" tIns="0" rIns="0" bIns="0" rtlCol="0" anchor="ctr"/>
          <a:lstStyle/>
          <a:p>
            <a:pPr rtl="1" algn="r" indent="0" marL="0">
              <a:buNone/>
            </a:pPr>
            <a:r>
              <a:rPr lang="fa-IR" altLang="en-US" sz="1800" b="1" dirty="0">
                <a:solidFill>
                  <a:schemeClr val="tx1"/>
                </a:solidFill>
              </a:rPr>
              <a:t>هشدار ≠ طغیان</a:t>
            </a:r>
            <a:endParaRPr lang="fa-IR" sz="1800" dirty="0"/>
          </a:p>
        </p:txBody>
      </p:sp>
      <p:sp>
        <p:nvSpPr>
          <p:cNvPr id="22" name="Text 15"/>
          <p:cNvSpPr txBox="1"/>
          <p:nvPr/>
        </p:nvSpPr>
        <p:spPr>
          <a:xfrm>
            <a:off x="548640" y="5221224"/>
            <a:ext cx="6217920" cy="685800"/>
          </a:xfrm>
          <a:prstGeom prst="rect">
            <a:avLst/>
          </a:prstGeom>
          <a:noFill/>
          <a:ln/>
        </p:spPr>
        <p:txBody>
          <a:bodyPr wrap="square" lIns="0" tIns="0" rIns="0" bIns="0" rtlCol="0" anchor="ctr"/>
          <a:lstStyle/>
          <a:p>
            <a:pPr rtl="1" algn="r" indent="0" marL="0">
              <a:buNone/>
            </a:pPr>
            <a:r>
              <a:rPr lang="fa-IR" altLang="en-US" sz="1400" dirty="0">
                <a:solidFill>
                  <a:schemeClr val="tx1"/>
                </a:solidFill>
              </a:rPr>
              <a:t>هر هشدار فقط یک سیگنال است و باید راستی‌آزمایی شود.</a:t>
            </a:r>
            <a:endParaRPr lang="fa-IR" sz="1400" dirty="0"/>
          </a:p>
        </p:txBody>
      </p:sp>
      <p:sp>
        <p:nvSpPr>
          <p:cNvPr id="23" name="Text 16"/>
          <p:cNvSpPr txBox="1"/>
          <p:nvPr/>
        </p:nvSpPr>
        <p:spPr>
          <a:xfrm>
            <a:off x="548640" y="6172200"/>
            <a:ext cx="6217920" cy="228600"/>
          </a:xfrm>
          <a:prstGeom prst="rect">
            <a:avLst/>
          </a:prstGeom>
          <a:noFill/>
          <a:ln/>
        </p:spPr>
        <p:txBody>
          <a:bodyPr wrap="square" lIns="0" tIns="0" rIns="0" bIns="0" rtlCol="0" anchor="t"/>
          <a:lstStyle/>
          <a:p>
            <a:pPr rtl="1" algn="r" indent="0" marL="0">
              <a:buNone/>
            </a:pPr>
            <a:r>
              <a:rPr lang="fa-IR" altLang="en-US" sz="1000" dirty="0">
                <a:solidFill>
                  <a:schemeClr val="accent4"/>
                </a:solidFill>
              </a:rPr>
              <a:t>bodaDelay: Salmon و همکاران، Biom J ۲۰۱۵</a:t>
            </a:r>
            <a:endParaRPr lang="fa-IR"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bg1"/>
                </a:solidFill>
              </a:rPr>
              <a:t>اتاق هشدار: فعالیت گروهی (۱۵ دقیقه)</a:t>
            </a:r>
            <a:endParaRPr lang="fa-IR" sz="3000" dirty="0"/>
          </a:p>
        </p:txBody>
      </p:sp>
      <p:sp>
        <p:nvSpPr>
          <p:cNvPr id="3" name="signal-card-0"/>
          <p:cNvSpPr/>
          <p:nvPr/>
        </p:nvSpPr>
        <p:spPr>
          <a:xfrm>
            <a:off x="8076895" y="1325880"/>
            <a:ext cx="3566160" cy="2926080"/>
          </a:xfrm>
          <a:prstGeom prst="roundRect">
            <a:avLst>
              <a:gd name="adj" fmla="val 3750"/>
            </a:avLst>
          </a:prstGeom>
          <a:solidFill>
            <a:schemeClr val="bg1"/>
          </a:solidFill>
          <a:ln w="12700">
            <a:solidFill>
              <a:schemeClr val="bg1"/>
            </a:solidFill>
            <a:prstDash val="solid"/>
          </a:ln>
        </p:spPr>
      </p:sp>
      <p:sp>
        <p:nvSpPr>
          <p:cNvPr id="4" name="signal-0-circle"/>
          <p:cNvSpPr/>
          <p:nvPr/>
        </p:nvSpPr>
        <p:spPr>
          <a:xfrm>
            <a:off x="10728655" y="1508760"/>
            <a:ext cx="685800" cy="685800"/>
          </a:xfrm>
          <a:prstGeom prst="ellipse">
            <a:avLst/>
          </a:prstGeom>
          <a:solidFill>
            <a:schemeClr val="accent3"/>
          </a:solidFill>
          <a:ln w="12700">
            <a:solidFill>
              <a:schemeClr val="accent3"/>
            </a:solidFill>
            <a:prstDash val="solid"/>
          </a:ln>
        </p:spPr>
      </p:sp>
      <p:pic>
        <p:nvPicPr>
          <p:cNvPr id="5" name="signal-0-icon" descr="preencoded.png">    </p:cNvPr>
          <p:cNvPicPr>
            <a:picLocks noChangeAspect="1"/>
          </p:cNvPicPr>
          <p:nvPr/>
        </p:nvPicPr>
        <p:blipFill>
          <a:blip r:embed="rId1"/>
          <a:stretch>
            <a:fillRect/>
          </a:stretch>
        </p:blipFill>
        <p:spPr>
          <a:xfrm>
            <a:off x="10900105" y="1680210"/>
            <a:ext cx="342900" cy="342900"/>
          </a:xfrm>
          <a:prstGeom prst="rect">
            <a:avLst/>
          </a:prstGeom>
        </p:spPr>
      </p:pic>
      <p:sp>
        <p:nvSpPr>
          <p:cNvPr id="6" name="Text 3"/>
          <p:cNvSpPr txBox="1"/>
          <p:nvPr/>
        </p:nvSpPr>
        <p:spPr>
          <a:xfrm>
            <a:off x="8305495" y="1600200"/>
            <a:ext cx="2286000" cy="548640"/>
          </a:xfrm>
          <a:prstGeom prst="rect">
            <a:avLst/>
          </a:prstGeom>
          <a:noFill/>
          <a:ln/>
        </p:spPr>
        <p:txBody>
          <a:bodyPr wrap="square" lIns="0" tIns="0" rIns="0" bIns="0" rtlCol="0" anchor="ctr"/>
          <a:lstStyle/>
          <a:p>
            <a:pPr rtl="1" algn="r" indent="0" marL="0">
              <a:buNone/>
            </a:pPr>
            <a:r>
              <a:rPr lang="fa-IR" altLang="en-US" sz="1600" b="1" dirty="0">
                <a:solidFill>
                  <a:schemeClr val="tx1"/>
                </a:solidFill>
              </a:rPr>
              <a:t>الف · سندرمیک</a:t>
            </a:r>
            <a:endParaRPr lang="fa-IR" sz="1600" dirty="0"/>
          </a:p>
        </p:txBody>
      </p:sp>
      <p:sp>
        <p:nvSpPr>
          <p:cNvPr id="7" name="Text 4"/>
          <p:cNvSpPr txBox="1"/>
          <p:nvPr/>
        </p:nvSpPr>
        <p:spPr>
          <a:xfrm>
            <a:off x="8305495" y="2377440"/>
            <a:ext cx="3108960" cy="1783080"/>
          </a:xfrm>
          <a:prstGeom prst="rect">
            <a:avLst/>
          </a:prstGeom>
          <a:noFill/>
          <a:ln/>
        </p:spPr>
        <p:txBody>
          <a:bodyPr wrap="square" lIns="0" tIns="0" rIns="0" bIns="0" rtlCol="0" anchor="t"/>
          <a:lstStyle/>
          <a:p>
            <a:pPr rtl="1" algn="r" indent="0" marL="0">
              <a:buNone/>
            </a:pPr>
            <a:r>
              <a:rPr lang="fa-IR" altLang="en-US" sz="1400" dirty="0">
                <a:solidFill>
                  <a:schemeClr val="tx1"/>
                </a:solidFill>
              </a:rPr>
              <a:t>مراجعه اسهال حاد در یک شهرستان در ۳ روز اخیر ۲/۵ برابر میانگین است؛ هم‌زمان چند روز قطعی آب گزارش شده.</a:t>
            </a:r>
            <a:endParaRPr lang="fa-IR" sz="1400" dirty="0"/>
          </a:p>
        </p:txBody>
      </p:sp>
      <p:sp>
        <p:nvSpPr>
          <p:cNvPr id="8" name="signal-card-1"/>
          <p:cNvSpPr/>
          <p:nvPr/>
        </p:nvSpPr>
        <p:spPr>
          <a:xfrm>
            <a:off x="4314139" y="1325880"/>
            <a:ext cx="3566160" cy="2926080"/>
          </a:xfrm>
          <a:prstGeom prst="roundRect">
            <a:avLst>
              <a:gd name="adj" fmla="val 3750"/>
            </a:avLst>
          </a:prstGeom>
          <a:solidFill>
            <a:schemeClr val="bg1"/>
          </a:solidFill>
          <a:ln w="12700">
            <a:solidFill>
              <a:schemeClr val="bg1"/>
            </a:solidFill>
            <a:prstDash val="solid"/>
          </a:ln>
        </p:spPr>
      </p:sp>
      <p:sp>
        <p:nvSpPr>
          <p:cNvPr id="9" name="signal-1-circle"/>
          <p:cNvSpPr/>
          <p:nvPr/>
        </p:nvSpPr>
        <p:spPr>
          <a:xfrm>
            <a:off x="6965899" y="1508760"/>
            <a:ext cx="685800" cy="685800"/>
          </a:xfrm>
          <a:prstGeom prst="ellipse">
            <a:avLst/>
          </a:prstGeom>
          <a:solidFill>
            <a:schemeClr val="accent1"/>
          </a:solidFill>
          <a:ln w="12700">
            <a:solidFill>
              <a:schemeClr val="accent1"/>
            </a:solidFill>
            <a:prstDash val="solid"/>
          </a:ln>
        </p:spPr>
      </p:sp>
      <p:pic>
        <p:nvPicPr>
          <p:cNvPr id="10" name="signal-1-icon" descr="preencoded.png">    </p:cNvPr>
          <p:cNvPicPr>
            <a:picLocks noChangeAspect="1"/>
          </p:cNvPicPr>
          <p:nvPr/>
        </p:nvPicPr>
        <p:blipFill>
          <a:blip r:embed="rId2"/>
          <a:stretch>
            <a:fillRect/>
          </a:stretch>
        </p:blipFill>
        <p:spPr>
          <a:xfrm>
            <a:off x="7137349" y="1680210"/>
            <a:ext cx="342900" cy="342900"/>
          </a:xfrm>
          <a:prstGeom prst="rect">
            <a:avLst/>
          </a:prstGeom>
        </p:spPr>
      </p:pic>
      <p:sp>
        <p:nvSpPr>
          <p:cNvPr id="11" name="Text 7"/>
          <p:cNvSpPr txBox="1"/>
          <p:nvPr/>
        </p:nvSpPr>
        <p:spPr>
          <a:xfrm>
            <a:off x="4542739" y="1600200"/>
            <a:ext cx="2286000" cy="548640"/>
          </a:xfrm>
          <a:prstGeom prst="rect">
            <a:avLst/>
          </a:prstGeom>
          <a:noFill/>
          <a:ln/>
        </p:spPr>
        <p:txBody>
          <a:bodyPr wrap="square" lIns="0" tIns="0" rIns="0" bIns="0" rtlCol="0" anchor="ctr"/>
          <a:lstStyle/>
          <a:p>
            <a:pPr rtl="1" algn="r" indent="0" marL="0">
              <a:buNone/>
            </a:pPr>
            <a:r>
              <a:rPr lang="fa-IR" altLang="en-US" sz="1600" b="1" dirty="0">
                <a:solidFill>
                  <a:schemeClr val="tx1"/>
                </a:solidFill>
              </a:rPr>
              <a:t>ب · رویداد</a:t>
            </a:r>
            <a:endParaRPr lang="fa-IR" sz="1600" dirty="0"/>
          </a:p>
        </p:txBody>
      </p:sp>
      <p:sp>
        <p:nvSpPr>
          <p:cNvPr id="12" name="Text 8"/>
          <p:cNvSpPr txBox="1"/>
          <p:nvPr/>
        </p:nvSpPr>
        <p:spPr>
          <a:xfrm>
            <a:off x="4542739" y="2377440"/>
            <a:ext cx="3108960" cy="1783080"/>
          </a:xfrm>
          <a:prstGeom prst="rect">
            <a:avLst/>
          </a:prstGeom>
          <a:noFill/>
          <a:ln/>
        </p:spPr>
        <p:txBody>
          <a:bodyPr wrap="square" lIns="0" tIns="0" rIns="0" bIns="0" rtlCol="0" anchor="t"/>
          <a:lstStyle/>
          <a:p>
            <a:pPr rtl="1" algn="r" indent="0" marL="0">
              <a:buNone/>
            </a:pPr>
            <a:r>
              <a:rPr lang="fa-IR" altLang="en-US" sz="1400" dirty="0">
                <a:solidFill>
                  <a:schemeClr val="tx1"/>
                </a:solidFill>
              </a:rPr>
              <a:t>پستی در شبکه‌های اجتماعی محلی: «چند گوسفند در یک دامداری مردند و چوپان با تب شدید بستری شد.»</a:t>
            </a:r>
            <a:endParaRPr lang="fa-IR" sz="1400" dirty="0"/>
          </a:p>
        </p:txBody>
      </p:sp>
      <p:sp>
        <p:nvSpPr>
          <p:cNvPr id="13" name="signal-card-2"/>
          <p:cNvSpPr/>
          <p:nvPr/>
        </p:nvSpPr>
        <p:spPr>
          <a:xfrm>
            <a:off x="551383" y="1325880"/>
            <a:ext cx="3566160" cy="2926080"/>
          </a:xfrm>
          <a:prstGeom prst="roundRect">
            <a:avLst>
              <a:gd name="adj" fmla="val 3750"/>
            </a:avLst>
          </a:prstGeom>
          <a:solidFill>
            <a:schemeClr val="bg1"/>
          </a:solidFill>
          <a:ln w="12700">
            <a:solidFill>
              <a:schemeClr val="bg1"/>
            </a:solidFill>
            <a:prstDash val="solid"/>
          </a:ln>
        </p:spPr>
      </p:sp>
      <p:sp>
        <p:nvSpPr>
          <p:cNvPr id="14" name="signal-2-circle"/>
          <p:cNvSpPr/>
          <p:nvPr/>
        </p:nvSpPr>
        <p:spPr>
          <a:xfrm>
            <a:off x="3203143" y="1508760"/>
            <a:ext cx="685800" cy="685800"/>
          </a:xfrm>
          <a:prstGeom prst="ellipse">
            <a:avLst/>
          </a:prstGeom>
          <a:solidFill>
            <a:schemeClr val="accent5"/>
          </a:solidFill>
          <a:ln w="12700">
            <a:solidFill>
              <a:schemeClr val="accent5"/>
            </a:solidFill>
            <a:prstDash val="solid"/>
          </a:ln>
        </p:spPr>
      </p:sp>
      <p:pic>
        <p:nvPicPr>
          <p:cNvPr id="15" name="signal-2-icon" descr="preencoded.png">    </p:cNvPr>
          <p:cNvPicPr>
            <a:picLocks noChangeAspect="1"/>
          </p:cNvPicPr>
          <p:nvPr/>
        </p:nvPicPr>
        <p:blipFill>
          <a:blip r:embed="rId3"/>
          <a:stretch>
            <a:fillRect/>
          </a:stretch>
        </p:blipFill>
        <p:spPr>
          <a:xfrm>
            <a:off x="3374593" y="1680210"/>
            <a:ext cx="342900" cy="342900"/>
          </a:xfrm>
          <a:prstGeom prst="rect">
            <a:avLst/>
          </a:prstGeom>
        </p:spPr>
      </p:pic>
      <p:sp>
        <p:nvSpPr>
          <p:cNvPr id="16" name="Text 11"/>
          <p:cNvSpPr txBox="1"/>
          <p:nvPr/>
        </p:nvSpPr>
        <p:spPr>
          <a:xfrm>
            <a:off x="779983" y="1600200"/>
            <a:ext cx="2286000" cy="548640"/>
          </a:xfrm>
          <a:prstGeom prst="rect">
            <a:avLst/>
          </a:prstGeom>
          <a:noFill/>
          <a:ln/>
        </p:spPr>
        <p:txBody>
          <a:bodyPr wrap="square" lIns="0" tIns="0" rIns="0" bIns="0" rtlCol="0" anchor="ctr"/>
          <a:lstStyle/>
          <a:p>
            <a:pPr rtl="1" algn="r" indent="0" marL="0">
              <a:buNone/>
            </a:pPr>
            <a:r>
              <a:rPr lang="fa-IR" altLang="en-US" sz="1600" b="1" dirty="0">
                <a:solidFill>
                  <a:schemeClr val="tx1"/>
                </a:solidFill>
              </a:rPr>
              <a:t>ج · آزمایشگاه</a:t>
            </a:r>
            <a:endParaRPr lang="fa-IR" sz="1600" dirty="0"/>
          </a:p>
        </p:txBody>
      </p:sp>
      <p:sp>
        <p:nvSpPr>
          <p:cNvPr id="17" name="Text 12"/>
          <p:cNvSpPr txBox="1"/>
          <p:nvPr/>
        </p:nvSpPr>
        <p:spPr>
          <a:xfrm>
            <a:off x="779983" y="2377440"/>
            <a:ext cx="3108960" cy="1783080"/>
          </a:xfrm>
          <a:prstGeom prst="rect">
            <a:avLst/>
          </a:prstGeom>
          <a:noFill/>
          <a:ln/>
        </p:spPr>
        <p:txBody>
          <a:bodyPr wrap="square" lIns="0" tIns="0" rIns="0" bIns="0" rtlCol="0" anchor="t"/>
          <a:lstStyle/>
          <a:p>
            <a:pPr rtl="1" algn="r" indent="0" marL="0">
              <a:buNone/>
            </a:pPr>
            <a:r>
              <a:rPr lang="fa-IR" altLang="en-US" sz="1400" dirty="0">
                <a:solidFill>
                  <a:schemeClr val="tx1"/>
                </a:solidFill>
              </a:rPr>
              <a:t>سه ایزوله سالمونلا با سروتایپ یکسان از دو استان در یک هفته.</a:t>
            </a:r>
            <a:endParaRPr lang="fa-IR" sz="1400" dirty="0"/>
          </a:p>
        </p:txBody>
      </p:sp>
      <p:sp>
        <p:nvSpPr>
          <p:cNvPr id="18" name="Text 13"/>
          <p:cNvSpPr txBox="1"/>
          <p:nvPr/>
        </p:nvSpPr>
        <p:spPr>
          <a:xfrm>
            <a:off x="548640" y="4434840"/>
            <a:ext cx="11091672" cy="1828800"/>
          </a:xfrm>
          <a:prstGeom prst="rect">
            <a:avLst/>
          </a:prstGeom>
          <a:noFill/>
          <a:ln/>
        </p:spPr>
        <p:txBody>
          <a:bodyPr wrap="square" lIns="0" tIns="0" rIns="0" bIns="0" rtlCol="0" anchor="t"/>
          <a:lstStyle/>
          <a:p>
            <a:pPr rtl="1" algn="r" indent="0" marL="0">
              <a:spcAft>
                <a:spcPts val="400"/>
              </a:spcAft>
              <a:buNone/>
            </a:pPr>
            <a:r>
              <a:rPr lang="fa-IR" altLang="en-US" sz="1500" b="1" dirty="0">
                <a:solidFill>
                  <a:schemeClr val="bg1"/>
                </a:solidFill>
              </a:rPr>
              <a:t>هر گروه برای سیگنال خودش پاسخ دهد:</a:t>
            </a:r>
            <a:endParaRPr lang="fa-IR" sz="1500" dirty="0"/>
          </a:p>
          <a:p>
            <a:pPr rtl="1" algn="r" indent="0" marL="0">
              <a:spcAft>
                <a:spcPts val="200"/>
              </a:spcAft>
              <a:buNone/>
            </a:pPr>
            <a:r>
              <a:rPr lang="fa-IR" altLang="en-US" sz="1500" dirty="0">
                <a:solidFill>
                  <a:schemeClr val="bg1"/>
                </a:solidFill>
              </a:rPr>
              <a:t>۱. شاخص‌محور است یا رویدادمحور؟</a:t>
            </a:r>
            <a:endParaRPr lang="fa-IR" sz="1500" dirty="0"/>
          </a:p>
          <a:p>
            <a:pPr rtl="1" algn="r" indent="0" marL="0">
              <a:spcAft>
                <a:spcPts val="200"/>
              </a:spcAft>
              <a:buNone/>
            </a:pPr>
            <a:r>
              <a:rPr lang="fa-IR" altLang="en-US" sz="1500" dirty="0">
                <a:solidFill>
                  <a:schemeClr val="bg1"/>
                </a:solidFill>
              </a:rPr>
              <a:t>۲. چه چیزی را، از چه کسی و در چند ساعت راستی‌آزمایی می‌کنید؟</a:t>
            </a:r>
            <a:endParaRPr lang="fa-IR" sz="1500" dirty="0"/>
          </a:p>
          <a:p>
            <a:pPr rtl="1" algn="r" indent="0" marL="0">
              <a:spcAft>
                <a:spcPts val="200"/>
              </a:spcAft>
              <a:buNone/>
            </a:pPr>
            <a:r>
              <a:rPr lang="fa-IR" altLang="en-US" sz="1500" dirty="0">
                <a:solidFill>
                  <a:schemeClr val="bg1"/>
                </a:solidFill>
              </a:rPr>
              <a:t>۳. «بیش از انتظار» بودن را با چه داده و روشی می‌سنجید؟</a:t>
            </a:r>
            <a:endParaRPr lang="fa-IR" sz="1500" dirty="0"/>
          </a:p>
          <a:p>
            <a:pPr rtl="1" algn="r" indent="0" marL="0">
              <a:buNone/>
            </a:pPr>
            <a:r>
              <a:rPr lang="fa-IR" altLang="en-US" sz="1500" dirty="0">
                <a:solidFill>
                  <a:schemeClr val="bg1"/>
                </a:solidFill>
              </a:rPr>
              <a:t>۴. در ۲۴ ساعت اول به چه کسانی خبر می‌دهید؟</a:t>
            </a:r>
            <a:endParaRPr lang="fa-IR" sz="15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2CF"/>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سه پیام برای بردن</a:t>
            </a:r>
            <a:endParaRPr lang="fa-IR" sz="3000" dirty="0"/>
          </a:p>
        </p:txBody>
      </p:sp>
      <p:sp>
        <p:nvSpPr>
          <p:cNvPr id="3" name="take-0"/>
          <p:cNvSpPr/>
          <p:nvPr/>
        </p:nvSpPr>
        <p:spPr>
          <a:xfrm>
            <a:off x="10728655" y="1463040"/>
            <a:ext cx="914400" cy="914400"/>
          </a:xfrm>
          <a:prstGeom prst="ellipse">
            <a:avLst/>
          </a:prstGeom>
          <a:solidFill>
            <a:schemeClr val="accent1"/>
          </a:solidFill>
          <a:ln w="12700">
            <a:solidFill>
              <a:schemeClr val="accent1"/>
            </a:solidFill>
            <a:prstDash val="solid"/>
          </a:ln>
        </p:spPr>
      </p:sp>
      <p:sp>
        <p:nvSpPr>
          <p:cNvPr id="4" name="Text 2"/>
          <p:cNvSpPr txBox="1"/>
          <p:nvPr/>
        </p:nvSpPr>
        <p:spPr>
          <a:xfrm>
            <a:off x="10728655" y="1463040"/>
            <a:ext cx="914400" cy="914400"/>
          </a:xfrm>
          <a:prstGeom prst="rect">
            <a:avLst/>
          </a:prstGeom>
          <a:noFill/>
          <a:ln/>
        </p:spPr>
        <p:txBody>
          <a:bodyPr wrap="square" lIns="0" tIns="0" rIns="0" bIns="0" rtlCol="0" anchor="ctr"/>
          <a:lstStyle/>
          <a:p>
            <a:pPr rtl="1" algn="ctr" indent="0" marL="0">
              <a:buNone/>
            </a:pPr>
            <a:r>
              <a:rPr lang="fa-IR" altLang="en-US" sz="3200" b="1" dirty="0">
                <a:solidFill>
                  <a:schemeClr val="bg1"/>
                </a:solidFill>
              </a:rPr>
              <a:t>۱</a:t>
            </a:r>
            <a:endParaRPr lang="fa-IR" sz="3200" dirty="0"/>
          </a:p>
        </p:txBody>
      </p:sp>
      <p:sp>
        <p:nvSpPr>
          <p:cNvPr id="5" name="Text 3"/>
          <p:cNvSpPr txBox="1"/>
          <p:nvPr/>
        </p:nvSpPr>
        <p:spPr>
          <a:xfrm>
            <a:off x="548640" y="1508760"/>
            <a:ext cx="9966960" cy="868680"/>
          </a:xfrm>
          <a:prstGeom prst="rect">
            <a:avLst/>
          </a:prstGeom>
          <a:noFill/>
          <a:ln/>
        </p:spPr>
        <p:txBody>
          <a:bodyPr wrap="square" lIns="0" tIns="0" rIns="0" bIns="0" rtlCol="0" anchor="ctr"/>
          <a:lstStyle/>
          <a:p>
            <a:pPr rtl="1" algn="r" indent="0" marL="0">
              <a:buNone/>
            </a:pPr>
            <a:r>
              <a:rPr lang="fa-IR" altLang="en-US" sz="1900" dirty="0">
                <a:solidFill>
                  <a:schemeClr val="tx1"/>
                </a:solidFill>
              </a:rPr>
              <a:t>هر روش فقط «مورد انتظار» و «آستانه» را متفاوت تعریف می‌کند؛ انتخاب آستانه یک تصمیم سیاستی است.</a:t>
            </a:r>
            <a:endParaRPr lang="fa-IR" sz="1900" dirty="0"/>
          </a:p>
        </p:txBody>
      </p:sp>
      <p:sp>
        <p:nvSpPr>
          <p:cNvPr id="6" name="take-1"/>
          <p:cNvSpPr/>
          <p:nvPr/>
        </p:nvSpPr>
        <p:spPr>
          <a:xfrm>
            <a:off x="10728655" y="2926080"/>
            <a:ext cx="914400" cy="914400"/>
          </a:xfrm>
          <a:prstGeom prst="ellipse">
            <a:avLst/>
          </a:prstGeom>
          <a:solidFill>
            <a:schemeClr val="accent1"/>
          </a:solidFill>
          <a:ln w="12700">
            <a:solidFill>
              <a:schemeClr val="accent1"/>
            </a:solidFill>
            <a:prstDash val="solid"/>
          </a:ln>
        </p:spPr>
      </p:sp>
      <p:sp>
        <p:nvSpPr>
          <p:cNvPr id="7" name="Text 5"/>
          <p:cNvSpPr txBox="1"/>
          <p:nvPr/>
        </p:nvSpPr>
        <p:spPr>
          <a:xfrm>
            <a:off x="10728655" y="2926080"/>
            <a:ext cx="914400" cy="914400"/>
          </a:xfrm>
          <a:prstGeom prst="rect">
            <a:avLst/>
          </a:prstGeom>
          <a:noFill/>
          <a:ln/>
        </p:spPr>
        <p:txBody>
          <a:bodyPr wrap="square" lIns="0" tIns="0" rIns="0" bIns="0" rtlCol="0" anchor="ctr"/>
          <a:lstStyle/>
          <a:p>
            <a:pPr rtl="1" algn="ctr" indent="0" marL="0">
              <a:buNone/>
            </a:pPr>
            <a:r>
              <a:rPr lang="fa-IR" altLang="en-US" sz="3200" b="1" dirty="0">
                <a:solidFill>
                  <a:schemeClr val="bg1"/>
                </a:solidFill>
              </a:rPr>
              <a:t>۲</a:t>
            </a:r>
            <a:endParaRPr lang="fa-IR" sz="3200" dirty="0"/>
          </a:p>
        </p:txBody>
      </p:sp>
      <p:sp>
        <p:nvSpPr>
          <p:cNvPr id="8" name="Text 6"/>
          <p:cNvSpPr txBox="1"/>
          <p:nvPr/>
        </p:nvSpPr>
        <p:spPr>
          <a:xfrm>
            <a:off x="548640" y="2971800"/>
            <a:ext cx="9966960" cy="868680"/>
          </a:xfrm>
          <a:prstGeom prst="rect">
            <a:avLst/>
          </a:prstGeom>
          <a:noFill/>
          <a:ln/>
        </p:spPr>
        <p:txBody>
          <a:bodyPr wrap="square" lIns="0" tIns="0" rIns="0" bIns="0" rtlCol="0" anchor="ctr"/>
          <a:lstStyle/>
          <a:p>
            <a:pPr rtl="1" algn="r" indent="0" marL="0">
              <a:buNone/>
            </a:pPr>
            <a:r>
              <a:rPr lang="fa-IR" altLang="en-US" sz="1900" dirty="0">
                <a:solidFill>
                  <a:schemeClr val="tx1"/>
                </a:solidFill>
              </a:rPr>
              <a:t>پیش از هر الگوریتم، داده را بشناسید: روز هفته، تعطیلات، تأخیر گزارش، تغییر آزمایش.</a:t>
            </a:r>
            <a:endParaRPr lang="fa-IR" sz="1900" dirty="0"/>
          </a:p>
        </p:txBody>
      </p:sp>
      <p:sp>
        <p:nvSpPr>
          <p:cNvPr id="9" name="take-2"/>
          <p:cNvSpPr/>
          <p:nvPr/>
        </p:nvSpPr>
        <p:spPr>
          <a:xfrm>
            <a:off x="10728655" y="4389120"/>
            <a:ext cx="914400" cy="914400"/>
          </a:xfrm>
          <a:prstGeom prst="ellipse">
            <a:avLst/>
          </a:prstGeom>
          <a:solidFill>
            <a:schemeClr val="accent2"/>
          </a:solidFill>
          <a:ln w="12700">
            <a:solidFill>
              <a:schemeClr val="accent2"/>
            </a:solidFill>
            <a:prstDash val="solid"/>
          </a:ln>
        </p:spPr>
      </p:sp>
      <p:sp>
        <p:nvSpPr>
          <p:cNvPr id="10" name="Text 8"/>
          <p:cNvSpPr txBox="1"/>
          <p:nvPr/>
        </p:nvSpPr>
        <p:spPr>
          <a:xfrm>
            <a:off x="10728655" y="4389120"/>
            <a:ext cx="914400" cy="914400"/>
          </a:xfrm>
          <a:prstGeom prst="rect">
            <a:avLst/>
          </a:prstGeom>
          <a:noFill/>
          <a:ln/>
        </p:spPr>
        <p:txBody>
          <a:bodyPr wrap="square" lIns="0" tIns="0" rIns="0" bIns="0" rtlCol="0" anchor="ctr"/>
          <a:lstStyle/>
          <a:p>
            <a:pPr rtl="1" algn="ctr" indent="0" marL="0">
              <a:buNone/>
            </a:pPr>
            <a:r>
              <a:rPr lang="fa-IR" altLang="en-US" sz="3200" b="1" dirty="0">
                <a:solidFill>
                  <a:schemeClr val="bg1"/>
                </a:solidFill>
              </a:rPr>
              <a:t>۳</a:t>
            </a:r>
            <a:endParaRPr lang="fa-IR" sz="3200" dirty="0"/>
          </a:p>
        </p:txBody>
      </p:sp>
      <p:sp>
        <p:nvSpPr>
          <p:cNvPr id="11" name="Text 9"/>
          <p:cNvSpPr txBox="1"/>
          <p:nvPr/>
        </p:nvSpPr>
        <p:spPr>
          <a:xfrm>
            <a:off x="548640" y="4434840"/>
            <a:ext cx="9966960" cy="868680"/>
          </a:xfrm>
          <a:prstGeom prst="rect">
            <a:avLst/>
          </a:prstGeom>
          <a:noFill/>
          <a:ln/>
        </p:spPr>
        <p:txBody>
          <a:bodyPr wrap="square" lIns="0" tIns="0" rIns="0" bIns="0" rtlCol="0" anchor="ctr"/>
          <a:lstStyle/>
          <a:p>
            <a:pPr rtl="1" algn="r" indent="0" marL="0">
              <a:buNone/>
            </a:pPr>
            <a:r>
              <a:rPr lang="fa-IR" altLang="en-US" sz="1900" dirty="0">
                <a:solidFill>
                  <a:schemeClr val="tx1"/>
                </a:solidFill>
              </a:rPr>
              <a:t>الگوریتم سیگنال می‌دهد؛ راستی‌آزمایی و ارزیابی خطر طغیان را تأیید می‌کند. نظارت رویدادمحور را فراموش نکنید.</a:t>
            </a:r>
            <a:endParaRPr lang="fa-IR" sz="19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nchor="ctr"/>
          <a:lstStyle/>
          <a:p>
            <a:pPr rtl="1" algn="r" indent="0" marL="0">
              <a:buNone/>
            </a:pPr>
            <a:r>
              <a:rPr lang="fa-IR" altLang="en-US" sz="3000" b="1" dirty="0">
                <a:solidFill>
                  <a:schemeClr val="tx1"/>
                </a:solidFill>
              </a:rPr>
              <a:t>منابع</a:t>
            </a:r>
            <a:endParaRPr lang="fa-IR" sz="3000" dirty="0"/>
          </a:p>
        </p:txBody>
      </p:sp>
      <p:sp>
        <p:nvSpPr>
          <p:cNvPr id="3" name="Text 1"/>
          <p:cNvSpPr txBox="1"/>
          <p:nvPr/>
        </p:nvSpPr>
        <p:spPr>
          <a:xfrm>
            <a:off x="548640" y="1325880"/>
            <a:ext cx="11091672" cy="4846320"/>
          </a:xfrm>
          <a:prstGeom prst="rect">
            <a:avLst/>
          </a:prstGeom>
          <a:noFill/>
          <a:ln/>
        </p:spPr>
        <p:txBody>
          <a:bodyPr wrap="square" lIns="0" tIns="0" rIns="0" bIns="0" rtlCol="0" anchor="t"/>
          <a:lstStyle/>
          <a:p>
            <a:pPr algn="l" marL="342900" indent="-342900">
              <a:spcAft>
                <a:spcPts val="800"/>
              </a:spcAft>
              <a:buSzPct val="100000"/>
              <a:buChar char="•"/>
            </a:pPr>
            <a:r>
              <a:rPr lang="en-US" altLang="en-US" sz="1300" dirty="0">
                <a:solidFill>
                  <a:schemeClr val="tx1"/>
                </a:solidFill>
              </a:rPr>
              <a:t>Hutwagner L, et al. The bioterrorism preparedness and response Early Aberration Reporting System (EARS). J Urban Health. 2003;80(2 Suppl 1):i89-96. doi:10.1007/pl00022319</a:t>
            </a:r>
            <a:endParaRPr lang="en-US" sz="1300" dirty="0"/>
          </a:p>
          <a:p>
            <a:pPr algn="l" marL="342900" indent="-342900">
              <a:spcAft>
                <a:spcPts val="800"/>
              </a:spcAft>
              <a:buSzPct val="100000"/>
              <a:buChar char="•"/>
            </a:pPr>
            <a:r>
              <a:rPr lang="en-US" altLang="en-US" sz="1300" dirty="0">
                <a:solidFill>
                  <a:schemeClr val="tx1"/>
                </a:solidFill>
              </a:rPr>
              <a:t>Noufaily A, et al. An improved algorithm for outbreak detection in multiple surveillance systems. Stat Med. 2013;32(7):1206-22. doi:10.1002/sim.5595</a:t>
            </a:r>
            <a:endParaRPr lang="en-US" sz="1300" dirty="0"/>
          </a:p>
          <a:p>
            <a:pPr algn="l" marL="342900" indent="-342900">
              <a:spcAft>
                <a:spcPts val="800"/>
              </a:spcAft>
              <a:buSzPct val="100000"/>
              <a:buChar char="•"/>
            </a:pPr>
            <a:r>
              <a:rPr lang="en-US" altLang="en-US" sz="1300" dirty="0">
                <a:solidFill>
                  <a:schemeClr val="tx1"/>
                </a:solidFill>
              </a:rPr>
              <a:t>Noufaily A, et al. Comparison of statistical algorithms for daily syndromic surveillance aberration detection. Bioinformatics. 2019;35(17):3110-8. doi:10.1093/bioinformatics/bty997</a:t>
            </a:r>
            <a:endParaRPr lang="en-US" sz="1300" dirty="0"/>
          </a:p>
          <a:p>
            <a:pPr algn="l" marL="342900" indent="-342900">
              <a:spcAft>
                <a:spcPts val="800"/>
              </a:spcAft>
              <a:buSzPct val="100000"/>
              <a:buChar char="•"/>
            </a:pPr>
            <a:r>
              <a:rPr lang="en-US" altLang="en-US" sz="1300" dirty="0">
                <a:solidFill>
                  <a:schemeClr val="tx1"/>
                </a:solidFill>
              </a:rPr>
              <a:t>Salmon M, et al. Bayesian outbreak detection in the presence of reporting delays. Biom J. 2015;57(6):1051-67. doi:10.1002/bimj.201400159</a:t>
            </a:r>
            <a:endParaRPr lang="en-US" sz="1300" dirty="0"/>
          </a:p>
          <a:p>
            <a:pPr algn="l" marL="342900" indent="-342900">
              <a:spcAft>
                <a:spcPts val="800"/>
              </a:spcAft>
              <a:buSzPct val="100000"/>
              <a:buChar char="•"/>
            </a:pPr>
            <a:r>
              <a:rPr lang="en-US" altLang="en-US" sz="1300" dirty="0">
                <a:solidFill>
                  <a:schemeClr val="tx1"/>
                </a:solidFill>
              </a:rPr>
              <a:t>Ahmadkhani M, et al. Space-time epidemiology of Crimean-Congo hemorrhagic fever (CCHF) in Iran. Ticks Tick Borne Dis. 2018;9(2):207-16. doi:10.1016/j.ttbdis.2017.09.006</a:t>
            </a:r>
            <a:endParaRPr lang="en-US" sz="1300" dirty="0"/>
          </a:p>
          <a:p>
            <a:pPr algn="l" marL="342900" indent="-342900">
              <a:spcAft>
                <a:spcPts val="800"/>
              </a:spcAft>
              <a:buSzPct val="100000"/>
              <a:buChar char="•"/>
            </a:pPr>
            <a:r>
              <a:rPr lang="en-US" altLang="en-US" sz="1300" dirty="0">
                <a:solidFill>
                  <a:schemeClr val="tx1"/>
                </a:solidFill>
              </a:rPr>
              <a:t>R package «surveillance»: farringtonFlexible(), earsC(), cusum(), bodaDelay()</a:t>
            </a:r>
            <a:endParaRPr lang="en-US" sz="1300" dirty="0"/>
          </a:p>
          <a:p>
            <a:pPr rtl="1" algn="r" marL="342900" indent="-342900">
              <a:spcAft>
                <a:spcPts val="800"/>
              </a:spcAft>
              <a:buSzPct val="100000"/>
              <a:buChar char="•"/>
            </a:pPr>
            <a:r>
              <a:rPr lang="fa-IR" altLang="en-US" sz="1300" dirty="0">
                <a:solidFill>
                  <a:schemeClr val="tx1"/>
                </a:solidFill>
              </a:rPr>
              <a:t>داده نمودارهای اسلاید ۲، ۶ و ۷ ساختگی و برای آموزش است.</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Signal">
  <a:themeElements>
    <a:clrScheme name="Signal">
      <a:dk1>
        <a:srgbClr val="1B2232"/>
      </a:dk1>
      <a:lt1>
        <a:srgbClr val="FFFFFF"/>
      </a:lt1>
      <a:dk2>
        <a:srgbClr val="2B3650"/>
      </a:dk2>
      <a:lt2>
        <a:srgbClr val="EEF1F6"/>
      </a:lt2>
      <a:accent1>
        <a:srgbClr val="E39B2D"/>
      </a:accent1>
      <a:accent2>
        <a:srgbClr val="C8423A"/>
      </a:accent2>
      <a:accent3>
        <a:srgbClr val="3D6B9E"/>
      </a:accent3>
      <a:accent4>
        <a:srgbClr val="8A96A8"/>
      </a:accent4>
      <a:accent5>
        <a:srgbClr val="2E8C72"/>
      </a:accent5>
      <a:accent6>
        <a:srgbClr val="B9C2CF"/>
      </a:accent6>
      <a:hlink>
        <a:srgbClr val="3D6B9E"/>
      </a:hlink>
      <a:folHlink>
        <a:srgbClr val="6B5B95"/>
      </a:folHlink>
    </a:clrScheme>
    <a:fontScheme name="Signal">
      <a:majorFont>
        <a:latin typeface="Tahoma"/>
        <a:ea typeface=""/>
        <a:cs typeface="Tahoma"/>
        <a:font script="Jpan" typeface="游ゴシック Light"/>
        <a:font script="Hang" typeface="맑은 고딕"/>
        <a:font script="Hans" typeface="等线 Light"/>
        <a:font script="Hant" typeface="新細明體"/>
        <a:font script="Arab" typeface="Tahoma"/>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Tahoma"/>
        <a:font script="Jpan" typeface="游ゴシック"/>
        <a:font script="Hang" typeface="맑은 고딕"/>
        <a:font script="Hans" typeface="等线"/>
        <a:font script="Hant" typeface="新細明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کشف زودهنگام طغیان</dc:title>
  <dc:subject>PptxGenJS Presentation</dc:subject>
  <dc:creator>Paria Dehesh</dc:creator>
  <cp:lastModifiedBy>Paria Dehesh</cp:lastModifiedBy>
  <cp:revision>1</cp:revision>
  <dcterms:created xsi:type="dcterms:W3CDTF">2026-10-17T10:58:10Z</dcterms:created>
  <dcterms:modified xsi:type="dcterms:W3CDTF">2026-10-17T10:58:10Z</dcterms:modified>
</cp:coreProperties>
</file>