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شروع" id="{099116cd-0d83-ccb3-b770-29044e9a9541}">
          <p14:sldIdLst>
            <p14:sldId id="256"/>
            <p14:sldId id="257"/>
          </p14:sldIdLst>
        </p14:section>
        <p14:section name="مفاهیم" id="{2022b389-4cf9-9ff1-00c0-ae4f6fbceced}">
          <p14:sldIdLst>
            <p14:sldId id="258"/>
            <p14:sldId id="259"/>
          </p14:sldIdLst>
        </p14:section>
        <p14:section name="ایران" id="{a106a8ed-dc76-5719-d09d-427a29cdc14b}">
          <p14:sldIdLst>
            <p14:sldId id="260"/>
            <p14:sldId id="261"/>
            <p14:sldId id="262"/>
          </p14:sldIdLst>
        </p14:section>
        <p14:section name="دام و کنه" id="{56898102-89bf-6bb1-8eef-3fce0589e20c}">
          <p14:sldIdLst>
            <p14:sldId id="263"/>
            <p14:sldId id="264"/>
          </p14:sldIdLst>
        </p14:section>
        <p14:section name="بررسی" id="{674c8fa5-5752-4145-131c-d8839da22c85}">
          <p14:sldIdLst>
            <p14:sldId id="265"/>
            <p14:sldId id="266"/>
            <p14:sldId id="267"/>
          </p14:sldIdLst>
        </p14:section>
        <p14:section name="فعالیت" id="{575b8eea-5215-b27e-ed42-2544811cbf30}">
          <p14:sldIdLst>
            <p14:sldId id="268"/>
          </p14:sldIdLst>
        </p14:section>
        <p14:section name="جمع‌بندی" id="{b56bfb62-4159-9a28-3fb1-4585fd59d8cd}">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291F"/>
                </a:solidFill>
                <a:latin typeface="+mn-lt"/>
              </a:defRPr>
            </a:pPr>
            <a:r>
              <a:rPr sz="1400" b="0" i="0" u="none" strike="noStrike">
                <a:solidFill>
                  <a:srgbClr val="24291F"/>
                </a:solidFill>
                <a:latin typeface="+mn-lt"/>
              </a:rPr>
              <a:t>درصد کنه‌های آلوده به ویروس، بر اساس دام میزبان</a:t>
            </a:r>
          </a:p>
        </c:rich>
      </c:tx>
      <c:layout/>
      <c:overlay val="0"/>
    </c:title>
    <c:autoTitleDeleted val="0"/>
    <c:plotArea>
      <c:layout/>
      <c:barChart>
        <c:barDir val="bar"/>
        <c:grouping val="clustered"/>
        <c:varyColors val="0"/>
        <c:ser>
          <c:idx val="0"/>
          <c:order val="0"/>
          <c:tx>
            <c:strRef>
              <c:f>Sheet1!$B$1</c:f>
              <c:strCache>
                <c:ptCount val="1"/>
                <c:pt idx="0">
                  <c:v>آلودگی کنه‌ها (%)</c:v>
                </c:pt>
              </c:strCache>
            </c:strRef>
          </c:tx>
          <c:spPr>
            <a:solidFill>
              <a:srgbClr val="B5532F"/>
            </a:solidFill>
            <a:effectLst/>
          </c:spPr>
          <c:invertIfNegative val="0"/>
          <c:dLbls>
            <c:numFmt formatCode="0.0&quot;%&quot;" sourceLinked="0"/>
            <c:txPr>
              <a:bodyPr/>
              <a:lstStyle/>
              <a:p>
                <a:pPr>
                  <a:defRPr b="0" i="0" strike="noStrike" sz="1400" u="none">
                    <a:solidFill>
                      <a:srgbClr val="24291F"/>
                    </a:solidFill>
                    <a:latin typeface="+mn-lt"/>
                  </a:defRPr>
                </a:pPr>
              </a:p>
            </c:txPr>
            <c:showLegendKey val="0"/>
            <c:showVal val="1"/>
            <c:showCatName val="0"/>
            <c:showSerName val="0"/>
            <c:showPercent val="0"/>
            <c:showBubbleSize val="0"/>
            <c:showLeaderLines val="0"/>
          </c:dLbls>
          <c:dPt>
            <c:idx val="0"/>
            <c:invertIfNegative val="0"/>
            <c:bubble3D val="0"/>
            <c:spPr>
              <a:solidFill>
                <a:srgbClr val="B5532F"/>
              </a:solidFill>
              <a:effectLst/>
            </c:spPr>
          </c:dPt>
          <c:dPt>
            <c:idx val="1"/>
            <c:invertIfNegative val="0"/>
            <c:bubble3D val="0"/>
            <c:spPr>
              <a:solidFill>
                <a:srgbClr val="8C907F"/>
              </a:solidFill>
              <a:effectLst/>
            </c:spPr>
          </c:dPt>
          <c:dPt>
            <c:idx val="2"/>
            <c:invertIfNegative val="0"/>
            <c:bubble3D val="0"/>
            <c:spPr>
              <a:solidFill>
                <a:srgbClr val="8C907F"/>
              </a:solidFill>
              <a:effectLst/>
            </c:spPr>
          </c:dPt>
          <c:dPt>
            <c:idx val="3"/>
            <c:invertIfNegative val="0"/>
            <c:bubble3D val="0"/>
            <c:spPr>
              <a:solidFill>
                <a:srgbClr val="8C907F"/>
              </a:solidFill>
              <a:effectLst/>
            </c:spPr>
          </c:dPt>
          <c:cat>
            <c:multiLvlStrRef>
              <c:f>Sheet1!$A$2:$A$5</c:f>
              <c:multiLvlStrCache>
                <c:ptCount val="4"/>
                <c:lvl>
                  <c:pt idx="0">
                    <c:v>شتر</c:v>
                  </c:pt>
                  <c:pt idx="1">
                    <c:v>گوسفند</c:v>
                  </c:pt>
                  <c:pt idx="2">
                    <c:v>بز</c:v>
                  </c:pt>
                  <c:pt idx="3">
                    <c:v>گاو</c:v>
                  </c:pt>
                </c:lvl>
              </c:multiLvlStrCache>
            </c:multiLvlStrRef>
          </c:cat>
          <c:val>
            <c:numRef>
              <c:f>Sheet1!$B$2:$B$5</c:f>
              <c:numCache>
                <c:formatCode>General</c:formatCode>
                <c:ptCount val="4"/>
                <c:pt idx="0">
                  <c:v>23.8</c:v>
                </c:pt>
                <c:pt idx="1">
                  <c:v>10.2</c:v>
                </c:pt>
                <c:pt idx="2">
                  <c:v>9</c:v>
                </c:pt>
                <c:pt idx="3">
                  <c:v>8.5</c:v>
                </c:pt>
              </c:numCache>
            </c:numRef>
          </c:val>
        </c:ser>
        <c:dLbls>
          <c:numFmt formatCode="0.0&quot;%&quot;" sourceLinked="0"/>
          <c:txPr>
            <a:bodyPr/>
            <a:lstStyle/>
            <a:p>
              <a:pPr>
                <a:defRPr b="0" i="0" strike="noStrike" sz="1400" u="none">
                  <a:solidFill>
                    <a:srgbClr val="2429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24291F"/>
                </a:solidFill>
                <a:latin typeface="+mn-lt"/>
              </a:defRPr>
            </a:pPr>
            <a:endParaRPr lang="en-US"/>
          </a:p>
        </c:txPr>
        <c:crossAx val="2094734552"/>
        <c:crosses val="autoZero"/>
        <c:auto val="1"/>
        <c:lblAlgn val="ctr"/>
        <c:noMultiLvlLbl val="1"/>
      </c:catAx>
      <c:valAx>
        <c:axId val="2094734552"/>
        <c:scaling>
          <c:orientation val="minMax"/>
          <c:max val="2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جلسه: دانشجو در پایان بتواند (۱) رویکرد One Health را تعریف کند و بگوید چرا برای بیماری‌های مشترک ضروری است، (۲) چرخه انتقال CCHF و جایگاه انسان، دام، کنه و محیط را توضیح دهد، (۳) اپیدمیولوژی CCHF در ایران را با شواهد منتشرشده خلاصه کند، و (۴) یک بررسی مشترک انسانی-دامی را برای یک خوشه فرضی طراحی کند. زمان: حدود ۷۰ دقیقه با ۲۰ دقیقه فعالیت.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سناریو ساختگی است ولی مطابق الگوی واقعی CCHF. معمولاً دانشجوها فقط بهداشت و درمان را می‌گویند. هدف این است که در پایان جلسه بفهمند بدون دامپزشکی منبع پیدا نمی‌شود و بدون کنترل عفونت بیمارستانی زنجیره ادامه پیدا می‌کند. پاسخ‌ها را نگه دارید و در اسلاید ۱۱ دوباره نگاه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از دانشجو بپرسید در یک طغیان واقعی که دیده‌اند، چه زمانی برای اولین بار دامپزشکی یا محیط زیست وارد شد. معمولاً دیر و پس از بن‌بست بررسی انسانی. پیام: One Health یعنی از روز اول، نه بعد از گیرکردن.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نکته کلیدی برای اپیدمیولوژیست: چون دام بیمار نمی‌شود، نظارت دامی «علامت» ندارد. باید فعالانه نمونه سرمی یا کنه گرفت. این دقیقاً جایی است که بدون دامپزشکی کور هستیم.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تفکربرانگیز: چرا میزان کشندگی در ایران از ۱۷/۶٪ در دهه اول به حدود ۱۱٪ رسیده است؟ درمان بهتر؟ یا تشخیص بیشتر موارد خفیف (یعنی تغییر مخرج کسر)؟ این همان بحث سوگیری در میزان کشندگی است. همچنین توجه دهید که در مطالعه سیستان و بلوچستان، از ۴۳۳ مورد ثبت‌شده فقط ۱۰۷ مورد قطعی یا محتمل بودند؛ این یعنی تعریف مورد مشکوک حساس ولی کم‌اختصاص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کارکنان سلامت را به سناریوی اسلاید ۲ وصل کنید: پرستار مبتلا. نبود مورد در کارکنان سلامت از ۲۰۱۳ را می‌توان نتیجه آموزش و کنترل عفونت دانست، ولی بپرسید چه تبیین دیگری ممکن است (کم‌گزارشی؟ کاهش کل موارد؟).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یک شکاف دانش برای پایان‌نامه: آیا در داده ملی ایران افزایش موارد پس از عید قربان دیده می‌شود؟ عید قربان در تقویم میلادی هر سال حدود ۱۱ روز جابه‌جا می‌شود، پس می‌توان اثر عید را از اثر فصل جدا کرد. این یک طراحی شبه‌تجربی زیبا است (interrupted time series یا case-crossover). یافته متفاوت سیستان و بلوچستان (زمستان) را هم به بحث بگذارید: آیا ناشی از ورود دام از مرز، یا تفاوت اقلیم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از دانشجو بپرسید: آیا آلودگی کنه‌های اردبیل با تعداد موارد انسانی اردبیل هم‌خوانی دارد؟ اگر نه، چرا؟ (مواجهه انسانی، نوع دامداری، کیفیت نظارت). خود مقاله تأکید می‌کند که ناهمگونی روش‌ها زیاد است (I² = ۹۳/۸٪) و این طبقه‌بندی موقتی است. این یک تمرین خوب در نقد شواهد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پیام اپیدمیولوژیک: کنترل CCHF در یک کشور به تنهایی ممکن نیست. همکاری مرزی، قرنطینه و پایش دام وارداتی بخشی از One Health است. یافته Aigai virus هم نشان می‌دهد که آزمایش‌های تشخیصی باید با تنوع ژنتیکی ویروس به‌روز شوند.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کارت ریباویرین یک تمرین عالی برای سطح دکتری است: بپرسید چرا مطالعات مشاهده‌ای اثر محافظتی نشان دادند؟ پاسخ: سوگیری اندیکاسیون و زمان (بیمارانی که زودتر مراجعه کردند هم ریباویرین گرفتند و هم مراقبت زودتر؛ immortal time bias). این بحث را به ارزیابی مداخله در طغیان وصل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دوره پیگیری ۱۴ روزه بر اساس حداکثر دوره کمون پس از تماس با خون یا بافت آلوده است، که از دوره کمون پس از گزش کنه طولانی‌تر است. تأکید کنید که خروجی مشترک یعنی یک لاین‌لیست انسانی که به نقشه دامداری‌ها پیوند خورده باشد. این یعنی One Health در عمل، نه فقط جلسه مشترک.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را به جلسه اول (ده گام) وصل کنید. گام ۶ را برجسته کنید: کنترل از همان ابتدا. در CCHF یعنی کنترل عفونت بیمارستانی پیش از نتیجه آزمایش.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مدرس نقش رئیس کمیته را دارد. نکات بحث: خبر اول، کنترل عفونت و حمایت از کارکنان، نه فقط تجهیزات حفاظتی. خبر دوم، ردیابی دام و همکاری با استان مرزی؛ نمونه کنه و سرم از گله. خبر سوم، پیام دقیق: خطر از تماس با خون و بافت هنگام ذبح است، نه از خوردن گوشت پخته؛ یک سخنگو. در پایان دوباره سؤال اسلاید ۲ را بپرسید.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تکلیف پیشنهادی: هر دانشجو یک پروپوزال یک‌صفحه‌ای بنویسد برای بررسی اثر عید قربان بر موارد CCHF در ایران، با طراحی سری زمانی منقطع.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مقاله‌ها از PubMed بررسی شده‌اند. سناریوی اسلاید ۲ و فعالیت اسلاید ۱۳ ساختگی‌اند.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371600"/>
          </a:xfrm>
          <a:prstGeom prst="rect">
            <a:avLst/>
          </a:prstGeom>
          <a:noFill/>
          <a:ln/>
        </p:spPr>
        <p:txBody>
          <a:bodyPr wrap="square" rtlCol="0"/>
          <a:lstStyle>
            <a:lvl1pPr rtl="1" algn="r" indent="0" marL="0">
              <a:buNone/>
              <a:defRPr lang="en-US" sz="4000" b="1" dirty="0">
                <a:solidFill>
                  <a:schemeClr val="bg1"/>
                </a:solidFill>
              </a:defRPr>
            </a:lvl1pPr>
          </a:lstStyle>
          <a:p>
            <a:pPr algn="r" indent="0" marL="0">
              <a:buNone/>
            </a:pPr>
            <a:endParaRPr lang="en-US" sz="40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lstStyle>
            <a:lvl1pPr rtl="1" algn="r" indent="0" marL="0">
              <a:buNone/>
              <a:defRPr lang="en-US" sz="2000" dirty="0">
                <a:solidFill>
                  <a:schemeClr val="accent6"/>
                </a:solidFill>
              </a:defRPr>
            </a:lvl1pPr>
          </a:lstStyle>
          <a:p>
            <a:pPr algn="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rtl="1" algn="r" indent="0" marL="0">
              <a:buNone/>
              <a:defRPr lang="en-US" sz="3000" b="1" dirty="0">
                <a:solidFill>
                  <a:schemeClr val="tx1"/>
                </a:solidFill>
              </a:defRPr>
            </a:lvl1pPr>
          </a:lstStyle>
          <a:p>
            <a:pPr algn="r" indent="0" marL="0">
              <a:buNone/>
            </a:pPr>
            <a:endParaRPr lang="en-US" sz="3000" dirty="0"/>
          </a:p>
        </p:txBody>
      </p:sp>
      <p:sp>
        <p:nvSpPr>
          <p:cNvPr id="3" name="Text 0"/>
          <p:cNvSpPr/>
          <p:nvPr/>
        </p:nvSpPr>
        <p:spPr>
          <a:xfrm>
            <a:off x="5669280" y="6400800"/>
            <a:ext cx="5971032" cy="274320"/>
          </a:xfrm>
          <a:prstGeom prst="rect">
            <a:avLst/>
          </a:prstGeom>
          <a:noFill/>
          <a:ln/>
        </p:spPr>
        <p:txBody>
          <a:bodyPr wrap="square" rtlCol="0" anchor="ctr"/>
          <a:lstStyle/>
          <a:p>
            <a:pPr algn="r" indent="0" marL="0">
              <a:buNone/>
            </a:pPr>
            <a:r>
              <a:rPr lang="en-US" sz="1000" dirty="0">
                <a:solidFill>
                  <a:schemeClr val="accent4"/>
                </a:solidFill>
              </a:rPr>
              <a:t>One Health و CCHF · دکتری اپیدمیولوژی</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TIVITY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rtl="1" algn="r" indent="0" marL="0">
              <a:buNone/>
              <a:defRPr lang="en-US" sz="3000" b="1" dirty="0">
                <a:solidFill>
                  <a:schemeClr val="bg1"/>
                </a:solidFill>
              </a:defRPr>
            </a:lvl1pPr>
          </a:lstStyle>
          <a:p>
            <a:pPr algn="r" indent="0" marL="0">
              <a:buNone/>
            </a:pPr>
            <a:endParaRPr lang="en-US" sz="3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7CCBD"/>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371600"/>
          </a:xfrm>
          <a:prstGeom prst="rect">
            <a:avLst/>
          </a:prstGeom>
          <a:noFill/>
          <a:ln/>
        </p:spPr>
        <p:txBody>
          <a:bodyPr wrap="square" rtlCol="0" anchor="b"/>
          <a:lstStyle/>
          <a:p>
            <a:pPr rtl="1" algn="r" indent="0" marL="0">
              <a:buNone/>
            </a:pPr>
            <a:r>
              <a:rPr lang="fa-IR" altLang="en-US" sz="4000" b="1" dirty="0">
                <a:solidFill>
                  <a:schemeClr val="bg1"/>
                </a:solidFill>
              </a:rPr>
              <a:t>One Health در بررسی طغیان</a:t>
            </a:r>
            <a:endParaRPr lang="fa-IR" sz="40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nchor="t"/>
          <a:lstStyle/>
          <a:p>
            <a:pPr rtl="1" algn="r" indent="0" marL="0">
              <a:buNone/>
            </a:pPr>
            <a:r>
              <a:rPr lang="fa-IR" altLang="en-US" sz="2000" dirty="0">
                <a:solidFill>
                  <a:schemeClr val="accent6"/>
                </a:solidFill>
              </a:rPr>
              <a:t>نمونه کاربردی: تب خونریزی‌دهنده کریمه-کنگو (CCHF) در ایران</a:t>
            </a:r>
            <a:endParaRPr lang="fa-IR" sz="2000" dirty="0"/>
          </a:p>
        </p:txBody>
      </p:sp>
      <p:sp>
        <p:nvSpPr>
          <p:cNvPr id="4" name="title-tick-circle"/>
          <p:cNvSpPr/>
          <p:nvPr/>
        </p:nvSpPr>
        <p:spPr>
          <a:xfrm>
            <a:off x="10515600" y="731520"/>
            <a:ext cx="914400" cy="914400"/>
          </a:xfrm>
          <a:prstGeom prst="ellipse">
            <a:avLst/>
          </a:prstGeom>
          <a:solidFill>
            <a:schemeClr val="accent1"/>
          </a:solidFill>
          <a:ln w="12700">
            <a:solidFill>
              <a:schemeClr val="accent1"/>
            </a:solidFill>
            <a:prstDash val="solid"/>
          </a:ln>
        </p:spPr>
      </p:sp>
      <p:pic>
        <p:nvPicPr>
          <p:cNvPr id="5" name="title-tick-icon" descr="preencoded.png">    </p:cNvPr>
          <p:cNvPicPr>
            <a:picLocks noChangeAspect="1"/>
          </p:cNvPicPr>
          <p:nvPr/>
        </p:nvPicPr>
        <p:blipFill>
          <a:blip r:embed="rId1"/>
          <a:stretch>
            <a:fillRect/>
          </a:stretch>
        </p:blipFill>
        <p:spPr>
          <a:xfrm>
            <a:off x="10716768" y="932688"/>
            <a:ext cx="512064" cy="512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اولین تماس تلفنی را به چه کسی می‌زنید؟</a:t>
            </a:r>
            <a:endParaRPr lang="fa-IR" sz="3000" dirty="0"/>
          </a:p>
        </p:txBody>
      </p:sp>
      <p:sp>
        <p:nvSpPr>
          <p:cNvPr id="3" name="hook-card"/>
          <p:cNvSpPr/>
          <p:nvPr/>
        </p:nvSpPr>
        <p:spPr>
          <a:xfrm>
            <a:off x="3931920" y="1371600"/>
            <a:ext cx="7708392" cy="3657600"/>
          </a:xfrm>
          <a:prstGeom prst="roundRect">
            <a:avLst>
              <a:gd name="adj" fmla="val 3000"/>
            </a:avLst>
          </a:prstGeom>
          <a:solidFill>
            <a:schemeClr val="tx2"/>
          </a:solidFill>
          <a:ln w="12700">
            <a:solidFill>
              <a:schemeClr val="tx2"/>
            </a:solidFill>
            <a:prstDash val="solid"/>
          </a:ln>
        </p:spPr>
      </p:sp>
      <p:sp>
        <p:nvSpPr>
          <p:cNvPr id="4" name="hook-circle"/>
          <p:cNvSpPr/>
          <p:nvPr/>
        </p:nvSpPr>
        <p:spPr>
          <a:xfrm>
            <a:off x="10561320" y="1600200"/>
            <a:ext cx="822960" cy="822960"/>
          </a:xfrm>
          <a:prstGeom prst="ellipse">
            <a:avLst/>
          </a:prstGeom>
          <a:solidFill>
            <a:schemeClr val="accent1"/>
          </a:solidFill>
          <a:ln w="12700">
            <a:solidFill>
              <a:schemeClr val="accent1"/>
            </a:solidFill>
            <a:prstDash val="solid"/>
          </a:ln>
        </p:spPr>
      </p:sp>
      <p:pic>
        <p:nvPicPr>
          <p:cNvPr id="5" name="hook-icon" descr="preencoded.png">    </p:cNvPr>
          <p:cNvPicPr>
            <a:picLocks noChangeAspect="1"/>
          </p:cNvPicPr>
          <p:nvPr/>
        </p:nvPicPr>
        <p:blipFill>
          <a:blip r:embed="rId1"/>
          <a:stretch>
            <a:fillRect/>
          </a:stretch>
        </p:blipFill>
        <p:spPr>
          <a:xfrm>
            <a:off x="10742371" y="1781251"/>
            <a:ext cx="460858" cy="460858"/>
          </a:xfrm>
          <a:prstGeom prst="rect">
            <a:avLst/>
          </a:prstGeom>
        </p:spPr>
      </p:pic>
      <p:sp>
        <p:nvSpPr>
          <p:cNvPr id="6" name="Text 3"/>
          <p:cNvSpPr txBox="1"/>
          <p:nvPr/>
        </p:nvSpPr>
        <p:spPr>
          <a:xfrm>
            <a:off x="4206240" y="1645920"/>
            <a:ext cx="6126480" cy="3200400"/>
          </a:xfrm>
          <a:prstGeom prst="rect">
            <a:avLst/>
          </a:prstGeom>
          <a:noFill/>
          <a:ln/>
        </p:spPr>
        <p:txBody>
          <a:bodyPr wrap="square" lIns="0" tIns="0" rIns="0" bIns="0" rtlCol="0" anchor="t"/>
          <a:lstStyle/>
          <a:p>
            <a:pPr rtl="1" algn="r" indent="0" marL="0">
              <a:spcAft>
                <a:spcPts val="1000"/>
              </a:spcAft>
              <a:buNone/>
            </a:pPr>
            <a:r>
              <a:rPr lang="fa-IR" altLang="en-US" sz="2000" b="1" dirty="0">
                <a:solidFill>
                  <a:schemeClr val="accent6"/>
                </a:solidFill>
              </a:rPr>
              <a:t>تیر ماه، سه روز پس از عید قربان</a:t>
            </a:r>
            <a:endParaRPr lang="fa-IR" sz="1800" dirty="0"/>
          </a:p>
          <a:p>
            <a:pPr rtl="1" algn="r" indent="0" marL="0">
              <a:spcAft>
                <a:spcPts val="1000"/>
              </a:spcAft>
              <a:buNone/>
            </a:pPr>
            <a:r>
              <a:rPr lang="fa-IR" altLang="en-US" sz="1800" dirty="0">
                <a:solidFill>
                  <a:schemeClr val="bg1"/>
                </a:solidFill>
              </a:rPr>
              <a:t>مردی ۳۴ ساله، قصاب، با تب ناگهانی، درد عضلانی، خونریزی از لثه و پلاکت ۳۵ هزار به اورژانس بیمارستان شهرستان مراجعه می‌کند.</a:t>
            </a:r>
            <a:endParaRPr lang="fa-IR" sz="1800" dirty="0"/>
          </a:p>
          <a:p>
            <a:pPr rtl="1" algn="r" indent="0" marL="0">
              <a:buNone/>
            </a:pPr>
            <a:r>
              <a:rPr lang="fa-IR" altLang="en-US" sz="1800" b="1" dirty="0">
                <a:solidFill>
                  <a:schemeClr val="bg1"/>
                </a:solidFill>
              </a:rPr>
              <a:t>روز بعد، پرستاری که برای او رگ گرفته بود با تب مراجعه می‌کند.</a:t>
            </a:r>
            <a:endParaRPr lang="fa-IR" sz="1800" dirty="0"/>
          </a:p>
        </p:txBody>
      </p:sp>
      <p:sp>
        <p:nvSpPr>
          <p:cNvPr id="7" name="who-0-circle"/>
          <p:cNvSpPr/>
          <p:nvPr/>
        </p:nvSpPr>
        <p:spPr>
          <a:xfrm>
            <a:off x="3017520" y="1417320"/>
            <a:ext cx="685800" cy="685800"/>
          </a:xfrm>
          <a:prstGeom prst="ellipse">
            <a:avLst/>
          </a:prstGeom>
          <a:solidFill>
            <a:schemeClr val="accent3"/>
          </a:solidFill>
          <a:ln w="12700">
            <a:solidFill>
              <a:schemeClr val="accent3"/>
            </a:solidFill>
            <a:prstDash val="solid"/>
          </a:ln>
        </p:spPr>
      </p:sp>
      <p:pic>
        <p:nvPicPr>
          <p:cNvPr id="8" name="who-0-icon" descr="preencoded.png">    </p:cNvPr>
          <p:cNvPicPr>
            <a:picLocks noChangeAspect="1"/>
          </p:cNvPicPr>
          <p:nvPr/>
        </p:nvPicPr>
        <p:blipFill>
          <a:blip r:embed="rId2"/>
          <a:stretch>
            <a:fillRect/>
          </a:stretch>
        </p:blipFill>
        <p:spPr>
          <a:xfrm>
            <a:off x="3168396" y="1568196"/>
            <a:ext cx="384048" cy="384048"/>
          </a:xfrm>
          <a:prstGeom prst="rect">
            <a:avLst/>
          </a:prstGeom>
        </p:spPr>
      </p:pic>
      <p:sp>
        <p:nvSpPr>
          <p:cNvPr id="9" name="Text 5"/>
          <p:cNvSpPr txBox="1"/>
          <p:nvPr/>
        </p:nvSpPr>
        <p:spPr>
          <a:xfrm>
            <a:off x="548640" y="1508760"/>
            <a:ext cx="2331720" cy="502920"/>
          </a:xfrm>
          <a:prstGeom prst="rect">
            <a:avLst/>
          </a:prstGeom>
          <a:noFill/>
          <a:ln/>
        </p:spPr>
        <p:txBody>
          <a:bodyPr wrap="square" lIns="0" tIns="0" rIns="0" bIns="0" rtlCol="0" anchor="ctr"/>
          <a:lstStyle/>
          <a:p>
            <a:pPr rtl="1" algn="r" indent="0" marL="0">
              <a:buNone/>
            </a:pPr>
            <a:r>
              <a:rPr lang="fa-IR" altLang="en-US" sz="1600" b="1" dirty="0">
                <a:solidFill>
                  <a:schemeClr val="tx1"/>
                </a:solidFill>
              </a:rPr>
              <a:t>بهداشت و درمان</a:t>
            </a:r>
            <a:endParaRPr lang="fa-IR" sz="1600" dirty="0"/>
          </a:p>
        </p:txBody>
      </p:sp>
      <p:sp>
        <p:nvSpPr>
          <p:cNvPr id="10" name="who-1-circle"/>
          <p:cNvSpPr/>
          <p:nvPr/>
        </p:nvSpPr>
        <p:spPr>
          <a:xfrm>
            <a:off x="3017520" y="2350008"/>
            <a:ext cx="685800" cy="685800"/>
          </a:xfrm>
          <a:prstGeom prst="ellipse">
            <a:avLst/>
          </a:prstGeom>
          <a:solidFill>
            <a:schemeClr val="accent2"/>
          </a:solidFill>
          <a:ln w="12700">
            <a:solidFill>
              <a:schemeClr val="accent2"/>
            </a:solidFill>
            <a:prstDash val="solid"/>
          </a:ln>
        </p:spPr>
      </p:sp>
      <p:pic>
        <p:nvPicPr>
          <p:cNvPr id="11" name="who-1-icon" descr="preencoded.png">    </p:cNvPr>
          <p:cNvPicPr>
            <a:picLocks noChangeAspect="1"/>
          </p:cNvPicPr>
          <p:nvPr/>
        </p:nvPicPr>
        <p:blipFill>
          <a:blip r:embed="rId3"/>
          <a:stretch>
            <a:fillRect/>
          </a:stretch>
        </p:blipFill>
        <p:spPr>
          <a:xfrm>
            <a:off x="3168396" y="2500884"/>
            <a:ext cx="384048" cy="384048"/>
          </a:xfrm>
          <a:prstGeom prst="rect">
            <a:avLst/>
          </a:prstGeom>
        </p:spPr>
      </p:pic>
      <p:sp>
        <p:nvSpPr>
          <p:cNvPr id="12" name="Text 7"/>
          <p:cNvSpPr txBox="1"/>
          <p:nvPr/>
        </p:nvSpPr>
        <p:spPr>
          <a:xfrm>
            <a:off x="548640" y="2441448"/>
            <a:ext cx="2331720" cy="502920"/>
          </a:xfrm>
          <a:prstGeom prst="rect">
            <a:avLst/>
          </a:prstGeom>
          <a:noFill/>
          <a:ln/>
        </p:spPr>
        <p:txBody>
          <a:bodyPr wrap="square" lIns="0" tIns="0" rIns="0" bIns="0" rtlCol="0" anchor="ctr"/>
          <a:lstStyle/>
          <a:p>
            <a:pPr rtl="1" algn="r" indent="0" marL="0">
              <a:buNone/>
            </a:pPr>
            <a:r>
              <a:rPr lang="fa-IR" altLang="en-US" sz="1600" b="1" dirty="0">
                <a:solidFill>
                  <a:schemeClr val="tx1"/>
                </a:solidFill>
              </a:rPr>
              <a:t>دامپزشکی</a:t>
            </a:r>
            <a:endParaRPr lang="fa-IR" sz="1600" dirty="0"/>
          </a:p>
        </p:txBody>
      </p:sp>
      <p:sp>
        <p:nvSpPr>
          <p:cNvPr id="13" name="who-2-circle"/>
          <p:cNvSpPr/>
          <p:nvPr/>
        </p:nvSpPr>
        <p:spPr>
          <a:xfrm>
            <a:off x="3017520" y="3282696"/>
            <a:ext cx="685800" cy="685800"/>
          </a:xfrm>
          <a:prstGeom prst="ellipse">
            <a:avLst/>
          </a:prstGeom>
          <a:solidFill>
            <a:schemeClr val="accent5"/>
          </a:solidFill>
          <a:ln w="12700">
            <a:solidFill>
              <a:schemeClr val="accent5"/>
            </a:solidFill>
            <a:prstDash val="solid"/>
          </a:ln>
        </p:spPr>
      </p:sp>
      <p:pic>
        <p:nvPicPr>
          <p:cNvPr id="14" name="who-2-icon" descr="preencoded.png">    </p:cNvPr>
          <p:cNvPicPr>
            <a:picLocks noChangeAspect="1"/>
          </p:cNvPicPr>
          <p:nvPr/>
        </p:nvPicPr>
        <p:blipFill>
          <a:blip r:embed="rId4"/>
          <a:stretch>
            <a:fillRect/>
          </a:stretch>
        </p:blipFill>
        <p:spPr>
          <a:xfrm>
            <a:off x="3168396" y="3433572"/>
            <a:ext cx="384048" cy="384048"/>
          </a:xfrm>
          <a:prstGeom prst="rect">
            <a:avLst/>
          </a:prstGeom>
        </p:spPr>
      </p:pic>
      <p:sp>
        <p:nvSpPr>
          <p:cNvPr id="15" name="Text 9"/>
          <p:cNvSpPr txBox="1"/>
          <p:nvPr/>
        </p:nvSpPr>
        <p:spPr>
          <a:xfrm>
            <a:off x="548640" y="3374136"/>
            <a:ext cx="2331720" cy="502920"/>
          </a:xfrm>
          <a:prstGeom prst="rect">
            <a:avLst/>
          </a:prstGeom>
          <a:noFill/>
          <a:ln/>
        </p:spPr>
        <p:txBody>
          <a:bodyPr wrap="square" lIns="0" tIns="0" rIns="0" bIns="0" rtlCol="0" anchor="ctr"/>
          <a:lstStyle/>
          <a:p>
            <a:pPr rtl="1" algn="r" indent="0" marL="0">
              <a:buNone/>
            </a:pPr>
            <a:r>
              <a:rPr lang="fa-IR" altLang="en-US" sz="1600" b="1" dirty="0">
                <a:solidFill>
                  <a:schemeClr val="tx1"/>
                </a:solidFill>
              </a:rPr>
              <a:t>محیط زیست و شهرداری</a:t>
            </a:r>
            <a:endParaRPr lang="fa-IR" sz="1600" dirty="0"/>
          </a:p>
        </p:txBody>
      </p:sp>
      <p:sp>
        <p:nvSpPr>
          <p:cNvPr id="16" name="who-3-circle"/>
          <p:cNvSpPr/>
          <p:nvPr/>
        </p:nvSpPr>
        <p:spPr>
          <a:xfrm>
            <a:off x="3017520" y="4215384"/>
            <a:ext cx="685800" cy="685800"/>
          </a:xfrm>
          <a:prstGeom prst="ellipse">
            <a:avLst/>
          </a:prstGeom>
          <a:solidFill>
            <a:schemeClr val="accent1"/>
          </a:solidFill>
          <a:ln w="12700">
            <a:solidFill>
              <a:schemeClr val="accent1"/>
            </a:solidFill>
            <a:prstDash val="solid"/>
          </a:ln>
        </p:spPr>
      </p:sp>
      <p:pic>
        <p:nvPicPr>
          <p:cNvPr id="17" name="who-3-icon" descr="preencoded.png">    </p:cNvPr>
          <p:cNvPicPr>
            <a:picLocks noChangeAspect="1"/>
          </p:cNvPicPr>
          <p:nvPr/>
        </p:nvPicPr>
        <p:blipFill>
          <a:blip r:embed="rId5"/>
          <a:stretch>
            <a:fillRect/>
          </a:stretch>
        </p:blipFill>
        <p:spPr>
          <a:xfrm>
            <a:off x="3168396" y="4366260"/>
            <a:ext cx="384048" cy="384048"/>
          </a:xfrm>
          <a:prstGeom prst="rect">
            <a:avLst/>
          </a:prstGeom>
        </p:spPr>
      </p:pic>
      <p:sp>
        <p:nvSpPr>
          <p:cNvPr id="18" name="Text 11"/>
          <p:cNvSpPr txBox="1"/>
          <p:nvPr/>
        </p:nvSpPr>
        <p:spPr>
          <a:xfrm>
            <a:off x="548640" y="4306824"/>
            <a:ext cx="2331720" cy="502920"/>
          </a:xfrm>
          <a:prstGeom prst="rect">
            <a:avLst/>
          </a:prstGeom>
          <a:noFill/>
          <a:ln/>
        </p:spPr>
        <p:txBody>
          <a:bodyPr wrap="square" lIns="0" tIns="0" rIns="0" bIns="0" rtlCol="0" anchor="ctr"/>
          <a:lstStyle/>
          <a:p>
            <a:pPr rtl="1" algn="r" indent="0" marL="0">
              <a:buNone/>
            </a:pPr>
            <a:r>
              <a:rPr lang="fa-IR" altLang="en-US" sz="1600" b="1" dirty="0">
                <a:solidFill>
                  <a:schemeClr val="tx1"/>
                </a:solidFill>
              </a:rPr>
              <a:t>آزمایشگاه مرجع</a:t>
            </a:r>
            <a:endParaRPr lang="fa-IR" sz="1600" dirty="0"/>
          </a:p>
        </p:txBody>
      </p:sp>
      <p:sp>
        <p:nvSpPr>
          <p:cNvPr id="19" name="Text 12"/>
          <p:cNvSpPr txBox="1"/>
          <p:nvPr/>
        </p:nvSpPr>
        <p:spPr>
          <a:xfrm>
            <a:off x="548640" y="5303520"/>
            <a:ext cx="11091672" cy="457200"/>
          </a:xfrm>
          <a:prstGeom prst="rect">
            <a:avLst/>
          </a:prstGeom>
          <a:noFill/>
          <a:ln/>
        </p:spPr>
        <p:txBody>
          <a:bodyPr wrap="square" lIns="0" tIns="0" rIns="0" bIns="0" rtlCol="0" anchor="t"/>
          <a:lstStyle/>
          <a:p>
            <a:pPr rtl="1" algn="r" indent="0" marL="0">
              <a:buNone/>
            </a:pPr>
            <a:r>
              <a:rPr lang="fa-IR" altLang="en-US" sz="1600" b="1" dirty="0">
                <a:solidFill>
                  <a:schemeClr val="accent1"/>
                </a:solidFill>
              </a:rPr>
              <a:t>در ۲ دقیقه ترتیب تماس‌ها را بنویسید و برای هر تماس یک جمله دلیل بیاورید.</a:t>
            </a:r>
            <a:endParaRPr lang="fa-IR" sz="16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One Health: سلامت انسان، دام و محیط یک سیستم است</a:t>
            </a:r>
            <a:endParaRPr lang="fa-IR" sz="3000" dirty="0"/>
          </a:p>
        </p:txBody>
      </p:sp>
      <p:sp>
        <p:nvSpPr>
          <p:cNvPr id="3" name="tri-l"/>
          <p:cNvSpPr/>
          <p:nvPr/>
        </p:nvSpPr>
        <p:spPr>
          <a:xfrm>
            <a:off x="2743200" y="2560320"/>
            <a:ext cx="-1325880" cy="1463040"/>
          </a:xfrm>
          <a:prstGeom prst="line">
            <a:avLst/>
          </a:prstGeom>
          <a:noFill/>
          <a:ln w="38100">
            <a:solidFill>
              <a:srgbClr val="C7CCBD"/>
            </a:solidFill>
            <a:prstDash val="solid"/>
          </a:ln>
        </p:spPr>
      </p:sp>
      <p:sp>
        <p:nvSpPr>
          <p:cNvPr id="4" name="tri-r"/>
          <p:cNvSpPr/>
          <p:nvPr/>
        </p:nvSpPr>
        <p:spPr>
          <a:xfrm>
            <a:off x="3017520" y="2560320"/>
            <a:ext cx="1325880" cy="1463040"/>
          </a:xfrm>
          <a:prstGeom prst="line">
            <a:avLst/>
          </a:prstGeom>
          <a:noFill/>
          <a:ln w="38100">
            <a:solidFill>
              <a:srgbClr val="C7CCBD"/>
            </a:solidFill>
            <a:prstDash val="solid"/>
          </a:ln>
        </p:spPr>
      </p:sp>
      <p:sp>
        <p:nvSpPr>
          <p:cNvPr id="5" name="tri-b"/>
          <p:cNvSpPr/>
          <p:nvPr/>
        </p:nvSpPr>
        <p:spPr>
          <a:xfrm>
            <a:off x="1874520" y="4526280"/>
            <a:ext cx="1737360" cy="0"/>
          </a:xfrm>
          <a:prstGeom prst="line">
            <a:avLst/>
          </a:prstGeom>
          <a:noFill/>
          <a:ln w="38100">
            <a:solidFill>
              <a:srgbClr val="C7CCBD"/>
            </a:solidFill>
            <a:prstDash val="solid"/>
          </a:ln>
        </p:spPr>
      </p:sp>
      <p:sp>
        <p:nvSpPr>
          <p:cNvPr id="6" name="node-0-circle"/>
          <p:cNvSpPr/>
          <p:nvPr/>
        </p:nvSpPr>
        <p:spPr>
          <a:xfrm>
            <a:off x="2148840" y="1371600"/>
            <a:ext cx="1188720" cy="1188720"/>
          </a:xfrm>
          <a:prstGeom prst="ellipse">
            <a:avLst/>
          </a:prstGeom>
          <a:solidFill>
            <a:schemeClr val="accent3"/>
          </a:solidFill>
          <a:ln w="12700">
            <a:solidFill>
              <a:schemeClr val="accent3"/>
            </a:solidFill>
            <a:prstDash val="solid"/>
          </a:ln>
        </p:spPr>
      </p:sp>
      <p:pic>
        <p:nvPicPr>
          <p:cNvPr id="7" name="node-0-icon" descr="preencoded.png">    </p:cNvPr>
          <p:cNvPicPr>
            <a:picLocks noChangeAspect="1"/>
          </p:cNvPicPr>
          <p:nvPr/>
        </p:nvPicPr>
        <p:blipFill>
          <a:blip r:embed="rId1"/>
          <a:stretch>
            <a:fillRect/>
          </a:stretch>
        </p:blipFill>
        <p:spPr>
          <a:xfrm>
            <a:off x="2410358" y="1633118"/>
            <a:ext cx="665683" cy="665683"/>
          </a:xfrm>
          <a:prstGeom prst="rect">
            <a:avLst/>
          </a:prstGeom>
        </p:spPr>
      </p:pic>
      <p:sp>
        <p:nvSpPr>
          <p:cNvPr id="8" name="Text 5"/>
          <p:cNvSpPr txBox="1"/>
          <p:nvPr/>
        </p:nvSpPr>
        <p:spPr>
          <a:xfrm>
            <a:off x="1600200" y="2606040"/>
            <a:ext cx="2286000" cy="411480"/>
          </a:xfrm>
          <a:prstGeom prst="rect">
            <a:avLst/>
          </a:prstGeom>
          <a:noFill/>
          <a:ln/>
        </p:spPr>
        <p:txBody>
          <a:bodyPr wrap="square" lIns="0" tIns="0" rIns="0" bIns="0" rtlCol="0" anchor="t"/>
          <a:lstStyle/>
          <a:p>
            <a:pPr rtl="1" algn="ctr" indent="0" marL="0">
              <a:buNone/>
            </a:pPr>
            <a:r>
              <a:rPr lang="fa-IR" altLang="en-US" sz="1500" b="1" dirty="0">
                <a:solidFill>
                  <a:schemeClr val="tx1"/>
                </a:solidFill>
              </a:rPr>
              <a:t>انسان</a:t>
            </a:r>
            <a:endParaRPr lang="fa-IR" sz="1500" dirty="0"/>
          </a:p>
        </p:txBody>
      </p:sp>
      <p:sp>
        <p:nvSpPr>
          <p:cNvPr id="9" name="node-1-circle"/>
          <p:cNvSpPr/>
          <p:nvPr/>
        </p:nvSpPr>
        <p:spPr>
          <a:xfrm>
            <a:off x="685800" y="3931920"/>
            <a:ext cx="1188720" cy="1188720"/>
          </a:xfrm>
          <a:prstGeom prst="ellipse">
            <a:avLst/>
          </a:prstGeom>
          <a:solidFill>
            <a:schemeClr val="accent2"/>
          </a:solidFill>
          <a:ln w="12700">
            <a:solidFill>
              <a:schemeClr val="accent2"/>
            </a:solidFill>
            <a:prstDash val="solid"/>
          </a:ln>
        </p:spPr>
      </p:sp>
      <p:pic>
        <p:nvPicPr>
          <p:cNvPr id="10" name="node-1-icon" descr="preencoded.png">    </p:cNvPr>
          <p:cNvPicPr>
            <a:picLocks noChangeAspect="1"/>
          </p:cNvPicPr>
          <p:nvPr/>
        </p:nvPicPr>
        <p:blipFill>
          <a:blip r:embed="rId2"/>
          <a:stretch>
            <a:fillRect/>
          </a:stretch>
        </p:blipFill>
        <p:spPr>
          <a:xfrm>
            <a:off x="947318" y="4193438"/>
            <a:ext cx="665683" cy="665683"/>
          </a:xfrm>
          <a:prstGeom prst="rect">
            <a:avLst/>
          </a:prstGeom>
        </p:spPr>
      </p:pic>
      <p:sp>
        <p:nvSpPr>
          <p:cNvPr id="11" name="Text 7"/>
          <p:cNvSpPr txBox="1"/>
          <p:nvPr/>
        </p:nvSpPr>
        <p:spPr>
          <a:xfrm>
            <a:off x="137160" y="5166360"/>
            <a:ext cx="2286000" cy="411480"/>
          </a:xfrm>
          <a:prstGeom prst="rect">
            <a:avLst/>
          </a:prstGeom>
          <a:noFill/>
          <a:ln/>
        </p:spPr>
        <p:txBody>
          <a:bodyPr wrap="square" lIns="0" tIns="0" rIns="0" bIns="0" rtlCol="0" anchor="t"/>
          <a:lstStyle/>
          <a:p>
            <a:pPr rtl="1" algn="ctr" indent="0" marL="0">
              <a:buNone/>
            </a:pPr>
            <a:r>
              <a:rPr lang="fa-IR" altLang="en-US" sz="1500" b="1" dirty="0">
                <a:solidFill>
                  <a:schemeClr val="tx1"/>
                </a:solidFill>
              </a:rPr>
              <a:t>دام و حیات وحش</a:t>
            </a:r>
            <a:endParaRPr lang="fa-IR" sz="1500" dirty="0"/>
          </a:p>
        </p:txBody>
      </p:sp>
      <p:sp>
        <p:nvSpPr>
          <p:cNvPr id="12" name="node-2-circle"/>
          <p:cNvSpPr/>
          <p:nvPr/>
        </p:nvSpPr>
        <p:spPr>
          <a:xfrm>
            <a:off x="3611880" y="3931920"/>
            <a:ext cx="1188720" cy="1188720"/>
          </a:xfrm>
          <a:prstGeom prst="ellipse">
            <a:avLst/>
          </a:prstGeom>
          <a:solidFill>
            <a:schemeClr val="accent5"/>
          </a:solidFill>
          <a:ln w="12700">
            <a:solidFill>
              <a:schemeClr val="accent5"/>
            </a:solidFill>
            <a:prstDash val="solid"/>
          </a:ln>
        </p:spPr>
      </p:sp>
      <p:pic>
        <p:nvPicPr>
          <p:cNvPr id="13" name="node-2-icon" descr="preencoded.png">    </p:cNvPr>
          <p:cNvPicPr>
            <a:picLocks noChangeAspect="1"/>
          </p:cNvPicPr>
          <p:nvPr/>
        </p:nvPicPr>
        <p:blipFill>
          <a:blip r:embed="rId3"/>
          <a:stretch>
            <a:fillRect/>
          </a:stretch>
        </p:blipFill>
        <p:spPr>
          <a:xfrm>
            <a:off x="3873398" y="4193438"/>
            <a:ext cx="665683" cy="665683"/>
          </a:xfrm>
          <a:prstGeom prst="rect">
            <a:avLst/>
          </a:prstGeom>
        </p:spPr>
      </p:pic>
      <p:sp>
        <p:nvSpPr>
          <p:cNvPr id="14" name="Text 9"/>
          <p:cNvSpPr txBox="1"/>
          <p:nvPr/>
        </p:nvSpPr>
        <p:spPr>
          <a:xfrm>
            <a:off x="3063240" y="5166360"/>
            <a:ext cx="2286000" cy="411480"/>
          </a:xfrm>
          <a:prstGeom prst="rect">
            <a:avLst/>
          </a:prstGeom>
          <a:noFill/>
          <a:ln/>
        </p:spPr>
        <p:txBody>
          <a:bodyPr wrap="square" lIns="0" tIns="0" rIns="0" bIns="0" rtlCol="0" anchor="t"/>
          <a:lstStyle/>
          <a:p>
            <a:pPr rtl="1" algn="ctr" indent="0" marL="0">
              <a:buNone/>
            </a:pPr>
            <a:r>
              <a:rPr lang="fa-IR" altLang="en-US" sz="1500" b="1" dirty="0">
                <a:solidFill>
                  <a:schemeClr val="tx1"/>
                </a:solidFill>
              </a:rPr>
              <a:t>محیط</a:t>
            </a:r>
            <a:endParaRPr lang="fa-IR" sz="1500" dirty="0"/>
          </a:p>
        </p:txBody>
      </p:sp>
      <p:sp>
        <p:nvSpPr>
          <p:cNvPr id="15" name="Text 10"/>
          <p:cNvSpPr txBox="1"/>
          <p:nvPr/>
        </p:nvSpPr>
        <p:spPr>
          <a:xfrm>
            <a:off x="5669280" y="1463040"/>
            <a:ext cx="5971032" cy="4206240"/>
          </a:xfrm>
          <a:prstGeom prst="rect">
            <a:avLst/>
          </a:prstGeom>
          <a:noFill/>
          <a:ln/>
        </p:spPr>
        <p:txBody>
          <a:bodyPr wrap="square" lIns="0" tIns="0" rIns="0" bIns="0" rtlCol="0" anchor="t"/>
          <a:lstStyle/>
          <a:p>
            <a:pPr rtl="1" algn="r" marL="342900" indent="-342900">
              <a:spcAft>
                <a:spcPts val="1200"/>
              </a:spcAft>
              <a:buSzPct val="100000"/>
              <a:buChar char="•"/>
            </a:pPr>
            <a:r>
              <a:rPr lang="fa-IR" altLang="en-US" sz="1700" dirty="0">
                <a:solidFill>
                  <a:schemeClr val="tx1"/>
                </a:solidFill>
              </a:rPr>
              <a:t>رویکردی یکپارچه که می‌کوشد سلامت انسان، حیوان و اکوسیستم را هم‌زمان و پایدار بهبود دهد، چون این سه به هم وابسته‌اند</a:t>
            </a:r>
            <a:endParaRPr lang="fa-IR" sz="1700" dirty="0"/>
          </a:p>
          <a:p>
            <a:pPr rtl="1" algn="r" marL="342900" indent="-342900">
              <a:spcAft>
                <a:spcPts val="1200"/>
              </a:spcAft>
              <a:buSzPct val="100000"/>
              <a:buChar char="•"/>
            </a:pPr>
            <a:r>
              <a:rPr lang="fa-IR" altLang="en-US" sz="1700" dirty="0">
                <a:solidFill>
                  <a:schemeClr val="tx1"/>
                </a:solidFill>
              </a:rPr>
              <a:t>چهار سازمان بین‌المللی این تعریف را پذیرفته‌اند: FAO، UNEP، WHO و WOAH</a:t>
            </a:r>
            <a:endParaRPr lang="fa-IR" sz="1700" dirty="0"/>
          </a:p>
          <a:p>
            <a:pPr rtl="1" algn="r" marL="342900" indent="-342900">
              <a:spcAft>
                <a:spcPts val="1200"/>
              </a:spcAft>
              <a:buSzPct val="100000"/>
              <a:buChar char="•"/>
            </a:pPr>
            <a:r>
              <a:rPr lang="fa-IR" altLang="en-US" sz="1700" b="1" dirty="0">
                <a:solidFill>
                  <a:schemeClr val="tx1"/>
                </a:solidFill>
              </a:rPr>
              <a:t>در بررسی طغیان یعنی: داده مشترک، تیم مشترک، تصمیم مشترک</a:t>
            </a:r>
            <a:endParaRPr lang="fa-IR" sz="1700" dirty="0"/>
          </a:p>
          <a:p>
            <a:pPr rtl="1" algn="r" marL="342900" indent="-342900">
              <a:spcAft>
                <a:spcPts val="1200"/>
              </a:spcAft>
              <a:buSzPct val="100000"/>
              <a:buChar char="•"/>
            </a:pPr>
            <a:r>
              <a:rPr lang="fa-IR" altLang="en-US" sz="1700" dirty="0">
                <a:solidFill>
                  <a:schemeClr val="tx1"/>
                </a:solidFill>
              </a:rPr>
              <a:t>بیماری‌های مشترک انسان و دام، مقاومت ضدمیکروبی و ایمنی غذا سه حوزه اصلی آن هستند</a:t>
            </a:r>
            <a:endParaRPr lang="fa-IR" sz="1700" dirty="0"/>
          </a:p>
        </p:txBody>
      </p:sp>
      <p:sp>
        <p:nvSpPr>
          <p:cNvPr id="16" name="Text 11"/>
          <p:cNvSpPr txBox="1"/>
          <p:nvPr/>
        </p:nvSpPr>
        <p:spPr>
          <a:xfrm>
            <a:off x="5669280" y="5897880"/>
            <a:ext cx="597103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تعریف OHHLEP، ۲۰۲۱</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چرخه انتقال CCHF: کنه، دام، انسان</a:t>
            </a:r>
            <a:endParaRPr lang="fa-IR" sz="3000" dirty="0"/>
          </a:p>
        </p:txBody>
      </p:sp>
      <p:sp>
        <p:nvSpPr>
          <p:cNvPr id="3" name="cyc-0-circle"/>
          <p:cNvSpPr/>
          <p:nvPr/>
        </p:nvSpPr>
        <p:spPr>
          <a:xfrm>
            <a:off x="10058400" y="2743200"/>
            <a:ext cx="1051560" cy="1051560"/>
          </a:xfrm>
          <a:prstGeom prst="ellipse">
            <a:avLst/>
          </a:prstGeom>
          <a:solidFill>
            <a:schemeClr val="accent1"/>
          </a:solidFill>
          <a:ln w="12700">
            <a:solidFill>
              <a:schemeClr val="accent1"/>
            </a:solidFill>
            <a:prstDash val="solid"/>
          </a:ln>
        </p:spPr>
      </p:sp>
      <p:pic>
        <p:nvPicPr>
          <p:cNvPr id="4" name="cyc-0-icon" descr="preencoded.png">    </p:cNvPr>
          <p:cNvPicPr>
            <a:picLocks noChangeAspect="1"/>
          </p:cNvPicPr>
          <p:nvPr/>
        </p:nvPicPr>
        <p:blipFill>
          <a:blip r:embed="rId1"/>
          <a:stretch>
            <a:fillRect/>
          </a:stretch>
        </p:blipFill>
        <p:spPr>
          <a:xfrm>
            <a:off x="10289743" y="2974543"/>
            <a:ext cx="588874" cy="588874"/>
          </a:xfrm>
          <a:prstGeom prst="rect">
            <a:avLst/>
          </a:prstGeom>
        </p:spPr>
      </p:pic>
      <p:sp>
        <p:nvSpPr>
          <p:cNvPr id="5" name="Text 2"/>
          <p:cNvSpPr txBox="1"/>
          <p:nvPr/>
        </p:nvSpPr>
        <p:spPr>
          <a:xfrm>
            <a:off x="9281160" y="3886200"/>
            <a:ext cx="2606040" cy="365760"/>
          </a:xfrm>
          <a:prstGeom prst="rect">
            <a:avLst/>
          </a:prstGeom>
          <a:noFill/>
          <a:ln/>
        </p:spPr>
        <p:txBody>
          <a:bodyPr wrap="square" lIns="0" tIns="0" rIns="0" bIns="0" rtlCol="0" anchor="t"/>
          <a:lstStyle/>
          <a:p>
            <a:pPr rtl="1" algn="ctr" indent="0" marL="0">
              <a:buNone/>
            </a:pPr>
            <a:r>
              <a:rPr lang="fa-IR" altLang="en-US" sz="1700" b="1" dirty="0">
                <a:solidFill>
                  <a:schemeClr val="tx1"/>
                </a:solidFill>
              </a:rPr>
              <a:t>کنه Hyalomma</a:t>
            </a:r>
            <a:endParaRPr lang="fa-IR" sz="1700" dirty="0"/>
          </a:p>
        </p:txBody>
      </p:sp>
      <p:sp>
        <p:nvSpPr>
          <p:cNvPr id="6" name="Text 3"/>
          <p:cNvSpPr txBox="1"/>
          <p:nvPr/>
        </p:nvSpPr>
        <p:spPr>
          <a:xfrm>
            <a:off x="9281160" y="4279392"/>
            <a:ext cx="2606040" cy="640080"/>
          </a:xfrm>
          <a:prstGeom prst="rect">
            <a:avLst/>
          </a:prstGeom>
          <a:noFill/>
          <a:ln/>
        </p:spPr>
        <p:txBody>
          <a:bodyPr wrap="square" lIns="0" tIns="0" rIns="0" bIns="0" rtlCol="0" anchor="t"/>
          <a:lstStyle/>
          <a:p>
            <a:pPr rtl="1" algn="ctr" indent="0" marL="0">
              <a:buNone/>
            </a:pPr>
            <a:r>
              <a:rPr lang="fa-IR" altLang="en-US" sz="1300" dirty="0">
                <a:solidFill>
                  <a:schemeClr val="tx1"/>
                </a:solidFill>
              </a:rPr>
              <a:t>مخزن و ناقل؛ ویروس از نسلی به نسل بعد می‌رسد</a:t>
            </a:r>
            <a:endParaRPr lang="fa-IR" sz="1300" dirty="0"/>
          </a:p>
        </p:txBody>
      </p:sp>
      <p:sp>
        <p:nvSpPr>
          <p:cNvPr id="7" name="cyc-1-circle"/>
          <p:cNvSpPr/>
          <p:nvPr/>
        </p:nvSpPr>
        <p:spPr>
          <a:xfrm>
            <a:off x="7269480" y="2743200"/>
            <a:ext cx="1051560" cy="1051560"/>
          </a:xfrm>
          <a:prstGeom prst="ellipse">
            <a:avLst/>
          </a:prstGeom>
          <a:solidFill>
            <a:schemeClr val="accent2"/>
          </a:solidFill>
          <a:ln w="12700">
            <a:solidFill>
              <a:schemeClr val="accent2"/>
            </a:solidFill>
            <a:prstDash val="solid"/>
          </a:ln>
        </p:spPr>
      </p:sp>
      <p:pic>
        <p:nvPicPr>
          <p:cNvPr id="8" name="cyc-1-icon" descr="preencoded.png">    </p:cNvPr>
          <p:cNvPicPr>
            <a:picLocks noChangeAspect="1"/>
          </p:cNvPicPr>
          <p:nvPr/>
        </p:nvPicPr>
        <p:blipFill>
          <a:blip r:embed="rId2"/>
          <a:stretch>
            <a:fillRect/>
          </a:stretch>
        </p:blipFill>
        <p:spPr>
          <a:xfrm>
            <a:off x="7500823" y="2974543"/>
            <a:ext cx="588874" cy="588874"/>
          </a:xfrm>
          <a:prstGeom prst="rect">
            <a:avLst/>
          </a:prstGeom>
        </p:spPr>
      </p:pic>
      <p:sp>
        <p:nvSpPr>
          <p:cNvPr id="9" name="Text 5"/>
          <p:cNvSpPr txBox="1"/>
          <p:nvPr/>
        </p:nvSpPr>
        <p:spPr>
          <a:xfrm>
            <a:off x="6492240" y="3886200"/>
            <a:ext cx="2606040" cy="365760"/>
          </a:xfrm>
          <a:prstGeom prst="rect">
            <a:avLst/>
          </a:prstGeom>
          <a:noFill/>
          <a:ln/>
        </p:spPr>
        <p:txBody>
          <a:bodyPr wrap="square" lIns="0" tIns="0" rIns="0" bIns="0" rtlCol="0" anchor="t"/>
          <a:lstStyle/>
          <a:p>
            <a:pPr rtl="1" algn="ctr" indent="0" marL="0">
              <a:buNone/>
            </a:pPr>
            <a:r>
              <a:rPr lang="fa-IR" altLang="en-US" sz="1700" b="1" dirty="0">
                <a:solidFill>
                  <a:schemeClr val="tx1"/>
                </a:solidFill>
              </a:rPr>
              <a:t>دام</a:t>
            </a:r>
            <a:endParaRPr lang="fa-IR" sz="1700" dirty="0"/>
          </a:p>
        </p:txBody>
      </p:sp>
      <p:sp>
        <p:nvSpPr>
          <p:cNvPr id="10" name="Text 6"/>
          <p:cNvSpPr txBox="1"/>
          <p:nvPr/>
        </p:nvSpPr>
        <p:spPr>
          <a:xfrm>
            <a:off x="6492240" y="4279392"/>
            <a:ext cx="2606040" cy="640080"/>
          </a:xfrm>
          <a:prstGeom prst="rect">
            <a:avLst/>
          </a:prstGeom>
          <a:noFill/>
          <a:ln/>
        </p:spPr>
        <p:txBody>
          <a:bodyPr wrap="square" lIns="0" tIns="0" rIns="0" bIns="0" rtlCol="0" anchor="t"/>
          <a:lstStyle/>
          <a:p>
            <a:pPr rtl="1" algn="ctr" indent="0" marL="0">
              <a:buNone/>
            </a:pPr>
            <a:r>
              <a:rPr lang="fa-IR" altLang="en-US" sz="1300" dirty="0">
                <a:solidFill>
                  <a:schemeClr val="tx1"/>
                </a:solidFill>
              </a:rPr>
              <a:t>ویرمی بدون علامت؛ میزبان تقویت‌کننده</a:t>
            </a:r>
            <a:endParaRPr lang="fa-IR" sz="1300" dirty="0"/>
          </a:p>
        </p:txBody>
      </p:sp>
      <p:sp>
        <p:nvSpPr>
          <p:cNvPr id="11" name="cyc-2-circle"/>
          <p:cNvSpPr/>
          <p:nvPr/>
        </p:nvSpPr>
        <p:spPr>
          <a:xfrm>
            <a:off x="4480560" y="2743200"/>
            <a:ext cx="1051560" cy="1051560"/>
          </a:xfrm>
          <a:prstGeom prst="ellipse">
            <a:avLst/>
          </a:prstGeom>
          <a:solidFill>
            <a:schemeClr val="accent3"/>
          </a:solidFill>
          <a:ln w="12700">
            <a:solidFill>
              <a:schemeClr val="accent3"/>
            </a:solidFill>
            <a:prstDash val="solid"/>
          </a:ln>
        </p:spPr>
      </p:sp>
      <p:pic>
        <p:nvPicPr>
          <p:cNvPr id="12" name="cyc-2-icon" descr="preencoded.png">    </p:cNvPr>
          <p:cNvPicPr>
            <a:picLocks noChangeAspect="1"/>
          </p:cNvPicPr>
          <p:nvPr/>
        </p:nvPicPr>
        <p:blipFill>
          <a:blip r:embed="rId3"/>
          <a:stretch>
            <a:fillRect/>
          </a:stretch>
        </p:blipFill>
        <p:spPr>
          <a:xfrm>
            <a:off x="4711903" y="2974543"/>
            <a:ext cx="588874" cy="588874"/>
          </a:xfrm>
          <a:prstGeom prst="rect">
            <a:avLst/>
          </a:prstGeom>
        </p:spPr>
      </p:pic>
      <p:sp>
        <p:nvSpPr>
          <p:cNvPr id="13" name="Text 8"/>
          <p:cNvSpPr txBox="1"/>
          <p:nvPr/>
        </p:nvSpPr>
        <p:spPr>
          <a:xfrm>
            <a:off x="3703320" y="3886200"/>
            <a:ext cx="2606040" cy="365760"/>
          </a:xfrm>
          <a:prstGeom prst="rect">
            <a:avLst/>
          </a:prstGeom>
          <a:noFill/>
          <a:ln/>
        </p:spPr>
        <p:txBody>
          <a:bodyPr wrap="square" lIns="0" tIns="0" rIns="0" bIns="0" rtlCol="0" anchor="t"/>
          <a:lstStyle/>
          <a:p>
            <a:pPr rtl="1" algn="ctr" indent="0" marL="0">
              <a:buNone/>
            </a:pPr>
            <a:r>
              <a:rPr lang="fa-IR" altLang="en-US" sz="1700" b="1" dirty="0">
                <a:solidFill>
                  <a:schemeClr val="tx1"/>
                </a:solidFill>
              </a:rPr>
              <a:t>انسان</a:t>
            </a:r>
            <a:endParaRPr lang="fa-IR" sz="1700" dirty="0"/>
          </a:p>
        </p:txBody>
      </p:sp>
      <p:sp>
        <p:nvSpPr>
          <p:cNvPr id="14" name="Text 9"/>
          <p:cNvSpPr txBox="1"/>
          <p:nvPr/>
        </p:nvSpPr>
        <p:spPr>
          <a:xfrm>
            <a:off x="3703320" y="4279392"/>
            <a:ext cx="2606040" cy="640080"/>
          </a:xfrm>
          <a:prstGeom prst="rect">
            <a:avLst/>
          </a:prstGeom>
          <a:noFill/>
          <a:ln/>
        </p:spPr>
        <p:txBody>
          <a:bodyPr wrap="square" lIns="0" tIns="0" rIns="0" bIns="0" rtlCol="0" anchor="t"/>
          <a:lstStyle/>
          <a:p>
            <a:pPr rtl="1" algn="ctr" indent="0" marL="0">
              <a:buNone/>
            </a:pPr>
            <a:r>
              <a:rPr lang="fa-IR" altLang="en-US" sz="1300" dirty="0">
                <a:solidFill>
                  <a:schemeClr val="tx1"/>
                </a:solidFill>
              </a:rPr>
              <a:t>بیمار و گاهی کشنده</a:t>
            </a:r>
            <a:endParaRPr lang="fa-IR" sz="1300" dirty="0"/>
          </a:p>
        </p:txBody>
      </p:sp>
      <p:sp>
        <p:nvSpPr>
          <p:cNvPr id="15" name="cyc-3-circle"/>
          <p:cNvSpPr/>
          <p:nvPr/>
        </p:nvSpPr>
        <p:spPr>
          <a:xfrm>
            <a:off x="1691640" y="2743200"/>
            <a:ext cx="1051560" cy="1051560"/>
          </a:xfrm>
          <a:prstGeom prst="ellipse">
            <a:avLst/>
          </a:prstGeom>
          <a:solidFill>
            <a:schemeClr val="tx2"/>
          </a:solidFill>
          <a:ln w="12700">
            <a:solidFill>
              <a:schemeClr val="tx2"/>
            </a:solidFill>
            <a:prstDash val="solid"/>
          </a:ln>
        </p:spPr>
      </p:sp>
      <p:pic>
        <p:nvPicPr>
          <p:cNvPr id="16" name="cyc-3-icon" descr="preencoded.png">    </p:cNvPr>
          <p:cNvPicPr>
            <a:picLocks noChangeAspect="1"/>
          </p:cNvPicPr>
          <p:nvPr/>
        </p:nvPicPr>
        <p:blipFill>
          <a:blip r:embed="rId4"/>
          <a:stretch>
            <a:fillRect/>
          </a:stretch>
        </p:blipFill>
        <p:spPr>
          <a:xfrm>
            <a:off x="1922983" y="2974543"/>
            <a:ext cx="588874" cy="588874"/>
          </a:xfrm>
          <a:prstGeom prst="rect">
            <a:avLst/>
          </a:prstGeom>
        </p:spPr>
      </p:pic>
      <p:sp>
        <p:nvSpPr>
          <p:cNvPr id="17" name="Text 11"/>
          <p:cNvSpPr txBox="1"/>
          <p:nvPr/>
        </p:nvSpPr>
        <p:spPr>
          <a:xfrm>
            <a:off x="914400" y="3886200"/>
            <a:ext cx="2606040" cy="365760"/>
          </a:xfrm>
          <a:prstGeom prst="rect">
            <a:avLst/>
          </a:prstGeom>
          <a:noFill/>
          <a:ln/>
        </p:spPr>
        <p:txBody>
          <a:bodyPr wrap="square" lIns="0" tIns="0" rIns="0" bIns="0" rtlCol="0" anchor="t"/>
          <a:lstStyle/>
          <a:p>
            <a:pPr rtl="1" algn="ctr" indent="0" marL="0">
              <a:buNone/>
            </a:pPr>
            <a:r>
              <a:rPr lang="fa-IR" altLang="en-US" sz="1700" b="1" dirty="0">
                <a:solidFill>
                  <a:schemeClr val="tx1"/>
                </a:solidFill>
              </a:rPr>
              <a:t>کارکنان و مراقبان</a:t>
            </a:r>
            <a:endParaRPr lang="fa-IR" sz="1700" dirty="0"/>
          </a:p>
        </p:txBody>
      </p:sp>
      <p:sp>
        <p:nvSpPr>
          <p:cNvPr id="18" name="Text 12"/>
          <p:cNvSpPr txBox="1"/>
          <p:nvPr/>
        </p:nvSpPr>
        <p:spPr>
          <a:xfrm>
            <a:off x="914400" y="4279392"/>
            <a:ext cx="2606040" cy="640080"/>
          </a:xfrm>
          <a:prstGeom prst="rect">
            <a:avLst/>
          </a:prstGeom>
          <a:noFill/>
          <a:ln/>
        </p:spPr>
        <p:txBody>
          <a:bodyPr wrap="square" lIns="0" tIns="0" rIns="0" bIns="0" rtlCol="0" anchor="t"/>
          <a:lstStyle/>
          <a:p>
            <a:pPr rtl="1" algn="ctr" indent="0" marL="0">
              <a:buNone/>
            </a:pPr>
            <a:r>
              <a:rPr lang="fa-IR" altLang="en-US" sz="1300" dirty="0">
                <a:solidFill>
                  <a:schemeClr val="tx1"/>
                </a:solidFill>
              </a:rPr>
              <a:t>خون و ترشحات بیمار</a:t>
            </a:r>
            <a:endParaRPr lang="fa-IR" sz="1300" dirty="0"/>
          </a:p>
        </p:txBody>
      </p:sp>
      <p:sp>
        <p:nvSpPr>
          <p:cNvPr id="19" name="arr-tick-sheep"/>
          <p:cNvSpPr/>
          <p:nvPr/>
        </p:nvSpPr>
        <p:spPr>
          <a:xfrm flipH="1">
            <a:off x="8430768" y="3268980"/>
            <a:ext cx="1517904" cy="0"/>
          </a:xfrm>
          <a:prstGeom prst="line">
            <a:avLst/>
          </a:prstGeom>
          <a:noFill/>
          <a:ln w="31750">
            <a:solidFill>
              <a:schemeClr val="accent1"/>
            </a:solidFill>
            <a:prstDash val="solid"/>
            <a:headEnd type="triangle"/>
            <a:tailEnd type="triangle"/>
          </a:ln>
        </p:spPr>
      </p:sp>
      <p:sp>
        <p:nvSpPr>
          <p:cNvPr id="20" name="Text 14"/>
          <p:cNvSpPr txBox="1"/>
          <p:nvPr/>
        </p:nvSpPr>
        <p:spPr>
          <a:xfrm>
            <a:off x="8366760" y="2702052"/>
            <a:ext cx="1645920" cy="457200"/>
          </a:xfrm>
          <a:prstGeom prst="rect">
            <a:avLst/>
          </a:prstGeom>
          <a:noFill/>
          <a:ln/>
        </p:spPr>
        <p:txBody>
          <a:bodyPr wrap="square" lIns="0" tIns="0" rIns="0" bIns="0" rtlCol="0" anchor="b"/>
          <a:lstStyle/>
          <a:p>
            <a:pPr rtl="1" algn="ctr" indent="0" marL="0">
              <a:buNone/>
            </a:pPr>
            <a:r>
              <a:rPr lang="fa-IR" altLang="en-US" sz="1200" dirty="0">
                <a:solidFill>
                  <a:schemeClr val="accent1"/>
                </a:solidFill>
              </a:rPr>
              <a:t>خون‌خواری کنه از دام</a:t>
            </a:r>
            <a:endParaRPr lang="fa-IR" sz="1200" dirty="0"/>
          </a:p>
        </p:txBody>
      </p:sp>
      <p:sp>
        <p:nvSpPr>
          <p:cNvPr id="21" name="arr-sheep-human"/>
          <p:cNvSpPr/>
          <p:nvPr/>
        </p:nvSpPr>
        <p:spPr>
          <a:xfrm flipH="1">
            <a:off x="5641848" y="3268980"/>
            <a:ext cx="1517904" cy="0"/>
          </a:xfrm>
          <a:prstGeom prst="line">
            <a:avLst/>
          </a:prstGeom>
          <a:noFill/>
          <a:ln w="31750">
            <a:solidFill>
              <a:schemeClr val="accent2"/>
            </a:solidFill>
            <a:prstDash val="solid"/>
            <a:tailEnd type="triangle"/>
          </a:ln>
        </p:spPr>
      </p:sp>
      <p:sp>
        <p:nvSpPr>
          <p:cNvPr id="22" name="Text 16"/>
          <p:cNvSpPr txBox="1"/>
          <p:nvPr/>
        </p:nvSpPr>
        <p:spPr>
          <a:xfrm>
            <a:off x="5577840" y="2702052"/>
            <a:ext cx="1645920" cy="457200"/>
          </a:xfrm>
          <a:prstGeom prst="rect">
            <a:avLst/>
          </a:prstGeom>
          <a:noFill/>
          <a:ln/>
        </p:spPr>
        <p:txBody>
          <a:bodyPr wrap="square" lIns="0" tIns="0" rIns="0" bIns="0" rtlCol="0" anchor="b"/>
          <a:lstStyle/>
          <a:p>
            <a:pPr rtl="1" algn="ctr" indent="0" marL="0">
              <a:buNone/>
            </a:pPr>
            <a:r>
              <a:rPr lang="fa-IR" altLang="en-US" sz="1200" dirty="0">
                <a:solidFill>
                  <a:schemeClr val="accent2"/>
                </a:solidFill>
              </a:rPr>
              <a:t>خون و بافت هنگام ذبح</a:t>
            </a:r>
            <a:endParaRPr lang="fa-IR" sz="1200" dirty="0"/>
          </a:p>
        </p:txBody>
      </p:sp>
      <p:sp>
        <p:nvSpPr>
          <p:cNvPr id="23" name="arr-human-human"/>
          <p:cNvSpPr/>
          <p:nvPr/>
        </p:nvSpPr>
        <p:spPr>
          <a:xfrm flipH="1">
            <a:off x="2852928" y="3268980"/>
            <a:ext cx="1517904" cy="0"/>
          </a:xfrm>
          <a:prstGeom prst="line">
            <a:avLst/>
          </a:prstGeom>
          <a:noFill/>
          <a:ln w="31750">
            <a:solidFill>
              <a:schemeClr val="tx2"/>
            </a:solidFill>
            <a:prstDash val="solid"/>
            <a:tailEnd type="triangle"/>
          </a:ln>
        </p:spPr>
      </p:sp>
      <p:sp>
        <p:nvSpPr>
          <p:cNvPr id="24" name="Text 18"/>
          <p:cNvSpPr txBox="1"/>
          <p:nvPr/>
        </p:nvSpPr>
        <p:spPr>
          <a:xfrm>
            <a:off x="2788920" y="2702052"/>
            <a:ext cx="1645920" cy="457200"/>
          </a:xfrm>
          <a:prstGeom prst="rect">
            <a:avLst/>
          </a:prstGeom>
          <a:noFill/>
          <a:ln/>
        </p:spPr>
        <p:txBody>
          <a:bodyPr wrap="square" lIns="0" tIns="0" rIns="0" bIns="0" rtlCol="0" anchor="b"/>
          <a:lstStyle/>
          <a:p>
            <a:pPr rtl="1" algn="ctr" indent="0" marL="0">
              <a:buNone/>
            </a:pPr>
            <a:r>
              <a:rPr lang="fa-IR" altLang="en-US" sz="1200" dirty="0">
                <a:solidFill>
                  <a:schemeClr val="tx2"/>
                </a:solidFill>
              </a:rPr>
              <a:t>انتقال در بیمارستان و خانه</a:t>
            </a:r>
            <a:endParaRPr lang="fa-IR" sz="1200" dirty="0"/>
          </a:p>
        </p:txBody>
      </p:sp>
      <p:sp>
        <p:nvSpPr>
          <p:cNvPr id="25" name="br-up"/>
          <p:cNvSpPr/>
          <p:nvPr/>
        </p:nvSpPr>
        <p:spPr>
          <a:xfrm>
            <a:off x="10584180" y="1920240"/>
            <a:ext cx="0" cy="749808"/>
          </a:xfrm>
          <a:prstGeom prst="line">
            <a:avLst/>
          </a:prstGeom>
          <a:noFill/>
          <a:ln w="31750">
            <a:solidFill>
              <a:schemeClr val="accent1"/>
            </a:solidFill>
            <a:prstDash val="solid"/>
          </a:ln>
        </p:spPr>
      </p:sp>
      <p:sp>
        <p:nvSpPr>
          <p:cNvPr id="26" name="br-top"/>
          <p:cNvSpPr/>
          <p:nvPr/>
        </p:nvSpPr>
        <p:spPr>
          <a:xfrm>
            <a:off x="5006340" y="1920240"/>
            <a:ext cx="5577840" cy="0"/>
          </a:xfrm>
          <a:prstGeom prst="line">
            <a:avLst/>
          </a:prstGeom>
          <a:noFill/>
          <a:ln w="31750">
            <a:solidFill>
              <a:schemeClr val="accent1"/>
            </a:solidFill>
            <a:prstDash val="solid"/>
          </a:ln>
        </p:spPr>
      </p:sp>
      <p:sp>
        <p:nvSpPr>
          <p:cNvPr id="27" name="br-down"/>
          <p:cNvSpPr/>
          <p:nvPr/>
        </p:nvSpPr>
        <p:spPr>
          <a:xfrm>
            <a:off x="5006340" y="1920240"/>
            <a:ext cx="0" cy="749808"/>
          </a:xfrm>
          <a:prstGeom prst="line">
            <a:avLst/>
          </a:prstGeom>
          <a:noFill/>
          <a:ln w="31750">
            <a:solidFill>
              <a:schemeClr val="accent1"/>
            </a:solidFill>
            <a:prstDash val="solid"/>
            <a:tailEnd type="triangle"/>
          </a:ln>
        </p:spPr>
      </p:sp>
      <p:sp>
        <p:nvSpPr>
          <p:cNvPr id="28" name="Text 22"/>
          <p:cNvSpPr txBox="1"/>
          <p:nvPr/>
        </p:nvSpPr>
        <p:spPr>
          <a:xfrm>
            <a:off x="5280660" y="1463040"/>
            <a:ext cx="5029200" cy="384048"/>
          </a:xfrm>
          <a:prstGeom prst="rect">
            <a:avLst/>
          </a:prstGeom>
          <a:noFill/>
          <a:ln/>
        </p:spPr>
        <p:txBody>
          <a:bodyPr wrap="square" lIns="0" tIns="0" rIns="0" bIns="0" rtlCol="0" anchor="b"/>
          <a:lstStyle/>
          <a:p>
            <a:pPr rtl="1" algn="ctr" indent="0" marL="0">
              <a:buNone/>
            </a:pPr>
            <a:r>
              <a:rPr lang="fa-IR" altLang="en-US" sz="1300" b="1" dirty="0">
                <a:solidFill>
                  <a:schemeClr val="accent1"/>
                </a:solidFill>
              </a:rPr>
              <a:t>گزش کنه یا له‌کردن آن با دست</a:t>
            </a:r>
            <a:endParaRPr lang="fa-IR" sz="1300" dirty="0"/>
          </a:p>
        </p:txBody>
      </p:sp>
      <p:sp>
        <p:nvSpPr>
          <p:cNvPr id="29" name="Text 23"/>
          <p:cNvSpPr txBox="1"/>
          <p:nvPr/>
        </p:nvSpPr>
        <p:spPr>
          <a:xfrm>
            <a:off x="548640" y="5623560"/>
            <a:ext cx="11091672" cy="411480"/>
          </a:xfrm>
          <a:prstGeom prst="rect">
            <a:avLst/>
          </a:prstGeom>
          <a:noFill/>
          <a:ln/>
        </p:spPr>
        <p:txBody>
          <a:bodyPr wrap="square" lIns="0" tIns="0" rIns="0" bIns="0" rtlCol="0" anchor="t"/>
          <a:lstStyle/>
          <a:p>
            <a:pPr rtl="1" algn="r" indent="0" marL="0">
              <a:buNone/>
            </a:pPr>
            <a:r>
              <a:rPr lang="fa-IR" altLang="en-US" sz="1400" b="1" dirty="0">
                <a:solidFill>
                  <a:schemeClr val="tx2"/>
                </a:solidFill>
              </a:rPr>
              <a:t>کنه‌های جنس Hyalomma منبع اصلی آلودگی انسان‌اند، و عفونت در همه گونه‌های دامی بدون علامت است.</a:t>
            </a:r>
            <a:endParaRPr lang="fa-IR" sz="1400" dirty="0"/>
          </a:p>
        </p:txBody>
      </p:sp>
      <p:sp>
        <p:nvSpPr>
          <p:cNvPr id="30" name="Text 24"/>
          <p:cNvSpPr txBox="1"/>
          <p:nvPr/>
        </p:nvSpPr>
        <p:spPr>
          <a:xfrm>
            <a:off x="548640" y="6035040"/>
            <a:ext cx="5486400"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Shayan و همکاران، Lab Med ۲۰۱۵</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CCHF در ایران: یک بیماری بازپدید</a:t>
            </a:r>
            <a:endParaRPr lang="fa-IR" sz="3000" dirty="0"/>
          </a:p>
        </p:txBody>
      </p:sp>
      <p:sp>
        <p:nvSpPr>
          <p:cNvPr id="3" name="stat-0"/>
          <p:cNvSpPr/>
          <p:nvPr/>
        </p:nvSpPr>
        <p:spPr>
          <a:xfrm>
            <a:off x="8076895" y="1371600"/>
            <a:ext cx="3566160" cy="2743200"/>
          </a:xfrm>
          <a:prstGeom prst="roundRect">
            <a:avLst>
              <a:gd name="adj" fmla="val 4000"/>
            </a:avLst>
          </a:prstGeom>
          <a:solidFill>
            <a:schemeClr val="bg2"/>
          </a:solidFill>
          <a:ln w="12700">
            <a:solidFill>
              <a:schemeClr val="bg2"/>
            </a:solidFill>
            <a:prstDash val="solid"/>
          </a:ln>
        </p:spPr>
      </p:sp>
      <p:sp>
        <p:nvSpPr>
          <p:cNvPr id="4" name="Text 2"/>
          <p:cNvSpPr txBox="1"/>
          <p:nvPr/>
        </p:nvSpPr>
        <p:spPr>
          <a:xfrm>
            <a:off x="8305495" y="1554480"/>
            <a:ext cx="3108960" cy="914400"/>
          </a:xfrm>
          <a:prstGeom prst="rect">
            <a:avLst/>
          </a:prstGeom>
          <a:noFill/>
          <a:ln/>
        </p:spPr>
        <p:txBody>
          <a:bodyPr wrap="square" lIns="0" tIns="0" rIns="0" bIns="0" rtlCol="0" anchor="ctr"/>
          <a:lstStyle/>
          <a:p>
            <a:pPr rtl="1" algn="r" indent="0" marL="0">
              <a:buNone/>
            </a:pPr>
            <a:r>
              <a:rPr lang="fa-IR" altLang="en-US" sz="4000" b="1" dirty="0">
                <a:solidFill>
                  <a:schemeClr val="tx2"/>
                </a:solidFill>
              </a:rPr>
              <a:t>۱۹۹۹</a:t>
            </a:r>
            <a:endParaRPr lang="fa-IR" sz="4000" dirty="0"/>
          </a:p>
        </p:txBody>
      </p:sp>
      <p:sp>
        <p:nvSpPr>
          <p:cNvPr id="5" name="Text 3"/>
          <p:cNvSpPr txBox="1"/>
          <p:nvPr/>
        </p:nvSpPr>
        <p:spPr>
          <a:xfrm>
            <a:off x="8305495" y="2560320"/>
            <a:ext cx="3108960" cy="1417320"/>
          </a:xfrm>
          <a:prstGeom prst="rect">
            <a:avLst/>
          </a:prstGeom>
          <a:noFill/>
          <a:ln/>
        </p:spPr>
        <p:txBody>
          <a:bodyPr wrap="square" lIns="0" tIns="0" rIns="0" bIns="0" rtlCol="0" anchor="t"/>
          <a:lstStyle/>
          <a:p>
            <a:pPr rtl="1" algn="r" indent="0" marL="0">
              <a:buNone/>
            </a:pPr>
            <a:r>
              <a:rPr lang="fa-IR" altLang="en-US" sz="1400" dirty="0">
                <a:solidFill>
                  <a:schemeClr val="tx1"/>
                </a:solidFill>
              </a:rPr>
              <a:t>اولین مورد انسانی تشخیص داده شد؛ ویروس از دهه ۱۹۷۰ در دام و کنه شناخته شده بود</a:t>
            </a:r>
            <a:endParaRPr lang="fa-IR" sz="1400" dirty="0"/>
          </a:p>
        </p:txBody>
      </p:sp>
      <p:sp>
        <p:nvSpPr>
          <p:cNvPr id="6" name="stat-1"/>
          <p:cNvSpPr/>
          <p:nvPr/>
        </p:nvSpPr>
        <p:spPr>
          <a:xfrm>
            <a:off x="4314139" y="1371600"/>
            <a:ext cx="3566160" cy="2743200"/>
          </a:xfrm>
          <a:prstGeom prst="roundRect">
            <a:avLst>
              <a:gd name="adj" fmla="val 4000"/>
            </a:avLst>
          </a:prstGeom>
          <a:solidFill>
            <a:schemeClr val="bg2"/>
          </a:solidFill>
          <a:ln w="12700">
            <a:solidFill>
              <a:schemeClr val="bg2"/>
            </a:solidFill>
            <a:prstDash val="solid"/>
          </a:ln>
        </p:spPr>
      </p:sp>
      <p:sp>
        <p:nvSpPr>
          <p:cNvPr id="7" name="Text 5"/>
          <p:cNvSpPr txBox="1"/>
          <p:nvPr/>
        </p:nvSpPr>
        <p:spPr>
          <a:xfrm>
            <a:off x="4542739" y="1554480"/>
            <a:ext cx="3108960" cy="914400"/>
          </a:xfrm>
          <a:prstGeom prst="rect">
            <a:avLst/>
          </a:prstGeom>
          <a:noFill/>
          <a:ln/>
        </p:spPr>
        <p:txBody>
          <a:bodyPr wrap="square" lIns="0" tIns="0" rIns="0" bIns="0" rtlCol="0" anchor="ctr"/>
          <a:lstStyle/>
          <a:p>
            <a:pPr rtl="1" algn="r" indent="0" marL="0">
              <a:buNone/>
            </a:pPr>
            <a:r>
              <a:rPr lang="fa-IR" altLang="en-US" sz="4000" b="1" dirty="0">
                <a:solidFill>
                  <a:schemeClr val="accent1"/>
                </a:solidFill>
              </a:rPr>
              <a:t>۱۷/۶٪</a:t>
            </a:r>
            <a:endParaRPr lang="fa-IR" sz="4000" dirty="0"/>
          </a:p>
        </p:txBody>
      </p:sp>
      <p:sp>
        <p:nvSpPr>
          <p:cNvPr id="8" name="Text 6"/>
          <p:cNvSpPr txBox="1"/>
          <p:nvPr/>
        </p:nvSpPr>
        <p:spPr>
          <a:xfrm>
            <a:off x="4542739" y="2560320"/>
            <a:ext cx="3108960" cy="1417320"/>
          </a:xfrm>
          <a:prstGeom prst="rect">
            <a:avLst/>
          </a:prstGeom>
          <a:noFill/>
          <a:ln/>
        </p:spPr>
        <p:txBody>
          <a:bodyPr wrap="square" lIns="0" tIns="0" rIns="0" bIns="0" rtlCol="0" anchor="t"/>
          <a:lstStyle/>
          <a:p>
            <a:pPr rtl="1" algn="r" indent="0" marL="0">
              <a:buNone/>
            </a:pPr>
            <a:r>
              <a:rPr lang="fa-IR" altLang="en-US" sz="1400" dirty="0">
                <a:solidFill>
                  <a:schemeClr val="tx1"/>
                </a:solidFill>
              </a:rPr>
              <a:t>میزان کشندگی ۸۷۰ مورد تأییدشده تا ژانویه ۲۰۱۲، با ۱۲۶ مرگ در ۲۶ استان از ۳۱ استان</a:t>
            </a:r>
            <a:endParaRPr lang="fa-IR" sz="1400" dirty="0"/>
          </a:p>
        </p:txBody>
      </p:sp>
      <p:sp>
        <p:nvSpPr>
          <p:cNvPr id="9" name="stat-2"/>
          <p:cNvSpPr/>
          <p:nvPr/>
        </p:nvSpPr>
        <p:spPr>
          <a:xfrm>
            <a:off x="551383" y="1371600"/>
            <a:ext cx="3566160" cy="2743200"/>
          </a:xfrm>
          <a:prstGeom prst="roundRect">
            <a:avLst>
              <a:gd name="adj" fmla="val 4000"/>
            </a:avLst>
          </a:prstGeom>
          <a:solidFill>
            <a:schemeClr val="bg2"/>
          </a:solidFill>
          <a:ln w="12700">
            <a:solidFill>
              <a:schemeClr val="bg2"/>
            </a:solidFill>
            <a:prstDash val="solid"/>
          </a:ln>
        </p:spPr>
      </p:sp>
      <p:sp>
        <p:nvSpPr>
          <p:cNvPr id="10" name="Text 8"/>
          <p:cNvSpPr txBox="1"/>
          <p:nvPr/>
        </p:nvSpPr>
        <p:spPr>
          <a:xfrm>
            <a:off x="779983" y="1554480"/>
            <a:ext cx="3108960" cy="914400"/>
          </a:xfrm>
          <a:prstGeom prst="rect">
            <a:avLst/>
          </a:prstGeom>
          <a:noFill/>
          <a:ln/>
        </p:spPr>
        <p:txBody>
          <a:bodyPr wrap="square" lIns="0" tIns="0" rIns="0" bIns="0" rtlCol="0" anchor="ctr"/>
          <a:lstStyle/>
          <a:p>
            <a:pPr rtl="1" algn="r" indent="0" marL="0">
              <a:buNone/>
            </a:pPr>
            <a:r>
              <a:rPr lang="fa-IR" altLang="en-US" sz="4000" b="1" dirty="0">
                <a:solidFill>
                  <a:schemeClr val="tx2"/>
                </a:solidFill>
              </a:rPr>
              <a:t>۸ تا ۲۰٪</a:t>
            </a:r>
            <a:endParaRPr lang="fa-IR" sz="4000" dirty="0"/>
          </a:p>
        </p:txBody>
      </p:sp>
      <p:sp>
        <p:nvSpPr>
          <p:cNvPr id="11" name="Text 9"/>
          <p:cNvSpPr txBox="1"/>
          <p:nvPr/>
        </p:nvSpPr>
        <p:spPr>
          <a:xfrm>
            <a:off x="779983" y="2560320"/>
            <a:ext cx="3108960" cy="1417320"/>
          </a:xfrm>
          <a:prstGeom prst="rect">
            <a:avLst/>
          </a:prstGeom>
          <a:noFill/>
          <a:ln/>
        </p:spPr>
        <p:txBody>
          <a:bodyPr wrap="square" lIns="0" tIns="0" rIns="0" bIns="0" rtlCol="0" anchor="t"/>
          <a:lstStyle/>
          <a:p>
            <a:pPr rtl="1" algn="r" indent="0" marL="0">
              <a:buNone/>
            </a:pPr>
            <a:r>
              <a:rPr lang="fa-IR" altLang="en-US" sz="1400" dirty="0">
                <a:solidFill>
                  <a:schemeClr val="tx1"/>
                </a:solidFill>
              </a:rPr>
              <a:t>دامنه میزان کشندگی در مطالعات ایران بین ۲۰۰۵ و ۲۰۲۵</a:t>
            </a:r>
            <a:endParaRPr lang="fa-IR" sz="1400" dirty="0"/>
          </a:p>
        </p:txBody>
      </p:sp>
      <p:sp>
        <p:nvSpPr>
          <p:cNvPr id="12" name="sb-card"/>
          <p:cNvSpPr/>
          <p:nvPr/>
        </p:nvSpPr>
        <p:spPr>
          <a:xfrm>
            <a:off x="548640" y="4343400"/>
            <a:ext cx="11091672" cy="1508760"/>
          </a:xfrm>
          <a:prstGeom prst="roundRect">
            <a:avLst>
              <a:gd name="adj" fmla="val 7273"/>
            </a:avLst>
          </a:prstGeom>
          <a:solidFill>
            <a:schemeClr val="tx2"/>
          </a:solidFill>
          <a:ln w="12700">
            <a:solidFill>
              <a:schemeClr val="tx2"/>
            </a:solidFill>
            <a:prstDash val="solid"/>
          </a:ln>
        </p:spPr>
      </p:sp>
      <p:sp>
        <p:nvSpPr>
          <p:cNvPr id="13" name="sb-circle"/>
          <p:cNvSpPr/>
          <p:nvPr/>
        </p:nvSpPr>
        <p:spPr>
          <a:xfrm>
            <a:off x="10607040" y="4553712"/>
            <a:ext cx="777240" cy="777240"/>
          </a:xfrm>
          <a:prstGeom prst="ellipse">
            <a:avLst/>
          </a:prstGeom>
          <a:solidFill>
            <a:schemeClr val="accent5"/>
          </a:solidFill>
          <a:ln w="12700">
            <a:solidFill>
              <a:schemeClr val="accent5"/>
            </a:solidFill>
            <a:prstDash val="solid"/>
          </a:ln>
        </p:spPr>
      </p:sp>
      <p:pic>
        <p:nvPicPr>
          <p:cNvPr id="14" name="sb-icon" descr="preencoded.png">    </p:cNvPr>
          <p:cNvPicPr>
            <a:picLocks noChangeAspect="1"/>
          </p:cNvPicPr>
          <p:nvPr/>
        </p:nvPicPr>
        <p:blipFill>
          <a:blip r:embed="rId1"/>
          <a:stretch>
            <a:fillRect/>
          </a:stretch>
        </p:blipFill>
        <p:spPr>
          <a:xfrm>
            <a:off x="10778033" y="4724705"/>
            <a:ext cx="435254" cy="435254"/>
          </a:xfrm>
          <a:prstGeom prst="rect">
            <a:avLst/>
          </a:prstGeom>
        </p:spPr>
      </p:pic>
      <p:sp>
        <p:nvSpPr>
          <p:cNvPr id="15" name="Text 12"/>
          <p:cNvSpPr txBox="1"/>
          <p:nvPr/>
        </p:nvSpPr>
        <p:spPr>
          <a:xfrm>
            <a:off x="822960" y="4526280"/>
            <a:ext cx="9601200" cy="1188720"/>
          </a:xfrm>
          <a:prstGeom prst="rect">
            <a:avLst/>
          </a:prstGeom>
          <a:noFill/>
          <a:ln/>
        </p:spPr>
        <p:txBody>
          <a:bodyPr wrap="square" lIns="0" tIns="0" rIns="0" bIns="0" rtlCol="0" anchor="ctr"/>
          <a:lstStyle/>
          <a:p>
            <a:pPr rtl="1" algn="r" indent="0" marL="0">
              <a:buNone/>
            </a:pPr>
            <a:r>
              <a:rPr lang="fa-IR" altLang="en-US" sz="1500" b="1" dirty="0">
                <a:solidFill>
                  <a:schemeClr val="bg1"/>
                </a:solidFill>
              </a:rPr>
              <a:t>سیستان و بلوچستان، ۲۰۱۸ تا ۲۰۲۴: </a:t>
            </a:r>
            <a:pPr rtl="1" algn="r" indent="0" marL="0">
              <a:buNone/>
            </a:pPr>
            <a:r>
              <a:rPr lang="fa-IR" altLang="en-US" sz="1500" dirty="0">
                <a:solidFill>
                  <a:schemeClr val="bg1"/>
                </a:solidFill>
              </a:rPr>
              <a:t>از ۴۳۳ مورد ثبت‌شده، ۹۱ مورد قطعی و ۱۶ مورد محتمل بودند و میزان کشندگی ۱۱٪ بود. بیشترین موارد در ۲۰۱۹ (۱۶۷) و کمترین در ۲۰۲۴ (۱۵) ثبت شد؛ روند نزولی است.</a:t>
            </a:r>
            <a:endParaRPr lang="fa-IR" sz="1500" dirty="0"/>
          </a:p>
        </p:txBody>
      </p:sp>
      <p:sp>
        <p:nvSpPr>
          <p:cNvPr id="16" name="Text 13"/>
          <p:cNvSpPr txBox="1"/>
          <p:nvPr/>
        </p:nvSpPr>
        <p:spPr>
          <a:xfrm>
            <a:off x="548640" y="5943600"/>
            <a:ext cx="1109167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Keshtkar-Jahromi و همکاران، Antiviral Res ۲۰۱۳ · Mohammadi و همکاران، Parasite Epidemiol Control ۲۰۲۶ · Nasirian و همکاران، EMHJ ۲۰۲۶</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چه کسانی مبتلا می‌شوند؟</a:t>
            </a:r>
            <a:endParaRPr lang="fa-IR" sz="3000" dirty="0"/>
          </a:p>
        </p:txBody>
      </p:sp>
      <p:sp>
        <p:nvSpPr>
          <p:cNvPr id="3" name="person-0"/>
          <p:cNvSpPr/>
          <p:nvPr/>
        </p:nvSpPr>
        <p:spPr>
          <a:xfrm>
            <a:off x="548640" y="1325880"/>
            <a:ext cx="11091672" cy="1417320"/>
          </a:xfrm>
          <a:prstGeom prst="roundRect">
            <a:avLst>
              <a:gd name="adj" fmla="val 7742"/>
            </a:avLst>
          </a:prstGeom>
          <a:solidFill>
            <a:schemeClr val="bg2"/>
          </a:solidFill>
          <a:ln w="12700">
            <a:solidFill>
              <a:schemeClr val="bg2"/>
            </a:solidFill>
            <a:prstDash val="solid"/>
          </a:ln>
        </p:spPr>
      </p:sp>
      <p:sp>
        <p:nvSpPr>
          <p:cNvPr id="4" name="person-0-circle"/>
          <p:cNvSpPr/>
          <p:nvPr/>
        </p:nvSpPr>
        <p:spPr>
          <a:xfrm>
            <a:off x="10591495" y="1600200"/>
            <a:ext cx="868680" cy="868680"/>
          </a:xfrm>
          <a:prstGeom prst="ellipse">
            <a:avLst/>
          </a:prstGeom>
          <a:solidFill>
            <a:schemeClr val="accent1"/>
          </a:solidFill>
          <a:ln w="12700">
            <a:solidFill>
              <a:schemeClr val="accent1"/>
            </a:solidFill>
            <a:prstDash val="solid"/>
          </a:ln>
        </p:spPr>
      </p:sp>
      <p:pic>
        <p:nvPicPr>
          <p:cNvPr id="5" name="person-0-icon" descr="preencoded.png">    </p:cNvPr>
          <p:cNvPicPr>
            <a:picLocks noChangeAspect="1"/>
          </p:cNvPicPr>
          <p:nvPr/>
        </p:nvPicPr>
        <p:blipFill>
          <a:blip r:embed="rId1"/>
          <a:stretch>
            <a:fillRect/>
          </a:stretch>
        </p:blipFill>
        <p:spPr>
          <a:xfrm>
            <a:off x="10782605" y="1791310"/>
            <a:ext cx="486461" cy="486461"/>
          </a:xfrm>
          <a:prstGeom prst="rect">
            <a:avLst/>
          </a:prstGeom>
        </p:spPr>
      </p:pic>
      <p:sp>
        <p:nvSpPr>
          <p:cNvPr id="6" name="Text 3"/>
          <p:cNvSpPr txBox="1"/>
          <p:nvPr/>
        </p:nvSpPr>
        <p:spPr>
          <a:xfrm>
            <a:off x="7223760" y="1508760"/>
            <a:ext cx="3200400" cy="1051560"/>
          </a:xfrm>
          <a:prstGeom prst="rect">
            <a:avLst/>
          </a:prstGeom>
          <a:noFill/>
          <a:ln/>
        </p:spPr>
        <p:txBody>
          <a:bodyPr wrap="square" lIns="0" tIns="0" rIns="0" bIns="0" rtlCol="0" anchor="ctr"/>
          <a:lstStyle/>
          <a:p>
            <a:pPr rtl="1" algn="r" indent="0" marL="0">
              <a:buNone/>
            </a:pPr>
            <a:r>
              <a:rPr lang="fa-IR" altLang="en-US" sz="1800" b="1" dirty="0">
                <a:solidFill>
                  <a:schemeClr val="tx1"/>
                </a:solidFill>
              </a:rPr>
              <a:t>بزرگسالان مرد و مشاغل پرخطر</a:t>
            </a:r>
            <a:endParaRPr lang="fa-IR" sz="1800" dirty="0"/>
          </a:p>
        </p:txBody>
      </p:sp>
      <p:sp>
        <p:nvSpPr>
          <p:cNvPr id="7" name="Text 4"/>
          <p:cNvSpPr txBox="1"/>
          <p:nvPr/>
        </p:nvSpPr>
        <p:spPr>
          <a:xfrm>
            <a:off x="777240" y="1463040"/>
            <a:ext cx="6263640" cy="1143000"/>
          </a:xfrm>
          <a:prstGeom prst="rect">
            <a:avLst/>
          </a:prstGeom>
          <a:noFill/>
          <a:ln/>
        </p:spPr>
        <p:txBody>
          <a:bodyPr wrap="square" lIns="0" tIns="0" rIns="0" bIns="0" rtlCol="0" anchor="ctr"/>
          <a:lstStyle/>
          <a:p>
            <a:pPr rtl="1" algn="r" indent="0" marL="0">
              <a:buNone/>
            </a:pPr>
            <a:r>
              <a:rPr lang="fa-IR" altLang="en-US" sz="1400" dirty="0">
                <a:solidFill>
                  <a:schemeClr val="tx1"/>
                </a:solidFill>
              </a:rPr>
              <a:t>مردان ۱۵ تا ۴۴ ساله؛ دامداران، کارگران کشتارگاه و قصابان؛ و زنان خانه‌دار که در ذبح خانگی کمک می‌کنند</a:t>
            </a:r>
            <a:endParaRPr lang="fa-IR" sz="1400" dirty="0"/>
          </a:p>
        </p:txBody>
      </p:sp>
      <p:sp>
        <p:nvSpPr>
          <p:cNvPr id="8" name="person-1"/>
          <p:cNvSpPr/>
          <p:nvPr/>
        </p:nvSpPr>
        <p:spPr>
          <a:xfrm>
            <a:off x="548640" y="2898648"/>
            <a:ext cx="11091672" cy="1417320"/>
          </a:xfrm>
          <a:prstGeom prst="roundRect">
            <a:avLst>
              <a:gd name="adj" fmla="val 7742"/>
            </a:avLst>
          </a:prstGeom>
          <a:solidFill>
            <a:schemeClr val="bg2"/>
          </a:solidFill>
          <a:ln w="12700">
            <a:solidFill>
              <a:schemeClr val="bg2"/>
            </a:solidFill>
            <a:prstDash val="solid"/>
          </a:ln>
        </p:spPr>
      </p:sp>
      <p:sp>
        <p:nvSpPr>
          <p:cNvPr id="9" name="person-1-circle"/>
          <p:cNvSpPr/>
          <p:nvPr/>
        </p:nvSpPr>
        <p:spPr>
          <a:xfrm>
            <a:off x="10591495" y="3172968"/>
            <a:ext cx="868680" cy="868680"/>
          </a:xfrm>
          <a:prstGeom prst="ellipse">
            <a:avLst/>
          </a:prstGeom>
          <a:solidFill>
            <a:schemeClr val="accent2"/>
          </a:solidFill>
          <a:ln w="12700">
            <a:solidFill>
              <a:schemeClr val="accent2"/>
            </a:solidFill>
            <a:prstDash val="solid"/>
          </a:ln>
        </p:spPr>
      </p:sp>
      <p:pic>
        <p:nvPicPr>
          <p:cNvPr id="10" name="person-1-icon" descr="preencoded.png">    </p:cNvPr>
          <p:cNvPicPr>
            <a:picLocks noChangeAspect="1"/>
          </p:cNvPicPr>
          <p:nvPr/>
        </p:nvPicPr>
        <p:blipFill>
          <a:blip r:embed="rId2"/>
          <a:stretch>
            <a:fillRect/>
          </a:stretch>
        </p:blipFill>
        <p:spPr>
          <a:xfrm>
            <a:off x="10782605" y="3364078"/>
            <a:ext cx="486461" cy="486461"/>
          </a:xfrm>
          <a:prstGeom prst="rect">
            <a:avLst/>
          </a:prstGeom>
        </p:spPr>
      </p:pic>
      <p:sp>
        <p:nvSpPr>
          <p:cNvPr id="11" name="Text 7"/>
          <p:cNvSpPr txBox="1"/>
          <p:nvPr/>
        </p:nvSpPr>
        <p:spPr>
          <a:xfrm>
            <a:off x="7223760" y="3081528"/>
            <a:ext cx="3200400" cy="1051560"/>
          </a:xfrm>
          <a:prstGeom prst="rect">
            <a:avLst/>
          </a:prstGeom>
          <a:noFill/>
          <a:ln/>
        </p:spPr>
        <p:txBody>
          <a:bodyPr wrap="square" lIns="0" tIns="0" rIns="0" bIns="0" rtlCol="0" anchor="ctr"/>
          <a:lstStyle/>
          <a:p>
            <a:pPr rtl="1" algn="r" indent="0" marL="0">
              <a:buNone/>
            </a:pPr>
            <a:r>
              <a:rPr lang="fa-IR" altLang="en-US" sz="1800" b="1" dirty="0">
                <a:solidFill>
                  <a:schemeClr val="tx1"/>
                </a:solidFill>
              </a:rPr>
              <a:t>کودکان</a:t>
            </a:r>
            <a:endParaRPr lang="fa-IR" sz="1800" dirty="0"/>
          </a:p>
        </p:txBody>
      </p:sp>
      <p:sp>
        <p:nvSpPr>
          <p:cNvPr id="12" name="Text 8"/>
          <p:cNvSpPr txBox="1"/>
          <p:nvPr/>
        </p:nvSpPr>
        <p:spPr>
          <a:xfrm>
            <a:off x="777240" y="3035808"/>
            <a:ext cx="6263640" cy="1143000"/>
          </a:xfrm>
          <a:prstGeom prst="rect">
            <a:avLst/>
          </a:prstGeom>
          <a:noFill/>
          <a:ln/>
        </p:spPr>
        <p:txBody>
          <a:bodyPr wrap="square" lIns="0" tIns="0" rIns="0" bIns="0" rtlCol="0" anchor="ctr"/>
          <a:lstStyle/>
          <a:p>
            <a:pPr rtl="1" algn="r" indent="0" marL="0">
              <a:buNone/>
            </a:pPr>
            <a:r>
              <a:rPr lang="fa-IR" altLang="en-US" sz="1400" dirty="0">
                <a:solidFill>
                  <a:schemeClr val="tx1"/>
                </a:solidFill>
              </a:rPr>
              <a:t>از ۹۰۸ کودک مشکوک (۲۰۰۰ تا ۲۰۱۶)، ۱۶۱ نفر مثبت بودند؛ ۶۸٪ از سیستان و بلوچستان؛ تماس با دام مهم‌ترین عامل خطر بود؛ مرگ ۱۱/۸٪</a:t>
            </a:r>
            <a:endParaRPr lang="fa-IR" sz="1400" dirty="0"/>
          </a:p>
        </p:txBody>
      </p:sp>
      <p:sp>
        <p:nvSpPr>
          <p:cNvPr id="13" name="person-2"/>
          <p:cNvSpPr/>
          <p:nvPr/>
        </p:nvSpPr>
        <p:spPr>
          <a:xfrm>
            <a:off x="548640" y="4471416"/>
            <a:ext cx="11091672" cy="1417320"/>
          </a:xfrm>
          <a:prstGeom prst="roundRect">
            <a:avLst>
              <a:gd name="adj" fmla="val 7742"/>
            </a:avLst>
          </a:prstGeom>
          <a:solidFill>
            <a:schemeClr val="bg2"/>
          </a:solidFill>
          <a:ln w="12700">
            <a:solidFill>
              <a:schemeClr val="bg2"/>
            </a:solidFill>
            <a:prstDash val="solid"/>
          </a:ln>
        </p:spPr>
      </p:sp>
      <p:sp>
        <p:nvSpPr>
          <p:cNvPr id="14" name="person-2-circle"/>
          <p:cNvSpPr/>
          <p:nvPr/>
        </p:nvSpPr>
        <p:spPr>
          <a:xfrm>
            <a:off x="10591495" y="4745736"/>
            <a:ext cx="868680" cy="868680"/>
          </a:xfrm>
          <a:prstGeom prst="ellipse">
            <a:avLst/>
          </a:prstGeom>
          <a:solidFill>
            <a:schemeClr val="accent3"/>
          </a:solidFill>
          <a:ln w="12700">
            <a:solidFill>
              <a:schemeClr val="accent3"/>
            </a:solidFill>
            <a:prstDash val="solid"/>
          </a:ln>
        </p:spPr>
      </p:sp>
      <p:pic>
        <p:nvPicPr>
          <p:cNvPr id="15" name="person-2-icon" descr="preencoded.png">    </p:cNvPr>
          <p:cNvPicPr>
            <a:picLocks noChangeAspect="1"/>
          </p:cNvPicPr>
          <p:nvPr/>
        </p:nvPicPr>
        <p:blipFill>
          <a:blip r:embed="rId3"/>
          <a:stretch>
            <a:fillRect/>
          </a:stretch>
        </p:blipFill>
        <p:spPr>
          <a:xfrm>
            <a:off x="10782605" y="4936846"/>
            <a:ext cx="486461" cy="486461"/>
          </a:xfrm>
          <a:prstGeom prst="rect">
            <a:avLst/>
          </a:prstGeom>
        </p:spPr>
      </p:pic>
      <p:sp>
        <p:nvSpPr>
          <p:cNvPr id="16" name="Text 11"/>
          <p:cNvSpPr txBox="1"/>
          <p:nvPr/>
        </p:nvSpPr>
        <p:spPr>
          <a:xfrm>
            <a:off x="7223760" y="4654296"/>
            <a:ext cx="3200400" cy="1051560"/>
          </a:xfrm>
          <a:prstGeom prst="rect">
            <a:avLst/>
          </a:prstGeom>
          <a:noFill/>
          <a:ln/>
        </p:spPr>
        <p:txBody>
          <a:bodyPr wrap="square" lIns="0" tIns="0" rIns="0" bIns="0" rtlCol="0" anchor="ctr"/>
          <a:lstStyle/>
          <a:p>
            <a:pPr rtl="1" algn="r" indent="0" marL="0">
              <a:buNone/>
            </a:pPr>
            <a:r>
              <a:rPr lang="fa-IR" altLang="en-US" sz="1800" b="1" dirty="0">
                <a:solidFill>
                  <a:schemeClr val="tx1"/>
                </a:solidFill>
              </a:rPr>
              <a:t>کارکنان سلامت</a:t>
            </a:r>
            <a:endParaRPr lang="fa-IR" sz="1800" dirty="0"/>
          </a:p>
        </p:txBody>
      </p:sp>
      <p:sp>
        <p:nvSpPr>
          <p:cNvPr id="17" name="Text 12"/>
          <p:cNvSpPr txBox="1"/>
          <p:nvPr/>
        </p:nvSpPr>
        <p:spPr>
          <a:xfrm>
            <a:off x="777240" y="4608576"/>
            <a:ext cx="6263640" cy="1143000"/>
          </a:xfrm>
          <a:prstGeom prst="rect">
            <a:avLst/>
          </a:prstGeom>
          <a:noFill/>
          <a:ln/>
        </p:spPr>
        <p:txBody>
          <a:bodyPr wrap="square" lIns="0" tIns="0" rIns="0" bIns="0" rtlCol="0" anchor="ctr"/>
          <a:lstStyle/>
          <a:p>
            <a:pPr rtl="1" algn="r" indent="0" marL="0">
              <a:buNone/>
            </a:pPr>
            <a:r>
              <a:rPr lang="fa-IR" altLang="en-US" sz="1400" dirty="0">
                <a:solidFill>
                  <a:schemeClr val="tx1"/>
                </a:solidFill>
              </a:rPr>
              <a:t>۱۲ مورد قطعی در پرستاران و پزشکان (۲۰۰۰ تا ۲۰۲۳)؛ از راه سرسوزن، پاشیدن خون به صورت و تماس پوستی؛ از ۲۰۱۳ موردی گزارش نشده</a:t>
            </a:r>
            <a:endParaRPr lang="fa-IR" sz="1400" dirty="0"/>
          </a:p>
        </p:txBody>
      </p:sp>
      <p:sp>
        <p:nvSpPr>
          <p:cNvPr id="18" name="Text 13"/>
          <p:cNvSpPr txBox="1"/>
          <p:nvPr/>
        </p:nvSpPr>
        <p:spPr>
          <a:xfrm>
            <a:off x="548640" y="6080760"/>
            <a:ext cx="1109167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Mohammadi و همکاران ۲۰۲۶ · Aslani و همکاران، Arch Virol ۲۰۱۷ · Fazlalipour و همکاران، BMC Infect Dis ۲۰۲۴</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زمان: تابستان و عید قربان</a:t>
            </a:r>
            <a:endParaRPr lang="fa-IR" sz="3000" dirty="0"/>
          </a:p>
        </p:txBody>
      </p:sp>
      <p:sp>
        <p:nvSpPr>
          <p:cNvPr id="3" name="iran-time"/>
          <p:cNvSpPr/>
          <p:nvPr/>
        </p:nvSpPr>
        <p:spPr>
          <a:xfrm>
            <a:off x="6263640" y="1371600"/>
            <a:ext cx="5376672" cy="2103120"/>
          </a:xfrm>
          <a:prstGeom prst="roundRect">
            <a:avLst>
              <a:gd name="adj" fmla="val 5217"/>
            </a:avLst>
          </a:prstGeom>
          <a:solidFill>
            <a:schemeClr val="bg2"/>
          </a:solidFill>
          <a:ln w="12700">
            <a:solidFill>
              <a:schemeClr val="bg2"/>
            </a:solidFill>
            <a:prstDash val="solid"/>
          </a:ln>
        </p:spPr>
      </p:sp>
      <p:sp>
        <p:nvSpPr>
          <p:cNvPr id="4" name="time-iran-circle"/>
          <p:cNvSpPr/>
          <p:nvPr/>
        </p:nvSpPr>
        <p:spPr>
          <a:xfrm>
            <a:off x="10561320" y="1554480"/>
            <a:ext cx="777240" cy="777240"/>
          </a:xfrm>
          <a:prstGeom prst="ellipse">
            <a:avLst/>
          </a:prstGeom>
          <a:solidFill>
            <a:schemeClr val="accent5"/>
          </a:solidFill>
          <a:ln w="12700">
            <a:solidFill>
              <a:schemeClr val="accent5"/>
            </a:solidFill>
            <a:prstDash val="solid"/>
          </a:ln>
        </p:spPr>
      </p:sp>
      <p:pic>
        <p:nvPicPr>
          <p:cNvPr id="5" name="time-iran-icon" descr="preencoded.png">    </p:cNvPr>
          <p:cNvPicPr>
            <a:picLocks noChangeAspect="1"/>
          </p:cNvPicPr>
          <p:nvPr/>
        </p:nvPicPr>
        <p:blipFill>
          <a:blip r:embed="rId1"/>
          <a:stretch>
            <a:fillRect/>
          </a:stretch>
        </p:blipFill>
        <p:spPr>
          <a:xfrm>
            <a:off x="10732313" y="1725473"/>
            <a:ext cx="435254" cy="435254"/>
          </a:xfrm>
          <a:prstGeom prst="rect">
            <a:avLst/>
          </a:prstGeom>
        </p:spPr>
      </p:pic>
      <p:sp>
        <p:nvSpPr>
          <p:cNvPr id="6" name="Text 3"/>
          <p:cNvSpPr txBox="1"/>
          <p:nvPr/>
        </p:nvSpPr>
        <p:spPr>
          <a:xfrm>
            <a:off x="6492240" y="1600200"/>
            <a:ext cx="3840480" cy="411480"/>
          </a:xfrm>
          <a:prstGeom prst="rect">
            <a:avLst/>
          </a:prstGeom>
          <a:noFill/>
          <a:ln/>
        </p:spPr>
        <p:txBody>
          <a:bodyPr wrap="square" lIns="0" tIns="0" rIns="0" bIns="0" rtlCol="0" anchor="t"/>
          <a:lstStyle/>
          <a:p>
            <a:pPr rtl="1" algn="r" indent="0" marL="0">
              <a:buNone/>
            </a:pPr>
            <a:r>
              <a:rPr lang="fa-IR" altLang="en-US" sz="1900" b="1" dirty="0">
                <a:solidFill>
                  <a:schemeClr val="tx1"/>
                </a:solidFill>
              </a:rPr>
              <a:t>ایران</a:t>
            </a:r>
            <a:endParaRPr lang="fa-IR" sz="1900" dirty="0"/>
          </a:p>
        </p:txBody>
      </p:sp>
      <p:sp>
        <p:nvSpPr>
          <p:cNvPr id="7" name="Text 4"/>
          <p:cNvSpPr txBox="1"/>
          <p:nvPr/>
        </p:nvSpPr>
        <p:spPr>
          <a:xfrm>
            <a:off x="6492240" y="2103120"/>
            <a:ext cx="3931920" cy="1325880"/>
          </a:xfrm>
          <a:prstGeom prst="rect">
            <a:avLst/>
          </a:prstGeom>
          <a:noFill/>
          <a:ln/>
        </p:spPr>
        <p:txBody>
          <a:bodyPr wrap="square" lIns="0" tIns="0" rIns="0" bIns="0" rtlCol="0" anchor="t"/>
          <a:lstStyle/>
          <a:p>
            <a:pPr rtl="1" algn="r" indent="0" marL="0">
              <a:buNone/>
            </a:pPr>
            <a:r>
              <a:rPr lang="fa-IR" altLang="en-US" sz="1400" dirty="0">
                <a:solidFill>
                  <a:schemeClr val="tx1"/>
                </a:solidFill>
              </a:rPr>
              <a:t>در ۱۰۲۷ مورد (۲۰۰۰ تا ۲۰۱۴) تابستان فصل غالب شکل‌گیری خوشه‌ها بود. در سیستان و بلوچستان (۲۰۱۸ تا ۲۰۲۴) موارد در ماه‌های زمستان بیشتر بود.</a:t>
            </a:r>
            <a:endParaRPr lang="fa-IR" sz="1400" dirty="0"/>
          </a:p>
        </p:txBody>
      </p:sp>
      <p:sp>
        <p:nvSpPr>
          <p:cNvPr id="8" name="neighbour-time"/>
          <p:cNvSpPr/>
          <p:nvPr/>
        </p:nvSpPr>
        <p:spPr>
          <a:xfrm>
            <a:off x="548640" y="1371600"/>
            <a:ext cx="5468112" cy="2103120"/>
          </a:xfrm>
          <a:prstGeom prst="roundRect">
            <a:avLst>
              <a:gd name="adj" fmla="val 5217"/>
            </a:avLst>
          </a:prstGeom>
          <a:solidFill>
            <a:schemeClr val="tx2"/>
          </a:solidFill>
          <a:ln w="12700">
            <a:solidFill>
              <a:schemeClr val="tx2"/>
            </a:solidFill>
            <a:prstDash val="solid"/>
          </a:ln>
        </p:spPr>
      </p:sp>
      <p:sp>
        <p:nvSpPr>
          <p:cNvPr id="9" name="Text 6"/>
          <p:cNvSpPr txBox="1"/>
          <p:nvPr/>
        </p:nvSpPr>
        <p:spPr>
          <a:xfrm>
            <a:off x="777240" y="1600200"/>
            <a:ext cx="5029200" cy="411480"/>
          </a:xfrm>
          <a:prstGeom prst="rect">
            <a:avLst/>
          </a:prstGeom>
          <a:noFill/>
          <a:ln/>
        </p:spPr>
        <p:txBody>
          <a:bodyPr wrap="square" lIns="0" tIns="0" rIns="0" bIns="0" rtlCol="0" anchor="t"/>
          <a:lstStyle/>
          <a:p>
            <a:pPr rtl="1" algn="r" indent="0" marL="0">
              <a:buNone/>
            </a:pPr>
            <a:r>
              <a:rPr lang="fa-IR" altLang="en-US" sz="1900" b="1" dirty="0">
                <a:solidFill>
                  <a:schemeClr val="bg1"/>
                </a:solidFill>
              </a:rPr>
              <a:t>همسایگان: شواهد روشن عید قربان</a:t>
            </a:r>
            <a:endParaRPr lang="fa-IR" sz="1900" dirty="0"/>
          </a:p>
        </p:txBody>
      </p:sp>
      <p:sp>
        <p:nvSpPr>
          <p:cNvPr id="10" name="Text 7"/>
          <p:cNvSpPr txBox="1"/>
          <p:nvPr/>
        </p:nvSpPr>
        <p:spPr>
          <a:xfrm>
            <a:off x="777240" y="2103120"/>
            <a:ext cx="5029200" cy="1325880"/>
          </a:xfrm>
          <a:prstGeom prst="rect">
            <a:avLst/>
          </a:prstGeom>
          <a:noFill/>
          <a:ln/>
        </p:spPr>
        <p:txBody>
          <a:bodyPr wrap="square" lIns="0" tIns="0" rIns="0" bIns="0" rtlCol="0" anchor="t"/>
          <a:lstStyle/>
          <a:p>
            <a:pPr rtl="1" algn="r" indent="0" marL="0">
              <a:buNone/>
            </a:pPr>
            <a:r>
              <a:rPr lang="fa-IR" altLang="en-US" sz="1400" dirty="0">
                <a:solidFill>
                  <a:schemeClr val="bg1"/>
                </a:solidFill>
              </a:rPr>
              <a:t>در ایالت سند پاکستان، ۳۸٪ موارد در ۱۳ روزِ هنگام و پس از عید قربان شروع شدند. در افغانستان، در ماه‌های عید (۲۰۱۵ تا ۲۰۲۴) ۸۰۴ مورد و ۱۷۶ مرگ ثبت شد.</a:t>
            </a:r>
            <a:endParaRPr lang="fa-IR" sz="1400" dirty="0"/>
          </a:p>
        </p:txBody>
      </p:sp>
      <p:sp>
        <p:nvSpPr>
          <p:cNvPr id="11" name="or-card"/>
          <p:cNvSpPr/>
          <p:nvPr/>
        </p:nvSpPr>
        <p:spPr>
          <a:xfrm>
            <a:off x="548640" y="3703320"/>
            <a:ext cx="11091672" cy="2057400"/>
          </a:xfrm>
          <a:prstGeom prst="roundRect">
            <a:avLst>
              <a:gd name="adj" fmla="val 5333"/>
            </a:avLst>
          </a:prstGeom>
          <a:solidFill>
            <a:schemeClr val="bg2"/>
          </a:solidFill>
          <a:ln w="12700">
            <a:solidFill>
              <a:schemeClr val="bg2"/>
            </a:solidFill>
            <a:prstDash val="solid"/>
          </a:ln>
        </p:spPr>
      </p:sp>
      <p:sp>
        <p:nvSpPr>
          <p:cNvPr id="12" name="Text 9"/>
          <p:cNvSpPr txBox="1"/>
          <p:nvPr/>
        </p:nvSpPr>
        <p:spPr>
          <a:xfrm>
            <a:off x="8412480" y="3840480"/>
            <a:ext cx="3017520" cy="1463040"/>
          </a:xfrm>
          <a:prstGeom prst="rect">
            <a:avLst/>
          </a:prstGeom>
          <a:noFill/>
          <a:ln/>
        </p:spPr>
        <p:txBody>
          <a:bodyPr wrap="square" lIns="0" tIns="0" rIns="0" bIns="0" rtlCol="0" anchor="ctr"/>
          <a:lstStyle/>
          <a:p>
            <a:pPr rtl="1" algn="ctr" indent="0" marL="0">
              <a:buNone/>
            </a:pPr>
            <a:r>
              <a:rPr lang="fa-IR" altLang="en-US" sz="6600" b="1" dirty="0">
                <a:solidFill>
                  <a:schemeClr val="accent1"/>
                </a:solidFill>
              </a:rPr>
              <a:t>۱۰۲</a:t>
            </a:r>
            <a:endParaRPr lang="fa-IR" sz="6600" dirty="0"/>
          </a:p>
        </p:txBody>
      </p:sp>
      <p:sp>
        <p:nvSpPr>
          <p:cNvPr id="13" name="Text 10"/>
          <p:cNvSpPr txBox="1"/>
          <p:nvPr/>
        </p:nvSpPr>
        <p:spPr>
          <a:xfrm>
            <a:off x="8412480" y="5212080"/>
            <a:ext cx="3017520" cy="365760"/>
          </a:xfrm>
          <a:prstGeom prst="rect">
            <a:avLst/>
          </a:prstGeom>
          <a:noFill/>
          <a:ln/>
        </p:spPr>
        <p:txBody>
          <a:bodyPr wrap="square" lIns="0" tIns="0" rIns="0" bIns="0" rtlCol="0" anchor="t"/>
          <a:lstStyle/>
          <a:p>
            <a:pPr rtl="1" algn="ctr" indent="0" marL="0">
              <a:buNone/>
            </a:pPr>
            <a:r>
              <a:rPr lang="fa-IR" altLang="en-US" sz="1400" dirty="0">
                <a:solidFill>
                  <a:schemeClr val="accent4"/>
                </a:solidFill>
              </a:rPr>
              <a:t>نسبت شانس</a:t>
            </a:r>
            <a:endParaRPr lang="fa-IR" sz="1400" dirty="0"/>
          </a:p>
        </p:txBody>
      </p:sp>
      <p:sp>
        <p:nvSpPr>
          <p:cNvPr id="14" name="Text 11"/>
          <p:cNvSpPr txBox="1"/>
          <p:nvPr/>
        </p:nvSpPr>
        <p:spPr>
          <a:xfrm>
            <a:off x="822960" y="3977640"/>
            <a:ext cx="7315200" cy="1600200"/>
          </a:xfrm>
          <a:prstGeom prst="rect">
            <a:avLst/>
          </a:prstGeom>
          <a:noFill/>
          <a:ln/>
        </p:spPr>
        <p:txBody>
          <a:bodyPr wrap="square" lIns="0" tIns="0" rIns="0" bIns="0" rtlCol="0" anchor="ctr"/>
          <a:lstStyle/>
          <a:p>
            <a:pPr rtl="1" algn="r" indent="0" marL="0">
              <a:buNone/>
            </a:pPr>
            <a:r>
              <a:rPr lang="fa-IR" altLang="en-US" sz="1600" dirty="0">
                <a:solidFill>
                  <a:schemeClr val="tx1"/>
                </a:solidFill>
              </a:rPr>
              <a:t>در مطالعه مورد-شاهدی کراچی، مراجعه مردم عادی (نه فقط مشاغل پرخطر) به بازار فصلی دام برای عید با CCHF همراه بود. این بازار تا ۷۰۰ هزار رأس دام را در یک جا جمع می‌کرد.</a:t>
            </a:r>
            <a:endParaRPr lang="fa-IR" sz="1600" dirty="0"/>
          </a:p>
        </p:txBody>
      </p:sp>
      <p:sp>
        <p:nvSpPr>
          <p:cNvPr id="15" name="Text 12"/>
          <p:cNvSpPr txBox="1"/>
          <p:nvPr/>
        </p:nvSpPr>
        <p:spPr>
          <a:xfrm>
            <a:off x="548640" y="5943600"/>
            <a:ext cx="1109167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Ahmadkhani و همکاران ۲۰۱۸ · Nasirian و همکاران ۲۰۲۶ · Syed و همکاران، IJID ۲۰۲۴ · Hamdard و همکاران، J Infect Public Health ۲۰۲۴</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کنه‌های شتر بیشترین آلودگی گزارش‌شده را دارند</a:t>
            </a:r>
            <a:endParaRPr lang="fa-IR" sz="3000" dirty="0"/>
          </a:p>
        </p:txBody>
      </p:sp>
      <p:graphicFrame>
        <p:nvGraphicFramePr>
          <p:cNvPr id="3" name="tick-host-chart" descr=""/>
          <p:cNvGraphicFramePr/>
          <p:nvPr/>
        </p:nvGraphicFramePr>
        <p:xfrm>
          <a:off x="548640" y="132588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858000" y="1463040"/>
            <a:ext cx="4782312" cy="4389120"/>
          </a:xfrm>
          <a:prstGeom prst="rect">
            <a:avLst/>
          </a:prstGeom>
          <a:noFill/>
          <a:ln/>
        </p:spPr>
        <p:txBody>
          <a:bodyPr wrap="square" lIns="0" tIns="0" rIns="0" bIns="0" rtlCol="0" anchor="t"/>
          <a:lstStyle/>
          <a:p>
            <a:pPr rtl="1" algn="r" marL="342900" indent="-342900">
              <a:spcAft>
                <a:spcPts val="1200"/>
              </a:spcAft>
              <a:buSzPct val="100000"/>
              <a:buChar char="•"/>
            </a:pPr>
            <a:r>
              <a:rPr lang="fa-IR" altLang="en-US" sz="1500" dirty="0">
                <a:solidFill>
                  <a:schemeClr val="tx1"/>
                </a:solidFill>
              </a:rPr>
              <a:t>مرور نظام‌مند ۸۶ مطالعه (۱۹۷۸ تا ۲۰۲۳)؛ میانگین ادغام‌شده آلودگی کنه‌ها ۳/۱٪</a:t>
            </a:r>
            <a:endParaRPr lang="fa-IR" sz="1500" dirty="0"/>
          </a:p>
          <a:p>
            <a:pPr rtl="1" algn="r" marL="342900" indent="-342900">
              <a:spcAft>
                <a:spcPts val="1200"/>
              </a:spcAft>
              <a:buSzPct val="100000"/>
              <a:buChar char="•"/>
            </a:pPr>
            <a:r>
              <a:rPr lang="fa-IR" altLang="en-US" sz="1500" dirty="0">
                <a:solidFill>
                  <a:schemeClr val="tx1"/>
                </a:solidFill>
              </a:rPr>
              <a:t>بیشترین آلودگی گزارش‌شده: اردبیل (۳۰/۵ تا ۳۳/۳٪)، چهارمحال و بختیاری، همدان</a:t>
            </a:r>
            <a:endParaRPr lang="fa-IR" sz="1500" dirty="0"/>
          </a:p>
          <a:p>
            <a:pPr rtl="1" algn="r" marL="342900" indent="-342900">
              <a:spcAft>
                <a:spcPts val="1200"/>
              </a:spcAft>
              <a:buSzPct val="100000"/>
              <a:buChar char="•"/>
            </a:pPr>
            <a:r>
              <a:rPr lang="fa-IR" altLang="en-US" sz="1500" dirty="0">
                <a:solidFill>
                  <a:schemeClr val="tx1"/>
                </a:solidFill>
              </a:rPr>
              <a:t>گونه‌های اصلی: Hyalomma marginatum و Hyalomma anatolicum</a:t>
            </a:r>
            <a:endParaRPr lang="fa-IR" sz="1500" dirty="0"/>
          </a:p>
          <a:p>
            <a:pPr rtl="1" algn="r" marL="342900" indent="-342900">
              <a:spcAft>
                <a:spcPts val="1200"/>
              </a:spcAft>
              <a:buSzPct val="100000"/>
              <a:buChar char="•"/>
            </a:pPr>
            <a:r>
              <a:rPr lang="fa-IR" altLang="en-US" sz="1500" b="1" dirty="0">
                <a:solidFill>
                  <a:schemeClr val="tx1"/>
                </a:solidFill>
              </a:rPr>
              <a:t>هفت استان داده کافی ندارند؛ نبود داده یعنی نبود خطر نیست</a:t>
            </a:r>
            <a:endParaRPr lang="fa-IR" sz="1500" dirty="0"/>
          </a:p>
        </p:txBody>
      </p:sp>
      <p:sp>
        <p:nvSpPr>
          <p:cNvPr id="5" name="Text 2"/>
          <p:cNvSpPr txBox="1"/>
          <p:nvPr/>
        </p:nvSpPr>
        <p:spPr>
          <a:xfrm>
            <a:off x="6858000" y="5989320"/>
            <a:ext cx="478231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Nasirian، Vet Res Commun ۲۰۲۶</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ویروس مرز نمی‌شناسد: شواهد ژنومیک</a:t>
            </a:r>
            <a:endParaRPr lang="fa-IR" sz="3000" dirty="0"/>
          </a:p>
        </p:txBody>
      </p:sp>
      <p:sp>
        <p:nvSpPr>
          <p:cNvPr id="3" name="gen-0"/>
          <p:cNvSpPr/>
          <p:nvPr/>
        </p:nvSpPr>
        <p:spPr>
          <a:xfrm>
            <a:off x="8076895" y="1371600"/>
            <a:ext cx="3566160" cy="4160520"/>
          </a:xfrm>
          <a:prstGeom prst="roundRect">
            <a:avLst>
              <a:gd name="adj" fmla="val 3077"/>
            </a:avLst>
          </a:prstGeom>
          <a:solidFill>
            <a:schemeClr val="bg2"/>
          </a:solidFill>
          <a:ln w="12700">
            <a:solidFill>
              <a:schemeClr val="bg2"/>
            </a:solidFill>
            <a:prstDash val="solid"/>
          </a:ln>
        </p:spPr>
      </p:sp>
      <p:sp>
        <p:nvSpPr>
          <p:cNvPr id="4" name="gen-0-circle"/>
          <p:cNvSpPr/>
          <p:nvPr/>
        </p:nvSpPr>
        <p:spPr>
          <a:xfrm>
            <a:off x="10591495" y="1600200"/>
            <a:ext cx="822960" cy="822960"/>
          </a:xfrm>
          <a:prstGeom prst="ellipse">
            <a:avLst/>
          </a:prstGeom>
          <a:solidFill>
            <a:schemeClr val="accent3"/>
          </a:solidFill>
          <a:ln w="12700">
            <a:solidFill>
              <a:schemeClr val="accent3"/>
            </a:solidFill>
            <a:prstDash val="solid"/>
          </a:ln>
        </p:spPr>
      </p:sp>
      <p:pic>
        <p:nvPicPr>
          <p:cNvPr id="5" name="gen-0-icon" descr="preencoded.png">    </p:cNvPr>
          <p:cNvPicPr>
            <a:picLocks noChangeAspect="1"/>
          </p:cNvPicPr>
          <p:nvPr/>
        </p:nvPicPr>
        <p:blipFill>
          <a:blip r:embed="rId1"/>
          <a:stretch>
            <a:fillRect/>
          </a:stretch>
        </p:blipFill>
        <p:spPr>
          <a:xfrm>
            <a:off x="10772546" y="1781251"/>
            <a:ext cx="460858" cy="460858"/>
          </a:xfrm>
          <a:prstGeom prst="rect">
            <a:avLst/>
          </a:prstGeom>
        </p:spPr>
      </p:pic>
      <p:sp>
        <p:nvSpPr>
          <p:cNvPr id="6" name="Text 3"/>
          <p:cNvSpPr txBox="1"/>
          <p:nvPr/>
        </p:nvSpPr>
        <p:spPr>
          <a:xfrm>
            <a:off x="8305495" y="2606040"/>
            <a:ext cx="3108960" cy="457200"/>
          </a:xfrm>
          <a:prstGeom prst="rect">
            <a:avLst/>
          </a:prstGeom>
          <a:noFill/>
          <a:ln/>
        </p:spPr>
        <p:txBody>
          <a:bodyPr wrap="square" lIns="0" tIns="0" rIns="0" bIns="0" rtlCol="0" anchor="t"/>
          <a:lstStyle/>
          <a:p>
            <a:pPr rtl="1" algn="r" indent="0" marL="0">
              <a:buNone/>
            </a:pPr>
            <a:r>
              <a:rPr lang="fa-IR" altLang="en-US" sz="1800" b="1" dirty="0">
                <a:solidFill>
                  <a:schemeClr val="tx1"/>
                </a:solidFill>
              </a:rPr>
              <a:t>یک کلاد مشترک</a:t>
            </a:r>
            <a:endParaRPr lang="fa-IR" sz="1800" dirty="0"/>
          </a:p>
        </p:txBody>
      </p:sp>
      <p:sp>
        <p:nvSpPr>
          <p:cNvPr id="7" name="Text 4"/>
          <p:cNvSpPr txBox="1"/>
          <p:nvPr/>
        </p:nvSpPr>
        <p:spPr>
          <a:xfrm>
            <a:off x="8305495" y="3154680"/>
            <a:ext cx="3108960" cy="2286000"/>
          </a:xfrm>
          <a:prstGeom prst="rect">
            <a:avLst/>
          </a:prstGeom>
          <a:noFill/>
          <a:ln/>
        </p:spPr>
        <p:txBody>
          <a:bodyPr wrap="square" lIns="0" tIns="0" rIns="0" bIns="0" rtlCol="0" anchor="t"/>
          <a:lstStyle/>
          <a:p>
            <a:pPr rtl="1" algn="r" indent="0" marL="0">
              <a:buNone/>
            </a:pPr>
            <a:r>
              <a:rPr lang="fa-IR" altLang="en-US" sz="1400" dirty="0">
                <a:solidFill>
                  <a:schemeClr val="tx1"/>
                </a:solidFill>
              </a:rPr>
              <a:t>کلاد Asia 1 (IV) در ایران و همسایگان غالب است؛ کانون‌های انتقال در مناطق مرزی و با تجارت غیررسمی دام و کوچ فصلی شکل می‌گیرند.</a:t>
            </a:r>
            <a:endParaRPr lang="fa-IR" sz="1400" dirty="0"/>
          </a:p>
        </p:txBody>
      </p:sp>
      <p:sp>
        <p:nvSpPr>
          <p:cNvPr id="8" name="gen-1"/>
          <p:cNvSpPr/>
          <p:nvPr/>
        </p:nvSpPr>
        <p:spPr>
          <a:xfrm>
            <a:off x="4314139" y="1371600"/>
            <a:ext cx="3566160" cy="4160520"/>
          </a:xfrm>
          <a:prstGeom prst="roundRect">
            <a:avLst>
              <a:gd name="adj" fmla="val 3077"/>
            </a:avLst>
          </a:prstGeom>
          <a:solidFill>
            <a:schemeClr val="bg2"/>
          </a:solidFill>
          <a:ln w="12700">
            <a:solidFill>
              <a:schemeClr val="bg2"/>
            </a:solidFill>
            <a:prstDash val="solid"/>
          </a:ln>
        </p:spPr>
      </p:sp>
      <p:sp>
        <p:nvSpPr>
          <p:cNvPr id="9" name="gen-1-circle"/>
          <p:cNvSpPr/>
          <p:nvPr/>
        </p:nvSpPr>
        <p:spPr>
          <a:xfrm>
            <a:off x="6828739" y="1600200"/>
            <a:ext cx="822960" cy="822960"/>
          </a:xfrm>
          <a:prstGeom prst="ellipse">
            <a:avLst/>
          </a:prstGeom>
          <a:solidFill>
            <a:schemeClr val="accent1"/>
          </a:solidFill>
          <a:ln w="12700">
            <a:solidFill>
              <a:schemeClr val="accent1"/>
            </a:solidFill>
            <a:prstDash val="solid"/>
          </a:ln>
        </p:spPr>
      </p:sp>
      <p:pic>
        <p:nvPicPr>
          <p:cNvPr id="10" name="gen-1-icon" descr="preencoded.png">    </p:cNvPr>
          <p:cNvPicPr>
            <a:picLocks noChangeAspect="1"/>
          </p:cNvPicPr>
          <p:nvPr/>
        </p:nvPicPr>
        <p:blipFill>
          <a:blip r:embed="rId2"/>
          <a:stretch>
            <a:fillRect/>
          </a:stretch>
        </p:blipFill>
        <p:spPr>
          <a:xfrm>
            <a:off x="7009790" y="1781251"/>
            <a:ext cx="460858" cy="460858"/>
          </a:xfrm>
          <a:prstGeom prst="rect">
            <a:avLst/>
          </a:prstGeom>
        </p:spPr>
      </p:pic>
      <p:sp>
        <p:nvSpPr>
          <p:cNvPr id="11" name="Text 7"/>
          <p:cNvSpPr txBox="1"/>
          <p:nvPr/>
        </p:nvSpPr>
        <p:spPr>
          <a:xfrm>
            <a:off x="4542739" y="2606040"/>
            <a:ext cx="3108960" cy="457200"/>
          </a:xfrm>
          <a:prstGeom prst="rect">
            <a:avLst/>
          </a:prstGeom>
          <a:noFill/>
          <a:ln/>
        </p:spPr>
        <p:txBody>
          <a:bodyPr wrap="square" lIns="0" tIns="0" rIns="0" bIns="0" rtlCol="0" anchor="t"/>
          <a:lstStyle/>
          <a:p>
            <a:pPr rtl="1" algn="r" indent="0" marL="0">
              <a:buNone/>
            </a:pPr>
            <a:r>
              <a:rPr lang="fa-IR" altLang="en-US" sz="1800" b="1" dirty="0">
                <a:solidFill>
                  <a:schemeClr val="tx1"/>
                </a:solidFill>
              </a:rPr>
              <a:t>بازآرایی ژنی</a:t>
            </a:r>
            <a:endParaRPr lang="fa-IR" sz="1800" dirty="0"/>
          </a:p>
        </p:txBody>
      </p:sp>
      <p:sp>
        <p:nvSpPr>
          <p:cNvPr id="12" name="Text 8"/>
          <p:cNvSpPr txBox="1"/>
          <p:nvPr/>
        </p:nvSpPr>
        <p:spPr>
          <a:xfrm>
            <a:off x="4542739" y="3154680"/>
            <a:ext cx="3108960" cy="2286000"/>
          </a:xfrm>
          <a:prstGeom prst="rect">
            <a:avLst/>
          </a:prstGeom>
          <a:noFill/>
          <a:ln/>
        </p:spPr>
        <p:txBody>
          <a:bodyPr wrap="square" lIns="0" tIns="0" rIns="0" bIns="0" rtlCol="0" anchor="t"/>
          <a:lstStyle/>
          <a:p>
            <a:pPr rtl="1" algn="r" indent="0" marL="0">
              <a:buNone/>
            </a:pPr>
            <a:r>
              <a:rPr lang="fa-IR" altLang="en-US" sz="1400" dirty="0">
                <a:solidFill>
                  <a:schemeClr val="tx1"/>
                </a:solidFill>
              </a:rPr>
              <a:t>در پاکستان (۲۰۱۷ تا ۲۰۲۰) سویه‌های بازآرا شبیه سویه‌های ایران، هند و تاجیکستان بودند؛ نشانه جابه‌جایی ویروس از مرز.</a:t>
            </a:r>
            <a:endParaRPr lang="fa-IR" sz="1400" dirty="0"/>
          </a:p>
        </p:txBody>
      </p:sp>
      <p:sp>
        <p:nvSpPr>
          <p:cNvPr id="13" name="gen-2"/>
          <p:cNvSpPr/>
          <p:nvPr/>
        </p:nvSpPr>
        <p:spPr>
          <a:xfrm>
            <a:off x="551383" y="1371600"/>
            <a:ext cx="3566160" cy="4160520"/>
          </a:xfrm>
          <a:prstGeom prst="roundRect">
            <a:avLst>
              <a:gd name="adj" fmla="val 3077"/>
            </a:avLst>
          </a:prstGeom>
          <a:solidFill>
            <a:schemeClr val="bg2"/>
          </a:solidFill>
          <a:ln w="12700">
            <a:solidFill>
              <a:schemeClr val="bg2"/>
            </a:solidFill>
            <a:prstDash val="solid"/>
          </a:ln>
        </p:spPr>
      </p:sp>
      <p:sp>
        <p:nvSpPr>
          <p:cNvPr id="14" name="gen-2-circle"/>
          <p:cNvSpPr/>
          <p:nvPr/>
        </p:nvSpPr>
        <p:spPr>
          <a:xfrm>
            <a:off x="3065983" y="1600200"/>
            <a:ext cx="822960" cy="822960"/>
          </a:xfrm>
          <a:prstGeom prst="ellipse">
            <a:avLst/>
          </a:prstGeom>
          <a:solidFill>
            <a:schemeClr val="accent2"/>
          </a:solidFill>
          <a:ln w="12700">
            <a:solidFill>
              <a:schemeClr val="accent2"/>
            </a:solidFill>
            <a:prstDash val="solid"/>
          </a:ln>
        </p:spPr>
      </p:sp>
      <p:pic>
        <p:nvPicPr>
          <p:cNvPr id="15" name="gen-2-icon" descr="preencoded.png">    </p:cNvPr>
          <p:cNvPicPr>
            <a:picLocks noChangeAspect="1"/>
          </p:cNvPicPr>
          <p:nvPr/>
        </p:nvPicPr>
        <p:blipFill>
          <a:blip r:embed="rId3"/>
          <a:stretch>
            <a:fillRect/>
          </a:stretch>
        </p:blipFill>
        <p:spPr>
          <a:xfrm>
            <a:off x="3247034" y="1781251"/>
            <a:ext cx="460858" cy="460858"/>
          </a:xfrm>
          <a:prstGeom prst="rect">
            <a:avLst/>
          </a:prstGeom>
        </p:spPr>
      </p:pic>
      <p:sp>
        <p:nvSpPr>
          <p:cNvPr id="16" name="Text 11"/>
          <p:cNvSpPr txBox="1"/>
          <p:nvPr/>
        </p:nvSpPr>
        <p:spPr>
          <a:xfrm>
            <a:off x="779983" y="2606040"/>
            <a:ext cx="3108960" cy="457200"/>
          </a:xfrm>
          <a:prstGeom prst="rect">
            <a:avLst/>
          </a:prstGeom>
          <a:noFill/>
          <a:ln/>
        </p:spPr>
        <p:txBody>
          <a:bodyPr wrap="square" lIns="0" tIns="0" rIns="0" bIns="0" rtlCol="0" anchor="t"/>
          <a:lstStyle/>
          <a:p>
            <a:pPr rtl="1" algn="r" indent="0" marL="0">
              <a:buNone/>
            </a:pPr>
            <a:r>
              <a:rPr lang="fa-IR" altLang="en-US" sz="1800" b="1" dirty="0">
                <a:solidFill>
                  <a:schemeClr val="tx1"/>
                </a:solidFill>
              </a:rPr>
              <a:t>یافته تازه در غرب ایران</a:t>
            </a:r>
            <a:endParaRPr lang="fa-IR" sz="1800" dirty="0"/>
          </a:p>
        </p:txBody>
      </p:sp>
      <p:sp>
        <p:nvSpPr>
          <p:cNvPr id="17" name="Text 12"/>
          <p:cNvSpPr txBox="1"/>
          <p:nvPr/>
        </p:nvSpPr>
        <p:spPr>
          <a:xfrm>
            <a:off x="779983" y="3154680"/>
            <a:ext cx="3108960" cy="2286000"/>
          </a:xfrm>
          <a:prstGeom prst="rect">
            <a:avLst/>
          </a:prstGeom>
          <a:noFill/>
          <a:ln/>
        </p:spPr>
        <p:txBody>
          <a:bodyPr wrap="square" lIns="0" tIns="0" rIns="0" bIns="0" rtlCol="0" anchor="t"/>
          <a:lstStyle/>
          <a:p>
            <a:pPr rtl="1" algn="r" indent="0" marL="0">
              <a:buNone/>
            </a:pPr>
            <a:r>
              <a:rPr lang="fa-IR" altLang="en-US" sz="1400" dirty="0">
                <a:solidFill>
                  <a:schemeClr val="tx1"/>
                </a:solidFill>
              </a:rPr>
              <a:t>در کنه‌های دام کرمانشاه، برای اولین بار در ایران Aigai virus (ژنوتیپ VI سابق) شناسایی شد. آلودگی کنه‌ها ۰/۶۷٪ بود.</a:t>
            </a:r>
            <a:endParaRPr lang="fa-IR" sz="1400" dirty="0"/>
          </a:p>
        </p:txBody>
      </p:sp>
      <p:sp>
        <p:nvSpPr>
          <p:cNvPr id="18" name="Text 13"/>
          <p:cNvSpPr txBox="1"/>
          <p:nvPr/>
        </p:nvSpPr>
        <p:spPr>
          <a:xfrm>
            <a:off x="548640" y="5760720"/>
            <a:ext cx="1109167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Mohammadi و همکاران ۲۰۲۶ · Umair و همکاران، Emerg Infect Dis ۲۰۲۴ · Amrollahi و همکاران، BMC Infect Dis ۲۰۲۶</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تشخیص افتراقی و درمان: دو درس اپیدمیولوژیک</a:t>
            </a:r>
            <a:endParaRPr lang="fa-IR" sz="3000" dirty="0"/>
          </a:p>
        </p:txBody>
      </p:sp>
      <p:sp>
        <p:nvSpPr>
          <p:cNvPr id="3" name="ddx-card"/>
          <p:cNvSpPr/>
          <p:nvPr/>
        </p:nvSpPr>
        <p:spPr>
          <a:xfrm>
            <a:off x="6263640" y="1371600"/>
            <a:ext cx="5376672" cy="4206240"/>
          </a:xfrm>
          <a:prstGeom prst="roundRect">
            <a:avLst>
              <a:gd name="adj" fmla="val 2609"/>
            </a:avLst>
          </a:prstGeom>
          <a:solidFill>
            <a:schemeClr val="bg2"/>
          </a:solidFill>
          <a:ln w="12700">
            <a:solidFill>
              <a:schemeClr val="bg2"/>
            </a:solidFill>
            <a:prstDash val="solid"/>
          </a:ln>
        </p:spPr>
      </p:sp>
      <p:sp>
        <p:nvSpPr>
          <p:cNvPr id="4" name="ddx-circle"/>
          <p:cNvSpPr/>
          <p:nvPr/>
        </p:nvSpPr>
        <p:spPr>
          <a:xfrm>
            <a:off x="10561320" y="1600200"/>
            <a:ext cx="822960" cy="822960"/>
          </a:xfrm>
          <a:prstGeom prst="ellipse">
            <a:avLst/>
          </a:prstGeom>
          <a:solidFill>
            <a:schemeClr val="accent3"/>
          </a:solidFill>
          <a:ln w="12700">
            <a:solidFill>
              <a:schemeClr val="accent3"/>
            </a:solidFill>
            <a:prstDash val="solid"/>
          </a:ln>
        </p:spPr>
      </p:sp>
      <p:pic>
        <p:nvPicPr>
          <p:cNvPr id="5" name="ddx-icon" descr="preencoded.png">    </p:cNvPr>
          <p:cNvPicPr>
            <a:picLocks noChangeAspect="1"/>
          </p:cNvPicPr>
          <p:nvPr/>
        </p:nvPicPr>
        <p:blipFill>
          <a:blip r:embed="rId1"/>
          <a:stretch>
            <a:fillRect/>
          </a:stretch>
        </p:blipFill>
        <p:spPr>
          <a:xfrm>
            <a:off x="10742371" y="1781251"/>
            <a:ext cx="460858" cy="460858"/>
          </a:xfrm>
          <a:prstGeom prst="rect">
            <a:avLst/>
          </a:prstGeom>
        </p:spPr>
      </p:pic>
      <p:sp>
        <p:nvSpPr>
          <p:cNvPr id="6" name="Text 3"/>
          <p:cNvSpPr txBox="1"/>
          <p:nvPr/>
        </p:nvSpPr>
        <p:spPr>
          <a:xfrm>
            <a:off x="6492240" y="1691640"/>
            <a:ext cx="3931920" cy="548640"/>
          </a:xfrm>
          <a:prstGeom prst="rect">
            <a:avLst/>
          </a:prstGeom>
          <a:noFill/>
          <a:ln/>
        </p:spPr>
        <p:txBody>
          <a:bodyPr wrap="square" lIns="0" tIns="0" rIns="0" bIns="0" rtlCol="0" anchor="t"/>
          <a:lstStyle/>
          <a:p>
            <a:pPr rtl="1" algn="r" indent="0" marL="0">
              <a:buNone/>
            </a:pPr>
            <a:r>
              <a:rPr lang="fa-IR" altLang="en-US" sz="1800" b="1" dirty="0">
                <a:solidFill>
                  <a:schemeClr val="tx1"/>
                </a:solidFill>
              </a:rPr>
              <a:t>همه موارد مشکوک CCHF نیستند</a:t>
            </a:r>
            <a:endParaRPr lang="fa-IR" sz="1800" dirty="0"/>
          </a:p>
        </p:txBody>
      </p:sp>
      <p:sp>
        <p:nvSpPr>
          <p:cNvPr id="7" name="Text 4"/>
          <p:cNvSpPr txBox="1"/>
          <p:nvPr/>
        </p:nvSpPr>
        <p:spPr>
          <a:xfrm>
            <a:off x="6492240" y="2606040"/>
            <a:ext cx="4937760" cy="457200"/>
          </a:xfrm>
          <a:prstGeom prst="rect">
            <a:avLst/>
          </a:prstGeom>
          <a:noFill/>
          <a:ln/>
        </p:spPr>
        <p:txBody>
          <a:bodyPr wrap="square" lIns="0" tIns="0" rIns="0" bIns="0" rtlCol="0" anchor="t"/>
          <a:lstStyle/>
          <a:p>
            <a:pPr rtl="1" algn="r" indent="0" marL="0">
              <a:buNone/>
            </a:pPr>
            <a:r>
              <a:rPr lang="fa-IR" altLang="en-US" sz="1400" dirty="0">
                <a:solidFill>
                  <a:schemeClr val="tx1"/>
                </a:solidFill>
              </a:rPr>
              <a:t>در ۲۶۰ بیمار مشکوک که آزمایش CCHF آن‌ها منفی بود:</a:t>
            </a:r>
            <a:endParaRPr lang="fa-IR" sz="1400" dirty="0"/>
          </a:p>
        </p:txBody>
      </p:sp>
      <p:sp>
        <p:nvSpPr>
          <p:cNvPr id="8" name="Text 5"/>
          <p:cNvSpPr txBox="1"/>
          <p:nvPr/>
        </p:nvSpPr>
        <p:spPr>
          <a:xfrm>
            <a:off x="9052560" y="3154680"/>
            <a:ext cx="2377440" cy="822960"/>
          </a:xfrm>
          <a:prstGeom prst="rect">
            <a:avLst/>
          </a:prstGeom>
          <a:noFill/>
          <a:ln/>
        </p:spPr>
        <p:txBody>
          <a:bodyPr wrap="square" lIns="0" tIns="0" rIns="0" bIns="0" rtlCol="0" anchor="t"/>
          <a:lstStyle/>
          <a:p>
            <a:pPr rtl="1" algn="ctr" indent="0" marL="0">
              <a:buNone/>
            </a:pPr>
            <a:r>
              <a:rPr lang="fa-IR" altLang="en-US" sz="3600" b="1" dirty="0">
                <a:solidFill>
                  <a:schemeClr val="accent3"/>
                </a:solidFill>
              </a:rPr>
              <a:t>۳/۵٪</a:t>
            </a:r>
            <a:endParaRPr lang="fa-IR" sz="3600" dirty="0"/>
          </a:p>
        </p:txBody>
      </p:sp>
      <p:sp>
        <p:nvSpPr>
          <p:cNvPr id="9" name="Text 6"/>
          <p:cNvSpPr txBox="1"/>
          <p:nvPr/>
        </p:nvSpPr>
        <p:spPr>
          <a:xfrm>
            <a:off x="9052560" y="3977640"/>
            <a:ext cx="2377440" cy="365760"/>
          </a:xfrm>
          <a:prstGeom prst="rect">
            <a:avLst/>
          </a:prstGeom>
          <a:noFill/>
          <a:ln/>
        </p:spPr>
        <p:txBody>
          <a:bodyPr wrap="square" lIns="0" tIns="0" rIns="0" bIns="0" rtlCol="0" anchor="t"/>
          <a:lstStyle/>
          <a:p>
            <a:pPr rtl="1" algn="ctr" indent="0" marL="0">
              <a:buNone/>
            </a:pPr>
            <a:r>
              <a:rPr lang="fa-IR" altLang="en-US" sz="1400" dirty="0">
                <a:solidFill>
                  <a:schemeClr val="tx1"/>
                </a:solidFill>
              </a:rPr>
              <a:t>بروسلوز</a:t>
            </a:r>
            <a:endParaRPr lang="fa-IR" sz="1400" dirty="0"/>
          </a:p>
        </p:txBody>
      </p:sp>
      <p:sp>
        <p:nvSpPr>
          <p:cNvPr id="10" name="Text 7"/>
          <p:cNvSpPr txBox="1"/>
          <p:nvPr/>
        </p:nvSpPr>
        <p:spPr>
          <a:xfrm>
            <a:off x="6492240" y="3154680"/>
            <a:ext cx="2377440" cy="822960"/>
          </a:xfrm>
          <a:prstGeom prst="rect">
            <a:avLst/>
          </a:prstGeom>
          <a:noFill/>
          <a:ln/>
        </p:spPr>
        <p:txBody>
          <a:bodyPr wrap="square" lIns="0" tIns="0" rIns="0" bIns="0" rtlCol="0" anchor="t"/>
          <a:lstStyle/>
          <a:p>
            <a:pPr rtl="1" algn="ctr" indent="0" marL="0">
              <a:buNone/>
            </a:pPr>
            <a:r>
              <a:rPr lang="fa-IR" altLang="en-US" sz="3600" b="1" dirty="0">
                <a:solidFill>
                  <a:schemeClr val="accent3"/>
                </a:solidFill>
              </a:rPr>
              <a:t>۳/۱٪</a:t>
            </a:r>
            <a:endParaRPr lang="fa-IR" sz="3600" dirty="0"/>
          </a:p>
        </p:txBody>
      </p:sp>
      <p:sp>
        <p:nvSpPr>
          <p:cNvPr id="11" name="Text 8"/>
          <p:cNvSpPr txBox="1"/>
          <p:nvPr/>
        </p:nvSpPr>
        <p:spPr>
          <a:xfrm>
            <a:off x="6492240" y="3977640"/>
            <a:ext cx="2377440" cy="365760"/>
          </a:xfrm>
          <a:prstGeom prst="rect">
            <a:avLst/>
          </a:prstGeom>
          <a:noFill/>
          <a:ln/>
        </p:spPr>
        <p:txBody>
          <a:bodyPr wrap="square" lIns="0" tIns="0" rIns="0" bIns="0" rtlCol="0" anchor="t"/>
          <a:lstStyle/>
          <a:p>
            <a:pPr rtl="1" algn="ctr" indent="0" marL="0">
              <a:buNone/>
            </a:pPr>
            <a:r>
              <a:rPr lang="fa-IR" altLang="en-US" sz="1400" dirty="0">
                <a:solidFill>
                  <a:schemeClr val="tx1"/>
                </a:solidFill>
              </a:rPr>
              <a:t>تب کیو (Q fever)</a:t>
            </a:r>
            <a:endParaRPr lang="fa-IR" sz="1400" dirty="0"/>
          </a:p>
        </p:txBody>
      </p:sp>
      <p:sp>
        <p:nvSpPr>
          <p:cNvPr id="12" name="Text 9"/>
          <p:cNvSpPr txBox="1"/>
          <p:nvPr/>
        </p:nvSpPr>
        <p:spPr>
          <a:xfrm>
            <a:off x="6492240" y="4572000"/>
            <a:ext cx="4937760" cy="822960"/>
          </a:xfrm>
          <a:prstGeom prst="rect">
            <a:avLst/>
          </a:prstGeom>
          <a:noFill/>
          <a:ln/>
        </p:spPr>
        <p:txBody>
          <a:bodyPr wrap="square" lIns="0" tIns="0" rIns="0" bIns="0" rtlCol="0" anchor="t"/>
          <a:lstStyle/>
          <a:p>
            <a:pPr rtl="1" algn="r" indent="0" marL="0">
              <a:buNone/>
            </a:pPr>
            <a:r>
              <a:rPr lang="fa-IR" altLang="en-US" sz="1400" b="1" dirty="0">
                <a:solidFill>
                  <a:schemeClr val="tx2"/>
                </a:solidFill>
              </a:rPr>
              <a:t>هر دو نیز مشترک انسان و دام‌اند؛ یک نمونه منفی، پایان بررسی One Health نیست.</a:t>
            </a:r>
            <a:endParaRPr lang="fa-IR" sz="1400" dirty="0"/>
          </a:p>
        </p:txBody>
      </p:sp>
      <p:sp>
        <p:nvSpPr>
          <p:cNvPr id="13" name="riba-card"/>
          <p:cNvSpPr/>
          <p:nvPr/>
        </p:nvSpPr>
        <p:spPr>
          <a:xfrm>
            <a:off x="548640" y="1371600"/>
            <a:ext cx="5468112" cy="4206240"/>
          </a:xfrm>
          <a:prstGeom prst="roundRect">
            <a:avLst>
              <a:gd name="adj" fmla="val 2609"/>
            </a:avLst>
          </a:prstGeom>
          <a:solidFill>
            <a:schemeClr val="tx2"/>
          </a:solidFill>
          <a:ln w="12700">
            <a:solidFill>
              <a:schemeClr val="tx2"/>
            </a:solidFill>
            <a:prstDash val="solid"/>
          </a:ln>
        </p:spPr>
      </p:sp>
      <p:sp>
        <p:nvSpPr>
          <p:cNvPr id="14" name="riba-circle"/>
          <p:cNvSpPr/>
          <p:nvPr/>
        </p:nvSpPr>
        <p:spPr>
          <a:xfrm>
            <a:off x="4937760" y="1600200"/>
            <a:ext cx="822960" cy="822960"/>
          </a:xfrm>
          <a:prstGeom prst="ellipse">
            <a:avLst/>
          </a:prstGeom>
          <a:solidFill>
            <a:schemeClr val="accent1"/>
          </a:solidFill>
          <a:ln w="12700">
            <a:solidFill>
              <a:schemeClr val="accent1"/>
            </a:solidFill>
            <a:prstDash val="solid"/>
          </a:ln>
        </p:spPr>
      </p:sp>
      <p:pic>
        <p:nvPicPr>
          <p:cNvPr id="15" name="riba-icon" descr="preencoded.png">    </p:cNvPr>
          <p:cNvPicPr>
            <a:picLocks noChangeAspect="1"/>
          </p:cNvPicPr>
          <p:nvPr/>
        </p:nvPicPr>
        <p:blipFill>
          <a:blip r:embed="rId2"/>
          <a:stretch>
            <a:fillRect/>
          </a:stretch>
        </p:blipFill>
        <p:spPr>
          <a:xfrm>
            <a:off x="5118811" y="1781251"/>
            <a:ext cx="460858" cy="460858"/>
          </a:xfrm>
          <a:prstGeom prst="rect">
            <a:avLst/>
          </a:prstGeom>
        </p:spPr>
      </p:pic>
      <p:sp>
        <p:nvSpPr>
          <p:cNvPr id="16" name="Text 12"/>
          <p:cNvSpPr txBox="1"/>
          <p:nvPr/>
        </p:nvSpPr>
        <p:spPr>
          <a:xfrm>
            <a:off x="777240" y="1691640"/>
            <a:ext cx="4023360" cy="548640"/>
          </a:xfrm>
          <a:prstGeom prst="rect">
            <a:avLst/>
          </a:prstGeom>
          <a:noFill/>
          <a:ln/>
        </p:spPr>
        <p:txBody>
          <a:bodyPr wrap="square" lIns="0" tIns="0" rIns="0" bIns="0" rtlCol="0" anchor="t"/>
          <a:lstStyle/>
          <a:p>
            <a:pPr rtl="1" algn="r" indent="0" marL="0">
              <a:buNone/>
            </a:pPr>
            <a:r>
              <a:rPr lang="fa-IR" altLang="en-US" sz="1800" b="1" dirty="0">
                <a:solidFill>
                  <a:schemeClr val="bg1"/>
                </a:solidFill>
              </a:rPr>
              <a:t>ریباویرین: شاهد کافی نیست</a:t>
            </a:r>
            <a:endParaRPr lang="fa-IR" sz="1800" dirty="0"/>
          </a:p>
        </p:txBody>
      </p:sp>
      <p:sp>
        <p:nvSpPr>
          <p:cNvPr id="17" name="Text 13"/>
          <p:cNvSpPr txBox="1"/>
          <p:nvPr/>
        </p:nvSpPr>
        <p:spPr>
          <a:xfrm>
            <a:off x="777240" y="2606040"/>
            <a:ext cx="5029200" cy="2834640"/>
          </a:xfrm>
          <a:prstGeom prst="rect">
            <a:avLst/>
          </a:prstGeom>
          <a:noFill/>
          <a:ln/>
        </p:spPr>
        <p:txBody>
          <a:bodyPr wrap="square" lIns="0" tIns="0" rIns="0" bIns="0" rtlCol="0" anchor="t"/>
          <a:lstStyle/>
          <a:p>
            <a:pPr rtl="1" algn="r" indent="0" marL="0">
              <a:buNone/>
            </a:pPr>
            <a:r>
              <a:rPr lang="fa-IR" altLang="en-US" sz="1400" dirty="0">
                <a:solidFill>
                  <a:schemeClr val="bg1"/>
                </a:solidFill>
              </a:rPr>
              <a:t>مرور کاکرین (۲۰۱۸): معلوم نیست ریباویرین مرگ را کم کند. شواهد با قطعیت بسیار پایین است (یک کارآزمایی تصادفی با ۱۳۶ نفر و سه مطالعه غیرتصادفی). ۱۸ مطالعه غیرتصادفی که اثر مثبت نشان می‌دادند، به‌علت مخدوش‌شدگی خطر سوگیری بحرانی داشتند.</a:t>
            </a:r>
            <a:endParaRPr lang="fa-IR" sz="1400" dirty="0"/>
          </a:p>
        </p:txBody>
      </p:sp>
      <p:sp>
        <p:nvSpPr>
          <p:cNvPr id="18" name="Text 14"/>
          <p:cNvSpPr txBox="1"/>
          <p:nvPr/>
        </p:nvSpPr>
        <p:spPr>
          <a:xfrm>
            <a:off x="548640" y="5760720"/>
            <a:ext cx="1109167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Moradkasani و همکاران، J Infect Public Health ۲۰۲۴ · Johnson و همکاران، Cochrane ۲۰۱۸</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بررسی مشترک: چه کسی چه می‌کند؟</a:t>
            </a:r>
            <a:endParaRPr lang="fa-IR" sz="3000" dirty="0"/>
          </a:p>
        </p:txBody>
      </p:sp>
      <p:graphicFrame>
        <p:nvGraphicFramePr>
          <p:cNvPr id="12" name="roles-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044952"/>
                <a:gridCol w="5760720"/>
                <a:gridCol w="2286000"/>
              </a:tblGrid>
              <a:tr h="566928">
                <a:tc>
                  <a:txBody>
                    <a:bodyPr/>
                    <a:lstStyle/>
                    <a:p>
                      <a:pPr rtl="1" algn="r" indent="0" marL="0">
                        <a:buNone/>
                      </a:pPr>
                      <a:r>
                        <a:rPr lang="fa-IR" altLang="en-US" sz="1400" b="1" dirty="0">
                          <a:solidFill>
                            <a:schemeClr val="bg1"/>
                          </a:solidFill>
                        </a:rPr>
                        <a:t>خروجی مشترک</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tx2"/>
                    </a:solidFill>
                  </a:tcPr>
                </a:tc>
                <a:tc>
                  <a:txBody>
                    <a:bodyPr/>
                    <a:lstStyle/>
                    <a:p>
                      <a:pPr rtl="1" algn="r" indent="0" marL="0">
                        <a:buNone/>
                      </a:pPr>
                      <a:r>
                        <a:rPr lang="fa-IR" altLang="en-US" sz="1400" b="1" dirty="0">
                          <a:solidFill>
                            <a:schemeClr val="bg1"/>
                          </a:solidFill>
                        </a:rPr>
                        <a:t>در ۴۸ ساعت اول</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tx2"/>
                    </a:solidFill>
                  </a:tcPr>
                </a:tc>
                <a:tc>
                  <a:txBody>
                    <a:bodyPr/>
                    <a:lstStyle/>
                    <a:p>
                      <a:pPr rtl="1" algn="r" indent="0" marL="0">
                        <a:buNone/>
                      </a:pPr>
                      <a:r>
                        <a:rPr lang="fa-IR" altLang="en-US" sz="1400" b="1" dirty="0">
                          <a:solidFill>
                            <a:schemeClr val="bg1"/>
                          </a:solidFill>
                        </a:rPr>
                        <a:t>بخش</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tx2"/>
                    </a:solidFill>
                  </a:tcPr>
                </a:tc>
              </a:tr>
              <a:tr h="566928">
                <a:tc>
                  <a:txBody>
                    <a:bodyPr/>
                    <a:lstStyle/>
                    <a:p>
                      <a:pPr rtl="1" algn="r" indent="0" marL="0">
                        <a:buNone/>
                      </a:pPr>
                      <a:r>
                        <a:rPr lang="fa-IR" altLang="en-US" sz="1400" dirty="0">
                          <a:solidFill>
                            <a:schemeClr val="tx1"/>
                          </a:solidFill>
                        </a:rPr>
                        <a:t>لاین‌لیست انسانی</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chemeClr val="tx1"/>
                          </a:solidFill>
                        </a:rPr>
                        <a:t>تعریف مورد، بیماریابی، پیگیری تماس‌ها به مدت ۱۴ روز</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1"/>
                          </a:solidFill>
                        </a:rPr>
                        <a:t>بهداشت</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r>
              <a:tr h="566928">
                <a:tc>
                  <a:txBody>
                    <a:bodyPr/>
                    <a:lstStyle/>
                    <a:p>
                      <a:pPr rtl="1" algn="r" indent="0" marL="0">
                        <a:buNone/>
                      </a:pPr>
                      <a:r>
                        <a:rPr lang="fa-IR" altLang="en-US" sz="1400" dirty="0">
                          <a:solidFill>
                            <a:schemeClr val="tx1"/>
                          </a:solidFill>
                        </a:rPr>
                        <a:t>فهرست کارکنان در معرض</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chemeClr val="tx1"/>
                          </a:solidFill>
                        </a:rPr>
                        <a:t>کنترل عفونت، ایزولاسیون، گزارش مواجهه کارکنان</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1"/>
                          </a:solidFill>
                        </a:rPr>
                        <a:t>درمان</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r>
              <a:tr h="566928">
                <a:tc>
                  <a:txBody>
                    <a:bodyPr/>
                    <a:lstStyle/>
                    <a:p>
                      <a:pPr rtl="1" algn="r" indent="0" marL="0">
                        <a:buNone/>
                      </a:pPr>
                      <a:r>
                        <a:rPr lang="fa-IR" altLang="en-US" sz="1400" dirty="0">
                          <a:solidFill>
                            <a:schemeClr val="tx1"/>
                          </a:solidFill>
                        </a:rPr>
                        <a:t>نقشه دامداری‌ها و منبع دام</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chemeClr val="tx1"/>
                          </a:solidFill>
                        </a:rPr>
                        <a:t>ردیابی دام ذبح‌شده، نمونه سرم دام و کنه، سم‌پاشی</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1"/>
                          </a:solidFill>
                        </a:rPr>
                        <a:t>دامپزشکی</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r>
              <a:tr h="566928">
                <a:tc>
                  <a:txBody>
                    <a:bodyPr/>
                    <a:lstStyle/>
                    <a:p>
                      <a:pPr rtl="1" algn="r" indent="0" marL="0">
                        <a:buNone/>
                      </a:pPr>
                      <a:r>
                        <a:rPr lang="fa-IR" altLang="en-US" sz="1400" dirty="0">
                          <a:solidFill>
                            <a:schemeClr val="tx1"/>
                          </a:solidFill>
                        </a:rPr>
                        <a:t>فهرست نقاط ذبح</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chemeClr val="tx1"/>
                          </a:solidFill>
                        </a:rPr>
                        <a:t>کنترل ذبح غیرمجاز، پسماند کشتار، بازار موقت دام</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1"/>
                          </a:solidFill>
                        </a:rPr>
                        <a:t>محیط و شهرداری</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r>
              <a:tr h="566928">
                <a:tc>
                  <a:txBody>
                    <a:bodyPr/>
                    <a:lstStyle/>
                    <a:p>
                      <a:pPr rtl="1" algn="r" indent="0" marL="0">
                        <a:buNone/>
                      </a:pPr>
                      <a:r>
                        <a:rPr lang="fa-IR" altLang="en-US" sz="1400" dirty="0">
                          <a:solidFill>
                            <a:schemeClr val="tx1"/>
                          </a:solidFill>
                        </a:rPr>
                        <a:t>نتیجه و ژنوتیپ</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chemeClr val="tx1"/>
                          </a:solidFill>
                        </a:rPr>
                        <a:t>RT-PCR و IgM، ارسال سریع، توالی‌یابی</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1"/>
                          </a:solidFill>
                        </a:rPr>
                        <a:t>آزمایشگاه مرجع</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2"/>
                    </a:solidFill>
                  </a:tcPr>
                </a:tc>
              </a:tr>
              <a:tr h="566928">
                <a:tc>
                  <a:txBody>
                    <a:bodyPr/>
                    <a:lstStyle/>
                    <a:p>
                      <a:pPr rtl="1" algn="r" indent="0" marL="0">
                        <a:buNone/>
                      </a:pPr>
                      <a:r>
                        <a:rPr lang="fa-IR" altLang="en-US" sz="1400" dirty="0">
                          <a:solidFill>
                            <a:schemeClr val="tx1"/>
                          </a:solidFill>
                        </a:rPr>
                        <a:t>یک سخنگوی واحد</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chemeClr val="tx1"/>
                          </a:solidFill>
                        </a:rPr>
                        <a:t>پیام برای قصابان، دامداران و مردم؛ مقابله با شایعه</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1"/>
                          </a:solidFill>
                        </a:rPr>
                        <a:t>ارتباطات</a:t>
                      </a:r>
                      <a:endParaRPr lang="fa-IR" sz="1400" dirty="0"/>
                    </a:p>
                  </a:txBody>
                  <a:tcPr marL="137160" marR="137160" marT="54864" marB="54864" anchor="ctr">
                    <a:lnL w="9525" cap="flat" cmpd="sng" algn="ctr">
                      <a:solidFill>
                        <a:srgbClr val="E1E4DA"/>
                      </a:solidFill>
                      <a:prstDash val="solid"/>
                      <a:round/>
                      <a:headEnd type="none" w="med" len="med"/>
                      <a:tailEnd type="none" w="med" len="med"/>
                    </a:lnL>
                    <a:lnR w="9525" cap="flat" cmpd="sng" algn="ctr">
                      <a:solidFill>
                        <a:srgbClr val="E1E4DA"/>
                      </a:solidFill>
                      <a:prstDash val="solid"/>
                      <a:round/>
                      <a:headEnd type="none" w="med" len="med"/>
                      <a:tailEnd type="none" w="med" len="med"/>
                    </a:lnR>
                    <a:lnT w="9525" cap="flat" cmpd="sng" algn="ctr">
                      <a:solidFill>
                        <a:srgbClr val="E1E4DA"/>
                      </a:solidFill>
                      <a:prstDash val="solid"/>
                      <a:round/>
                      <a:headEnd type="none" w="med" len="med"/>
                      <a:tailEnd type="none" w="med" len="med"/>
                    </a:lnT>
                    <a:lnB w="9525" cap="flat" cmpd="sng" algn="ctr">
                      <a:solidFill>
                        <a:srgbClr val="E1E4DA"/>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669280"/>
            <a:ext cx="11091672" cy="411480"/>
          </a:xfrm>
          <a:prstGeom prst="rect">
            <a:avLst/>
          </a:prstGeom>
          <a:noFill/>
          <a:ln/>
        </p:spPr>
        <p:txBody>
          <a:bodyPr wrap="square" lIns="0" tIns="0" rIns="0" bIns="0" rtlCol="0" anchor="t"/>
          <a:lstStyle/>
          <a:p>
            <a:pPr rtl="1" algn="r" indent="0" marL="0">
              <a:buNone/>
            </a:pPr>
            <a:r>
              <a:rPr lang="fa-IR" altLang="en-US" sz="1500" b="1" dirty="0">
                <a:solidFill>
                  <a:schemeClr val="accent1"/>
                </a:solidFill>
              </a:rPr>
              <a:t>به پاسخ اسلاید ۲ برگردید: چند ردیف از این جدول در فهرست تماس‌های شما بود؟</a:t>
            </a:r>
            <a:endParaRPr lang="fa-IR"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ده گام بررسی طغیان با عینک One Health</a:t>
            </a:r>
            <a:endParaRPr lang="fa-IR" sz="3000" dirty="0"/>
          </a:p>
        </p:txBody>
      </p:sp>
      <p:sp>
        <p:nvSpPr>
          <p:cNvPr id="3" name="step-0"/>
          <p:cNvSpPr/>
          <p:nvPr/>
        </p:nvSpPr>
        <p:spPr>
          <a:xfrm>
            <a:off x="6172200" y="1325880"/>
            <a:ext cx="5468112" cy="822960"/>
          </a:xfrm>
          <a:prstGeom prst="roundRect">
            <a:avLst>
              <a:gd name="adj" fmla="val 13333"/>
            </a:avLst>
          </a:prstGeom>
          <a:solidFill>
            <a:schemeClr val="bg2"/>
          </a:solidFill>
          <a:ln w="12700">
            <a:solidFill>
              <a:schemeClr val="bg2"/>
            </a:solidFill>
            <a:prstDash val="solid"/>
          </a:ln>
        </p:spPr>
      </p:sp>
      <p:sp>
        <p:nvSpPr>
          <p:cNvPr id="4" name="step-num-0"/>
          <p:cNvSpPr/>
          <p:nvPr/>
        </p:nvSpPr>
        <p:spPr>
          <a:xfrm>
            <a:off x="10908792" y="1435608"/>
            <a:ext cx="603504" cy="603504"/>
          </a:xfrm>
          <a:prstGeom prst="ellipse">
            <a:avLst/>
          </a:prstGeom>
          <a:solidFill>
            <a:schemeClr val="tx2"/>
          </a:solidFill>
          <a:ln w="12700">
            <a:solidFill>
              <a:schemeClr val="tx2"/>
            </a:solidFill>
            <a:prstDash val="solid"/>
          </a:ln>
        </p:spPr>
      </p:sp>
      <p:sp>
        <p:nvSpPr>
          <p:cNvPr id="5" name="Text 3"/>
          <p:cNvSpPr txBox="1"/>
          <p:nvPr/>
        </p:nvSpPr>
        <p:spPr>
          <a:xfrm>
            <a:off x="10908792" y="1435608"/>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۱</a:t>
            </a:r>
            <a:endParaRPr lang="fa-IR" sz="1800" dirty="0"/>
          </a:p>
        </p:txBody>
      </p:sp>
      <p:sp>
        <p:nvSpPr>
          <p:cNvPr id="6" name="Text 4"/>
          <p:cNvSpPr txBox="1"/>
          <p:nvPr/>
        </p:nvSpPr>
        <p:spPr>
          <a:xfrm>
            <a:off x="9144000" y="1435608"/>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آمادگی</a:t>
            </a:r>
            <a:endParaRPr lang="fa-IR" sz="1500" dirty="0"/>
          </a:p>
        </p:txBody>
      </p:sp>
      <p:sp>
        <p:nvSpPr>
          <p:cNvPr id="7" name="Text 5"/>
          <p:cNvSpPr txBox="1"/>
          <p:nvPr/>
        </p:nvSpPr>
        <p:spPr>
          <a:xfrm>
            <a:off x="6355080" y="1435608"/>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تیم مشترک انسانی-دامی</a:t>
            </a:r>
            <a:endParaRPr lang="fa-IR" sz="1300" dirty="0"/>
          </a:p>
        </p:txBody>
      </p:sp>
      <p:sp>
        <p:nvSpPr>
          <p:cNvPr id="8" name="step-1"/>
          <p:cNvSpPr/>
          <p:nvPr/>
        </p:nvSpPr>
        <p:spPr>
          <a:xfrm>
            <a:off x="548640" y="1325880"/>
            <a:ext cx="5468112" cy="822960"/>
          </a:xfrm>
          <a:prstGeom prst="roundRect">
            <a:avLst>
              <a:gd name="adj" fmla="val 13333"/>
            </a:avLst>
          </a:prstGeom>
          <a:solidFill>
            <a:schemeClr val="bg2"/>
          </a:solidFill>
          <a:ln w="12700">
            <a:solidFill>
              <a:schemeClr val="bg2"/>
            </a:solidFill>
            <a:prstDash val="solid"/>
          </a:ln>
        </p:spPr>
      </p:sp>
      <p:sp>
        <p:nvSpPr>
          <p:cNvPr id="9" name="step-num-1"/>
          <p:cNvSpPr/>
          <p:nvPr/>
        </p:nvSpPr>
        <p:spPr>
          <a:xfrm>
            <a:off x="5285232" y="1435608"/>
            <a:ext cx="603504" cy="603504"/>
          </a:xfrm>
          <a:prstGeom prst="ellipse">
            <a:avLst/>
          </a:prstGeom>
          <a:solidFill>
            <a:schemeClr val="tx2"/>
          </a:solidFill>
          <a:ln w="12700">
            <a:solidFill>
              <a:schemeClr val="tx2"/>
            </a:solidFill>
            <a:prstDash val="solid"/>
          </a:ln>
        </p:spPr>
      </p:sp>
      <p:sp>
        <p:nvSpPr>
          <p:cNvPr id="10" name="Text 8"/>
          <p:cNvSpPr txBox="1"/>
          <p:nvPr/>
        </p:nvSpPr>
        <p:spPr>
          <a:xfrm>
            <a:off x="5285232" y="1435608"/>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۲</a:t>
            </a:r>
            <a:endParaRPr lang="fa-IR" sz="1800" dirty="0"/>
          </a:p>
        </p:txBody>
      </p:sp>
      <p:sp>
        <p:nvSpPr>
          <p:cNvPr id="11" name="Text 9"/>
          <p:cNvSpPr txBox="1"/>
          <p:nvPr/>
        </p:nvSpPr>
        <p:spPr>
          <a:xfrm>
            <a:off x="3520440" y="1435608"/>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تأیید تشخیص</a:t>
            </a:r>
            <a:endParaRPr lang="fa-IR" sz="1500" dirty="0"/>
          </a:p>
        </p:txBody>
      </p:sp>
      <p:sp>
        <p:nvSpPr>
          <p:cNvPr id="12" name="Text 10"/>
          <p:cNvSpPr txBox="1"/>
          <p:nvPr/>
        </p:nvSpPr>
        <p:spPr>
          <a:xfrm>
            <a:off x="731520" y="1435608"/>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آزمایشگاه مرجع؛ تشخیص افتراقی مشترک</a:t>
            </a:r>
            <a:endParaRPr lang="fa-IR" sz="1300" dirty="0"/>
          </a:p>
        </p:txBody>
      </p:sp>
      <p:sp>
        <p:nvSpPr>
          <p:cNvPr id="13" name="step-2"/>
          <p:cNvSpPr/>
          <p:nvPr/>
        </p:nvSpPr>
        <p:spPr>
          <a:xfrm>
            <a:off x="6172200" y="2276856"/>
            <a:ext cx="5468112" cy="822960"/>
          </a:xfrm>
          <a:prstGeom prst="roundRect">
            <a:avLst>
              <a:gd name="adj" fmla="val 13333"/>
            </a:avLst>
          </a:prstGeom>
          <a:solidFill>
            <a:schemeClr val="bg2"/>
          </a:solidFill>
          <a:ln w="12700">
            <a:solidFill>
              <a:schemeClr val="bg2"/>
            </a:solidFill>
            <a:prstDash val="solid"/>
          </a:ln>
        </p:spPr>
      </p:sp>
      <p:sp>
        <p:nvSpPr>
          <p:cNvPr id="14" name="step-num-2"/>
          <p:cNvSpPr/>
          <p:nvPr/>
        </p:nvSpPr>
        <p:spPr>
          <a:xfrm>
            <a:off x="10908792" y="2386584"/>
            <a:ext cx="603504" cy="603504"/>
          </a:xfrm>
          <a:prstGeom prst="ellipse">
            <a:avLst/>
          </a:prstGeom>
          <a:solidFill>
            <a:schemeClr val="tx2"/>
          </a:solidFill>
          <a:ln w="12700">
            <a:solidFill>
              <a:schemeClr val="tx2"/>
            </a:solidFill>
            <a:prstDash val="solid"/>
          </a:ln>
        </p:spPr>
      </p:sp>
      <p:sp>
        <p:nvSpPr>
          <p:cNvPr id="15" name="Text 13"/>
          <p:cNvSpPr txBox="1"/>
          <p:nvPr/>
        </p:nvSpPr>
        <p:spPr>
          <a:xfrm>
            <a:off x="10908792" y="2386584"/>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۳</a:t>
            </a:r>
            <a:endParaRPr lang="fa-IR" sz="1800" dirty="0"/>
          </a:p>
        </p:txBody>
      </p:sp>
      <p:sp>
        <p:nvSpPr>
          <p:cNvPr id="16" name="Text 14"/>
          <p:cNvSpPr txBox="1"/>
          <p:nvPr/>
        </p:nvSpPr>
        <p:spPr>
          <a:xfrm>
            <a:off x="9144000" y="2386584"/>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تأیید طغیان</a:t>
            </a:r>
            <a:endParaRPr lang="fa-IR" sz="1500" dirty="0"/>
          </a:p>
        </p:txBody>
      </p:sp>
      <p:sp>
        <p:nvSpPr>
          <p:cNvPr id="17" name="Text 15"/>
          <p:cNvSpPr txBox="1"/>
          <p:nvPr/>
        </p:nvSpPr>
        <p:spPr>
          <a:xfrm>
            <a:off x="6355080" y="2386584"/>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مقایسه با همان هفته‌ها، با توجه به عید</a:t>
            </a:r>
            <a:endParaRPr lang="fa-IR" sz="1300" dirty="0"/>
          </a:p>
        </p:txBody>
      </p:sp>
      <p:sp>
        <p:nvSpPr>
          <p:cNvPr id="18" name="step-3"/>
          <p:cNvSpPr/>
          <p:nvPr/>
        </p:nvSpPr>
        <p:spPr>
          <a:xfrm>
            <a:off x="548640" y="2276856"/>
            <a:ext cx="5468112" cy="822960"/>
          </a:xfrm>
          <a:prstGeom prst="roundRect">
            <a:avLst>
              <a:gd name="adj" fmla="val 13333"/>
            </a:avLst>
          </a:prstGeom>
          <a:solidFill>
            <a:schemeClr val="bg2"/>
          </a:solidFill>
          <a:ln w="12700">
            <a:solidFill>
              <a:schemeClr val="bg2"/>
            </a:solidFill>
            <a:prstDash val="solid"/>
          </a:ln>
        </p:spPr>
      </p:sp>
      <p:sp>
        <p:nvSpPr>
          <p:cNvPr id="19" name="step-num-3"/>
          <p:cNvSpPr/>
          <p:nvPr/>
        </p:nvSpPr>
        <p:spPr>
          <a:xfrm>
            <a:off x="5285232" y="2386584"/>
            <a:ext cx="603504" cy="603504"/>
          </a:xfrm>
          <a:prstGeom prst="ellipse">
            <a:avLst/>
          </a:prstGeom>
          <a:solidFill>
            <a:schemeClr val="tx2"/>
          </a:solidFill>
          <a:ln w="12700">
            <a:solidFill>
              <a:schemeClr val="tx2"/>
            </a:solidFill>
            <a:prstDash val="solid"/>
          </a:ln>
        </p:spPr>
      </p:sp>
      <p:sp>
        <p:nvSpPr>
          <p:cNvPr id="20" name="Text 18"/>
          <p:cNvSpPr txBox="1"/>
          <p:nvPr/>
        </p:nvSpPr>
        <p:spPr>
          <a:xfrm>
            <a:off x="5285232" y="2386584"/>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۴</a:t>
            </a:r>
            <a:endParaRPr lang="fa-IR" sz="1800" dirty="0"/>
          </a:p>
        </p:txBody>
      </p:sp>
      <p:sp>
        <p:nvSpPr>
          <p:cNvPr id="21" name="Text 19"/>
          <p:cNvSpPr txBox="1"/>
          <p:nvPr/>
        </p:nvSpPr>
        <p:spPr>
          <a:xfrm>
            <a:off x="3520440" y="2386584"/>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تعریف و یافتن موارد</a:t>
            </a:r>
            <a:endParaRPr lang="fa-IR" sz="1500" dirty="0"/>
          </a:p>
        </p:txBody>
      </p:sp>
      <p:sp>
        <p:nvSpPr>
          <p:cNvPr id="22" name="Text 20"/>
          <p:cNvSpPr txBox="1"/>
          <p:nvPr/>
        </p:nvSpPr>
        <p:spPr>
          <a:xfrm>
            <a:off x="731520" y="2386584"/>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انسان، دام سرم‌مثبت، کنه آلوده</a:t>
            </a:r>
            <a:endParaRPr lang="fa-IR" sz="1300" dirty="0"/>
          </a:p>
        </p:txBody>
      </p:sp>
      <p:sp>
        <p:nvSpPr>
          <p:cNvPr id="23" name="step-4"/>
          <p:cNvSpPr/>
          <p:nvPr/>
        </p:nvSpPr>
        <p:spPr>
          <a:xfrm>
            <a:off x="6172200" y="3227832"/>
            <a:ext cx="5468112" cy="822960"/>
          </a:xfrm>
          <a:prstGeom prst="roundRect">
            <a:avLst>
              <a:gd name="adj" fmla="val 13333"/>
            </a:avLst>
          </a:prstGeom>
          <a:solidFill>
            <a:schemeClr val="bg2"/>
          </a:solidFill>
          <a:ln w="12700">
            <a:solidFill>
              <a:schemeClr val="bg2"/>
            </a:solidFill>
            <a:prstDash val="solid"/>
          </a:ln>
        </p:spPr>
      </p:sp>
      <p:sp>
        <p:nvSpPr>
          <p:cNvPr id="24" name="step-num-4"/>
          <p:cNvSpPr/>
          <p:nvPr/>
        </p:nvSpPr>
        <p:spPr>
          <a:xfrm>
            <a:off x="10908792" y="3337560"/>
            <a:ext cx="603504" cy="603504"/>
          </a:xfrm>
          <a:prstGeom prst="ellipse">
            <a:avLst/>
          </a:prstGeom>
          <a:solidFill>
            <a:schemeClr val="tx2"/>
          </a:solidFill>
          <a:ln w="12700">
            <a:solidFill>
              <a:schemeClr val="tx2"/>
            </a:solidFill>
            <a:prstDash val="solid"/>
          </a:ln>
        </p:spPr>
      </p:sp>
      <p:sp>
        <p:nvSpPr>
          <p:cNvPr id="25" name="Text 23"/>
          <p:cNvSpPr txBox="1"/>
          <p:nvPr/>
        </p:nvSpPr>
        <p:spPr>
          <a:xfrm>
            <a:off x="10908792" y="3337560"/>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۵</a:t>
            </a:r>
            <a:endParaRPr lang="fa-IR" sz="1800" dirty="0"/>
          </a:p>
        </p:txBody>
      </p:sp>
      <p:sp>
        <p:nvSpPr>
          <p:cNvPr id="26" name="Text 24"/>
          <p:cNvSpPr txBox="1"/>
          <p:nvPr/>
        </p:nvSpPr>
        <p:spPr>
          <a:xfrm>
            <a:off x="9144000" y="3337560"/>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توصیف</a:t>
            </a:r>
            <a:endParaRPr lang="fa-IR" sz="1500" dirty="0"/>
          </a:p>
        </p:txBody>
      </p:sp>
      <p:sp>
        <p:nvSpPr>
          <p:cNvPr id="27" name="Text 25"/>
          <p:cNvSpPr txBox="1"/>
          <p:nvPr/>
        </p:nvSpPr>
        <p:spPr>
          <a:xfrm>
            <a:off x="6355080" y="3337560"/>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زمان، مکان، فرد، و منبع دام</a:t>
            </a:r>
            <a:endParaRPr lang="fa-IR" sz="1300" dirty="0"/>
          </a:p>
        </p:txBody>
      </p:sp>
      <p:sp>
        <p:nvSpPr>
          <p:cNvPr id="28" name="step-5"/>
          <p:cNvSpPr/>
          <p:nvPr/>
        </p:nvSpPr>
        <p:spPr>
          <a:xfrm>
            <a:off x="548640" y="3227832"/>
            <a:ext cx="5468112" cy="822960"/>
          </a:xfrm>
          <a:prstGeom prst="roundRect">
            <a:avLst>
              <a:gd name="adj" fmla="val 13333"/>
            </a:avLst>
          </a:prstGeom>
          <a:solidFill>
            <a:schemeClr val="bg2"/>
          </a:solidFill>
          <a:ln w="12700">
            <a:solidFill>
              <a:schemeClr val="bg2"/>
            </a:solidFill>
            <a:prstDash val="solid"/>
          </a:ln>
        </p:spPr>
      </p:sp>
      <p:sp>
        <p:nvSpPr>
          <p:cNvPr id="29" name="step-num-5"/>
          <p:cNvSpPr/>
          <p:nvPr/>
        </p:nvSpPr>
        <p:spPr>
          <a:xfrm>
            <a:off x="5285232" y="3337560"/>
            <a:ext cx="603504" cy="603504"/>
          </a:xfrm>
          <a:prstGeom prst="ellipse">
            <a:avLst/>
          </a:prstGeom>
          <a:solidFill>
            <a:schemeClr val="accent1"/>
          </a:solidFill>
          <a:ln w="12700">
            <a:solidFill>
              <a:schemeClr val="accent1"/>
            </a:solidFill>
            <a:prstDash val="solid"/>
          </a:ln>
        </p:spPr>
      </p:sp>
      <p:sp>
        <p:nvSpPr>
          <p:cNvPr id="30" name="Text 28"/>
          <p:cNvSpPr txBox="1"/>
          <p:nvPr/>
        </p:nvSpPr>
        <p:spPr>
          <a:xfrm>
            <a:off x="5285232" y="3337560"/>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۶</a:t>
            </a:r>
            <a:endParaRPr lang="fa-IR" sz="1800" dirty="0"/>
          </a:p>
        </p:txBody>
      </p:sp>
      <p:sp>
        <p:nvSpPr>
          <p:cNvPr id="31" name="Text 29"/>
          <p:cNvSpPr txBox="1"/>
          <p:nvPr/>
        </p:nvSpPr>
        <p:spPr>
          <a:xfrm>
            <a:off x="3520440" y="3337560"/>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کنترل فوری</a:t>
            </a:r>
            <a:endParaRPr lang="fa-IR" sz="1500" dirty="0"/>
          </a:p>
        </p:txBody>
      </p:sp>
      <p:sp>
        <p:nvSpPr>
          <p:cNvPr id="32" name="Text 30"/>
          <p:cNvSpPr txBox="1"/>
          <p:nvPr/>
        </p:nvSpPr>
        <p:spPr>
          <a:xfrm>
            <a:off x="731520" y="3337560"/>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کنترل عفونت، توقف ذبح مشکوک، سم‌پاشی</a:t>
            </a:r>
            <a:endParaRPr lang="fa-IR" sz="1300" dirty="0"/>
          </a:p>
        </p:txBody>
      </p:sp>
      <p:sp>
        <p:nvSpPr>
          <p:cNvPr id="33" name="step-6"/>
          <p:cNvSpPr/>
          <p:nvPr/>
        </p:nvSpPr>
        <p:spPr>
          <a:xfrm>
            <a:off x="6172200" y="4178808"/>
            <a:ext cx="5468112" cy="822960"/>
          </a:xfrm>
          <a:prstGeom prst="roundRect">
            <a:avLst>
              <a:gd name="adj" fmla="val 13333"/>
            </a:avLst>
          </a:prstGeom>
          <a:solidFill>
            <a:schemeClr val="bg2"/>
          </a:solidFill>
          <a:ln w="12700">
            <a:solidFill>
              <a:schemeClr val="bg2"/>
            </a:solidFill>
            <a:prstDash val="solid"/>
          </a:ln>
        </p:spPr>
      </p:sp>
      <p:sp>
        <p:nvSpPr>
          <p:cNvPr id="34" name="step-num-6"/>
          <p:cNvSpPr/>
          <p:nvPr/>
        </p:nvSpPr>
        <p:spPr>
          <a:xfrm>
            <a:off x="10908792" y="4288536"/>
            <a:ext cx="603504" cy="603504"/>
          </a:xfrm>
          <a:prstGeom prst="ellipse">
            <a:avLst/>
          </a:prstGeom>
          <a:solidFill>
            <a:schemeClr val="tx2"/>
          </a:solidFill>
          <a:ln w="12700">
            <a:solidFill>
              <a:schemeClr val="tx2"/>
            </a:solidFill>
            <a:prstDash val="solid"/>
          </a:ln>
        </p:spPr>
      </p:sp>
      <p:sp>
        <p:nvSpPr>
          <p:cNvPr id="35" name="Text 33"/>
          <p:cNvSpPr txBox="1"/>
          <p:nvPr/>
        </p:nvSpPr>
        <p:spPr>
          <a:xfrm>
            <a:off x="10908792" y="4288536"/>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۷</a:t>
            </a:r>
            <a:endParaRPr lang="fa-IR" sz="1800" dirty="0"/>
          </a:p>
        </p:txBody>
      </p:sp>
      <p:sp>
        <p:nvSpPr>
          <p:cNvPr id="36" name="Text 34"/>
          <p:cNvSpPr txBox="1"/>
          <p:nvPr/>
        </p:nvSpPr>
        <p:spPr>
          <a:xfrm>
            <a:off x="9144000" y="4288536"/>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فرضیه</a:t>
            </a:r>
            <a:endParaRPr lang="fa-IR" sz="1500" dirty="0"/>
          </a:p>
        </p:txBody>
      </p:sp>
      <p:sp>
        <p:nvSpPr>
          <p:cNvPr id="37" name="Text 35"/>
          <p:cNvSpPr txBox="1"/>
          <p:nvPr/>
        </p:nvSpPr>
        <p:spPr>
          <a:xfrm>
            <a:off x="6355080" y="4288536"/>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ذبح؟ گزش؟ بیمارستان؟ بازار دام؟</a:t>
            </a:r>
            <a:endParaRPr lang="fa-IR" sz="1300" dirty="0"/>
          </a:p>
        </p:txBody>
      </p:sp>
      <p:sp>
        <p:nvSpPr>
          <p:cNvPr id="38" name="step-7"/>
          <p:cNvSpPr/>
          <p:nvPr/>
        </p:nvSpPr>
        <p:spPr>
          <a:xfrm>
            <a:off x="548640" y="4178808"/>
            <a:ext cx="5468112" cy="822960"/>
          </a:xfrm>
          <a:prstGeom prst="roundRect">
            <a:avLst>
              <a:gd name="adj" fmla="val 13333"/>
            </a:avLst>
          </a:prstGeom>
          <a:solidFill>
            <a:schemeClr val="bg2"/>
          </a:solidFill>
          <a:ln w="12700">
            <a:solidFill>
              <a:schemeClr val="bg2"/>
            </a:solidFill>
            <a:prstDash val="solid"/>
          </a:ln>
        </p:spPr>
      </p:sp>
      <p:sp>
        <p:nvSpPr>
          <p:cNvPr id="39" name="step-num-7"/>
          <p:cNvSpPr/>
          <p:nvPr/>
        </p:nvSpPr>
        <p:spPr>
          <a:xfrm>
            <a:off x="5285232" y="4288536"/>
            <a:ext cx="603504" cy="603504"/>
          </a:xfrm>
          <a:prstGeom prst="ellipse">
            <a:avLst/>
          </a:prstGeom>
          <a:solidFill>
            <a:schemeClr val="tx2"/>
          </a:solidFill>
          <a:ln w="12700">
            <a:solidFill>
              <a:schemeClr val="tx2"/>
            </a:solidFill>
            <a:prstDash val="solid"/>
          </a:ln>
        </p:spPr>
      </p:sp>
      <p:sp>
        <p:nvSpPr>
          <p:cNvPr id="40" name="Text 38"/>
          <p:cNvSpPr txBox="1"/>
          <p:nvPr/>
        </p:nvSpPr>
        <p:spPr>
          <a:xfrm>
            <a:off x="5285232" y="4288536"/>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۸</a:t>
            </a:r>
            <a:endParaRPr lang="fa-IR" sz="1800" dirty="0"/>
          </a:p>
        </p:txBody>
      </p:sp>
      <p:sp>
        <p:nvSpPr>
          <p:cNvPr id="41" name="Text 39"/>
          <p:cNvSpPr txBox="1"/>
          <p:nvPr/>
        </p:nvSpPr>
        <p:spPr>
          <a:xfrm>
            <a:off x="3520440" y="4288536"/>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مطالعه تحلیلی</a:t>
            </a:r>
            <a:endParaRPr lang="fa-IR" sz="1500" dirty="0"/>
          </a:p>
        </p:txBody>
      </p:sp>
      <p:sp>
        <p:nvSpPr>
          <p:cNvPr id="42" name="Text 40"/>
          <p:cNvSpPr txBox="1"/>
          <p:nvPr/>
        </p:nvSpPr>
        <p:spPr>
          <a:xfrm>
            <a:off x="731520" y="4288536"/>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مورد-شاهدی با شاهد هم‌محله</a:t>
            </a:r>
            <a:endParaRPr lang="fa-IR" sz="1300" dirty="0"/>
          </a:p>
        </p:txBody>
      </p:sp>
      <p:sp>
        <p:nvSpPr>
          <p:cNvPr id="43" name="step-8"/>
          <p:cNvSpPr/>
          <p:nvPr/>
        </p:nvSpPr>
        <p:spPr>
          <a:xfrm>
            <a:off x="6172200" y="5129784"/>
            <a:ext cx="5468112" cy="822960"/>
          </a:xfrm>
          <a:prstGeom prst="roundRect">
            <a:avLst>
              <a:gd name="adj" fmla="val 13333"/>
            </a:avLst>
          </a:prstGeom>
          <a:solidFill>
            <a:schemeClr val="bg2"/>
          </a:solidFill>
          <a:ln w="12700">
            <a:solidFill>
              <a:schemeClr val="bg2"/>
            </a:solidFill>
            <a:prstDash val="solid"/>
          </a:ln>
        </p:spPr>
      </p:sp>
      <p:sp>
        <p:nvSpPr>
          <p:cNvPr id="44" name="step-num-8"/>
          <p:cNvSpPr/>
          <p:nvPr/>
        </p:nvSpPr>
        <p:spPr>
          <a:xfrm>
            <a:off x="10908792" y="5239512"/>
            <a:ext cx="603504" cy="603504"/>
          </a:xfrm>
          <a:prstGeom prst="ellipse">
            <a:avLst/>
          </a:prstGeom>
          <a:solidFill>
            <a:schemeClr val="tx2"/>
          </a:solidFill>
          <a:ln w="12700">
            <a:solidFill>
              <a:schemeClr val="tx2"/>
            </a:solidFill>
            <a:prstDash val="solid"/>
          </a:ln>
        </p:spPr>
      </p:sp>
      <p:sp>
        <p:nvSpPr>
          <p:cNvPr id="45" name="Text 43"/>
          <p:cNvSpPr txBox="1"/>
          <p:nvPr/>
        </p:nvSpPr>
        <p:spPr>
          <a:xfrm>
            <a:off x="10908792" y="5239512"/>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۹</a:t>
            </a:r>
            <a:endParaRPr lang="fa-IR" sz="1800" dirty="0"/>
          </a:p>
        </p:txBody>
      </p:sp>
      <p:sp>
        <p:nvSpPr>
          <p:cNvPr id="46" name="Text 44"/>
          <p:cNvSpPr txBox="1"/>
          <p:nvPr/>
        </p:nvSpPr>
        <p:spPr>
          <a:xfrm>
            <a:off x="9144000" y="5239512"/>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اجرا و ارزیابی</a:t>
            </a:r>
            <a:endParaRPr lang="fa-IR" sz="1500" dirty="0"/>
          </a:p>
        </p:txBody>
      </p:sp>
      <p:sp>
        <p:nvSpPr>
          <p:cNvPr id="47" name="Text 45"/>
          <p:cNvSpPr txBox="1"/>
          <p:nvPr/>
        </p:nvSpPr>
        <p:spPr>
          <a:xfrm>
            <a:off x="6355080" y="5239512"/>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شاخص انسانی و دامی، هر دو</a:t>
            </a:r>
            <a:endParaRPr lang="fa-IR" sz="1300" dirty="0"/>
          </a:p>
        </p:txBody>
      </p:sp>
      <p:sp>
        <p:nvSpPr>
          <p:cNvPr id="48" name="step-9"/>
          <p:cNvSpPr/>
          <p:nvPr/>
        </p:nvSpPr>
        <p:spPr>
          <a:xfrm>
            <a:off x="548640" y="5129784"/>
            <a:ext cx="5468112" cy="822960"/>
          </a:xfrm>
          <a:prstGeom prst="roundRect">
            <a:avLst>
              <a:gd name="adj" fmla="val 13333"/>
            </a:avLst>
          </a:prstGeom>
          <a:solidFill>
            <a:schemeClr val="bg2"/>
          </a:solidFill>
          <a:ln w="12700">
            <a:solidFill>
              <a:schemeClr val="bg2"/>
            </a:solidFill>
            <a:prstDash val="solid"/>
          </a:ln>
        </p:spPr>
      </p:sp>
      <p:sp>
        <p:nvSpPr>
          <p:cNvPr id="49" name="step-num-9"/>
          <p:cNvSpPr/>
          <p:nvPr/>
        </p:nvSpPr>
        <p:spPr>
          <a:xfrm>
            <a:off x="5285232" y="5239512"/>
            <a:ext cx="603504" cy="603504"/>
          </a:xfrm>
          <a:prstGeom prst="ellipse">
            <a:avLst/>
          </a:prstGeom>
          <a:solidFill>
            <a:schemeClr val="tx2"/>
          </a:solidFill>
          <a:ln w="12700">
            <a:solidFill>
              <a:schemeClr val="tx2"/>
            </a:solidFill>
            <a:prstDash val="solid"/>
          </a:ln>
        </p:spPr>
      </p:sp>
      <p:sp>
        <p:nvSpPr>
          <p:cNvPr id="50" name="Text 48"/>
          <p:cNvSpPr txBox="1"/>
          <p:nvPr/>
        </p:nvSpPr>
        <p:spPr>
          <a:xfrm>
            <a:off x="5285232" y="5239512"/>
            <a:ext cx="603504" cy="603504"/>
          </a:xfrm>
          <a:prstGeom prst="rect">
            <a:avLst/>
          </a:prstGeom>
          <a:noFill/>
          <a:ln/>
        </p:spPr>
        <p:txBody>
          <a:bodyPr wrap="square" lIns="0" tIns="0" rIns="0" bIns="0" rtlCol="0" anchor="ctr"/>
          <a:lstStyle/>
          <a:p>
            <a:pPr rtl="1" algn="ctr" indent="0" marL="0">
              <a:buNone/>
            </a:pPr>
            <a:r>
              <a:rPr lang="fa-IR" altLang="en-US" sz="1800" b="1" dirty="0">
                <a:solidFill>
                  <a:schemeClr val="bg1"/>
                </a:solidFill>
              </a:rPr>
              <a:t>۱۰</a:t>
            </a:r>
            <a:endParaRPr lang="fa-IR" sz="1800" dirty="0"/>
          </a:p>
        </p:txBody>
      </p:sp>
      <p:sp>
        <p:nvSpPr>
          <p:cNvPr id="51" name="Text 49"/>
          <p:cNvSpPr txBox="1"/>
          <p:nvPr/>
        </p:nvSpPr>
        <p:spPr>
          <a:xfrm>
            <a:off x="3520440" y="5239512"/>
            <a:ext cx="1691640" cy="603504"/>
          </a:xfrm>
          <a:prstGeom prst="rect">
            <a:avLst/>
          </a:prstGeom>
          <a:noFill/>
          <a:ln/>
        </p:spPr>
        <p:txBody>
          <a:bodyPr wrap="square" lIns="0" tIns="0" rIns="0" bIns="0" rtlCol="0" anchor="ctr"/>
          <a:lstStyle/>
          <a:p>
            <a:pPr rtl="1" algn="r" indent="0" marL="0">
              <a:buNone/>
            </a:pPr>
            <a:r>
              <a:rPr lang="fa-IR" altLang="en-US" sz="1500" b="1" dirty="0">
                <a:solidFill>
                  <a:schemeClr val="tx1"/>
                </a:solidFill>
              </a:rPr>
              <a:t>اطلاع‌رسانی</a:t>
            </a:r>
            <a:endParaRPr lang="fa-IR" sz="1500" dirty="0"/>
          </a:p>
        </p:txBody>
      </p:sp>
      <p:sp>
        <p:nvSpPr>
          <p:cNvPr id="52" name="Text 50"/>
          <p:cNvSpPr txBox="1"/>
          <p:nvPr/>
        </p:nvSpPr>
        <p:spPr>
          <a:xfrm>
            <a:off x="731520" y="5239512"/>
            <a:ext cx="2743200" cy="603504"/>
          </a:xfrm>
          <a:prstGeom prst="rect">
            <a:avLst/>
          </a:prstGeom>
          <a:noFill/>
          <a:ln/>
        </p:spPr>
        <p:txBody>
          <a:bodyPr wrap="square" lIns="0" tIns="0" rIns="0" bIns="0" rtlCol="0" anchor="ctr"/>
          <a:lstStyle/>
          <a:p>
            <a:pPr rtl="1" algn="r" indent="0" marL="0">
              <a:buNone/>
            </a:pPr>
            <a:r>
              <a:rPr lang="fa-IR" altLang="en-US" sz="1300" dirty="0">
                <a:solidFill>
                  <a:schemeClr val="tx1"/>
                </a:solidFill>
              </a:rPr>
              <a:t>گزارش مشترک به هر دو وزارتخانه</a:t>
            </a:r>
            <a:endParaRPr lang="fa-IR" sz="1300" dirty="0"/>
          </a:p>
        </p:txBody>
      </p:sp>
      <p:sp>
        <p:nvSpPr>
          <p:cNvPr id="53" name="Text 51"/>
          <p:cNvSpPr txBox="1"/>
          <p:nvPr/>
        </p:nvSpPr>
        <p:spPr>
          <a:xfrm>
            <a:off x="548640" y="6126480"/>
            <a:ext cx="11091672" cy="228600"/>
          </a:xfrm>
          <a:prstGeom prst="rect">
            <a:avLst/>
          </a:prstGeom>
          <a:noFill/>
          <a:ln/>
        </p:spPr>
        <p:txBody>
          <a:bodyPr wrap="square" lIns="0" tIns="0" rIns="0" bIns="0" rtlCol="0" anchor="t"/>
          <a:lstStyle/>
          <a:p>
            <a:pPr rtl="1" algn="r" indent="0" marL="0">
              <a:buNone/>
            </a:pPr>
            <a:r>
              <a:rPr lang="fa-IR" altLang="en-US" sz="1000" dirty="0">
                <a:solidFill>
                  <a:schemeClr val="accent4"/>
                </a:solidFill>
              </a:rPr>
              <a:t>چارچوب ده‌گامی: CDC Field Epidemiology Manual، فصل ۳</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bg1"/>
                </a:solidFill>
              </a:rPr>
              <a:t>شبیه‌سازی: کمیته مشترک CCHF (۲۰ دقیقه)</a:t>
            </a:r>
            <a:endParaRPr lang="fa-IR" sz="3000" dirty="0"/>
          </a:p>
        </p:txBody>
      </p:sp>
      <p:sp>
        <p:nvSpPr>
          <p:cNvPr id="3" name="Text 1"/>
          <p:cNvSpPr txBox="1"/>
          <p:nvPr/>
        </p:nvSpPr>
        <p:spPr>
          <a:xfrm>
            <a:off x="548640" y="1280160"/>
            <a:ext cx="11091672" cy="822960"/>
          </a:xfrm>
          <a:prstGeom prst="rect">
            <a:avLst/>
          </a:prstGeom>
          <a:noFill/>
          <a:ln/>
        </p:spPr>
        <p:txBody>
          <a:bodyPr wrap="square" lIns="0" tIns="0" rIns="0" bIns="0" rtlCol="0" anchor="t"/>
          <a:lstStyle/>
          <a:p>
            <a:pPr rtl="1" algn="r" indent="0" marL="0">
              <a:buNone/>
            </a:pPr>
            <a:r>
              <a:rPr lang="fa-IR" altLang="en-US" sz="1500" dirty="0">
                <a:solidFill>
                  <a:schemeClr val="accent6"/>
                </a:solidFill>
              </a:rPr>
              <a:t>کلاس را به پنج گروه تقسیم کنید: بهداشت، درمان، دامپزشکی، محیط و شهرداری، ارتباطات. سناریوی اسلاید ۲ شروع کار است؛ مدرس هر ۵ دقیقه یک «خبر تازه» اعلام می‌کند.</a:t>
            </a:r>
            <a:endParaRPr lang="fa-IR" sz="1500" dirty="0"/>
          </a:p>
        </p:txBody>
      </p:sp>
      <p:sp>
        <p:nvSpPr>
          <p:cNvPr id="4" name="inject-0"/>
          <p:cNvSpPr/>
          <p:nvPr/>
        </p:nvSpPr>
        <p:spPr>
          <a:xfrm>
            <a:off x="8076895" y="2286000"/>
            <a:ext cx="3566160" cy="1874520"/>
          </a:xfrm>
          <a:prstGeom prst="roundRect">
            <a:avLst>
              <a:gd name="adj" fmla="val 5854"/>
            </a:avLst>
          </a:prstGeom>
          <a:solidFill>
            <a:schemeClr val="bg1"/>
          </a:solidFill>
          <a:ln w="12700">
            <a:solidFill>
              <a:schemeClr val="bg1"/>
            </a:solidFill>
            <a:prstDash val="solid"/>
          </a:ln>
        </p:spPr>
      </p:sp>
      <p:sp>
        <p:nvSpPr>
          <p:cNvPr id="5" name="Text 3"/>
          <p:cNvSpPr txBox="1"/>
          <p:nvPr/>
        </p:nvSpPr>
        <p:spPr>
          <a:xfrm>
            <a:off x="8305495" y="2468880"/>
            <a:ext cx="3108960" cy="411480"/>
          </a:xfrm>
          <a:prstGeom prst="rect">
            <a:avLst/>
          </a:prstGeom>
          <a:noFill/>
          <a:ln/>
        </p:spPr>
        <p:txBody>
          <a:bodyPr wrap="square" lIns="0" tIns="0" rIns="0" bIns="0" rtlCol="0" anchor="t"/>
          <a:lstStyle/>
          <a:p>
            <a:pPr rtl="1" algn="r" indent="0" marL="0">
              <a:buNone/>
            </a:pPr>
            <a:r>
              <a:rPr lang="fa-IR" altLang="en-US" sz="1800" b="1" dirty="0">
                <a:solidFill>
                  <a:schemeClr val="accent1"/>
                </a:solidFill>
              </a:rPr>
              <a:t>دقیقه ۵</a:t>
            </a:r>
            <a:endParaRPr lang="fa-IR" sz="1800" dirty="0"/>
          </a:p>
        </p:txBody>
      </p:sp>
      <p:sp>
        <p:nvSpPr>
          <p:cNvPr id="6" name="Text 4"/>
          <p:cNvSpPr txBox="1"/>
          <p:nvPr/>
        </p:nvSpPr>
        <p:spPr>
          <a:xfrm>
            <a:off x="8305495" y="2971800"/>
            <a:ext cx="3108960" cy="1463040"/>
          </a:xfrm>
          <a:prstGeom prst="rect">
            <a:avLst/>
          </a:prstGeom>
          <a:noFill/>
          <a:ln/>
        </p:spPr>
        <p:txBody>
          <a:bodyPr wrap="square" lIns="0" tIns="0" rIns="0" bIns="0" rtlCol="0" anchor="t"/>
          <a:lstStyle/>
          <a:p>
            <a:pPr rtl="1" algn="r" indent="0" marL="0">
              <a:buNone/>
            </a:pPr>
            <a:r>
              <a:rPr lang="fa-IR" altLang="en-US" sz="1400" dirty="0">
                <a:solidFill>
                  <a:schemeClr val="tx1"/>
                </a:solidFill>
              </a:rPr>
              <a:t>پرستار دوم با تب مراجعه کرده و کارکنان می‌خواهند بخش را ترک کنند.</a:t>
            </a:r>
            <a:endParaRPr lang="fa-IR" sz="1400" dirty="0"/>
          </a:p>
        </p:txBody>
      </p:sp>
      <p:sp>
        <p:nvSpPr>
          <p:cNvPr id="7" name="inject-1"/>
          <p:cNvSpPr/>
          <p:nvPr/>
        </p:nvSpPr>
        <p:spPr>
          <a:xfrm>
            <a:off x="4314139" y="2286000"/>
            <a:ext cx="3566160" cy="1874520"/>
          </a:xfrm>
          <a:prstGeom prst="roundRect">
            <a:avLst>
              <a:gd name="adj" fmla="val 5854"/>
            </a:avLst>
          </a:prstGeom>
          <a:solidFill>
            <a:schemeClr val="bg1"/>
          </a:solidFill>
          <a:ln w="12700">
            <a:solidFill>
              <a:schemeClr val="bg1"/>
            </a:solidFill>
            <a:prstDash val="solid"/>
          </a:ln>
        </p:spPr>
      </p:sp>
      <p:sp>
        <p:nvSpPr>
          <p:cNvPr id="8" name="Text 6"/>
          <p:cNvSpPr txBox="1"/>
          <p:nvPr/>
        </p:nvSpPr>
        <p:spPr>
          <a:xfrm>
            <a:off x="4542739" y="2468880"/>
            <a:ext cx="3108960" cy="411480"/>
          </a:xfrm>
          <a:prstGeom prst="rect">
            <a:avLst/>
          </a:prstGeom>
          <a:noFill/>
          <a:ln/>
        </p:spPr>
        <p:txBody>
          <a:bodyPr wrap="square" lIns="0" tIns="0" rIns="0" bIns="0" rtlCol="0" anchor="t"/>
          <a:lstStyle/>
          <a:p>
            <a:pPr rtl="1" algn="r" indent="0" marL="0">
              <a:buNone/>
            </a:pPr>
            <a:r>
              <a:rPr lang="fa-IR" altLang="en-US" sz="1800" b="1" dirty="0">
                <a:solidFill>
                  <a:schemeClr val="accent1"/>
                </a:solidFill>
              </a:rPr>
              <a:t>دقیقه ۱۰</a:t>
            </a:r>
            <a:endParaRPr lang="fa-IR" sz="1800" dirty="0"/>
          </a:p>
        </p:txBody>
      </p:sp>
      <p:sp>
        <p:nvSpPr>
          <p:cNvPr id="9" name="Text 7"/>
          <p:cNvSpPr txBox="1"/>
          <p:nvPr/>
        </p:nvSpPr>
        <p:spPr>
          <a:xfrm>
            <a:off x="4542739" y="2971800"/>
            <a:ext cx="3108960" cy="1463040"/>
          </a:xfrm>
          <a:prstGeom prst="rect">
            <a:avLst/>
          </a:prstGeom>
          <a:noFill/>
          <a:ln/>
        </p:spPr>
        <p:txBody>
          <a:bodyPr wrap="square" lIns="0" tIns="0" rIns="0" bIns="0" rtlCol="0" anchor="t"/>
          <a:lstStyle/>
          <a:p>
            <a:pPr rtl="1" algn="r" indent="0" marL="0">
              <a:buNone/>
            </a:pPr>
            <a:r>
              <a:rPr lang="fa-IR" altLang="en-US" sz="1400" dirty="0">
                <a:solidFill>
                  <a:schemeClr val="tx1"/>
                </a:solidFill>
              </a:rPr>
              <a:t>دام قصاب از یک بازار موقت با ۲۰۰۰ رأس گوسفند خریداری شده بود که از استان مرزی آمده‌اند.</a:t>
            </a:r>
            <a:endParaRPr lang="fa-IR" sz="1400" dirty="0"/>
          </a:p>
        </p:txBody>
      </p:sp>
      <p:sp>
        <p:nvSpPr>
          <p:cNvPr id="10" name="inject-2"/>
          <p:cNvSpPr/>
          <p:nvPr/>
        </p:nvSpPr>
        <p:spPr>
          <a:xfrm>
            <a:off x="551383" y="2286000"/>
            <a:ext cx="3566160" cy="1874520"/>
          </a:xfrm>
          <a:prstGeom prst="roundRect">
            <a:avLst>
              <a:gd name="adj" fmla="val 5854"/>
            </a:avLst>
          </a:prstGeom>
          <a:solidFill>
            <a:schemeClr val="bg1"/>
          </a:solidFill>
          <a:ln w="12700">
            <a:solidFill>
              <a:schemeClr val="bg1"/>
            </a:solidFill>
            <a:prstDash val="solid"/>
          </a:ln>
        </p:spPr>
      </p:sp>
      <p:sp>
        <p:nvSpPr>
          <p:cNvPr id="11" name="Text 9"/>
          <p:cNvSpPr txBox="1"/>
          <p:nvPr/>
        </p:nvSpPr>
        <p:spPr>
          <a:xfrm>
            <a:off x="779983" y="2468880"/>
            <a:ext cx="3108960" cy="411480"/>
          </a:xfrm>
          <a:prstGeom prst="rect">
            <a:avLst/>
          </a:prstGeom>
          <a:noFill/>
          <a:ln/>
        </p:spPr>
        <p:txBody>
          <a:bodyPr wrap="square" lIns="0" tIns="0" rIns="0" bIns="0" rtlCol="0" anchor="t"/>
          <a:lstStyle/>
          <a:p>
            <a:pPr rtl="1" algn="r" indent="0" marL="0">
              <a:buNone/>
            </a:pPr>
            <a:r>
              <a:rPr lang="fa-IR" altLang="en-US" sz="1800" b="1" dirty="0">
                <a:solidFill>
                  <a:schemeClr val="accent1"/>
                </a:solidFill>
              </a:rPr>
              <a:t>دقیقه ۱۵</a:t>
            </a:r>
            <a:endParaRPr lang="fa-IR" sz="1800" dirty="0"/>
          </a:p>
        </p:txBody>
      </p:sp>
      <p:sp>
        <p:nvSpPr>
          <p:cNvPr id="12" name="Text 10"/>
          <p:cNvSpPr txBox="1"/>
          <p:nvPr/>
        </p:nvSpPr>
        <p:spPr>
          <a:xfrm>
            <a:off x="779983" y="2971800"/>
            <a:ext cx="3108960" cy="1463040"/>
          </a:xfrm>
          <a:prstGeom prst="rect">
            <a:avLst/>
          </a:prstGeom>
          <a:noFill/>
          <a:ln/>
        </p:spPr>
        <p:txBody>
          <a:bodyPr wrap="square" lIns="0" tIns="0" rIns="0" bIns="0" rtlCol="0" anchor="t"/>
          <a:lstStyle/>
          <a:p>
            <a:pPr rtl="1" algn="r" indent="0" marL="0">
              <a:buNone/>
            </a:pPr>
            <a:r>
              <a:rPr lang="fa-IR" altLang="en-US" sz="1400" dirty="0">
                <a:solidFill>
                  <a:schemeClr val="tx1"/>
                </a:solidFill>
              </a:rPr>
              <a:t>یک پست پربازدید ادعا می‌کند «همه گوشت قربانی امسال آلوده است».</a:t>
            </a:r>
            <a:endParaRPr lang="fa-IR" sz="1400" dirty="0"/>
          </a:p>
        </p:txBody>
      </p:sp>
      <p:sp>
        <p:nvSpPr>
          <p:cNvPr id="13" name="Text 11"/>
          <p:cNvSpPr txBox="1"/>
          <p:nvPr/>
        </p:nvSpPr>
        <p:spPr>
          <a:xfrm>
            <a:off x="548640" y="4434840"/>
            <a:ext cx="11091672" cy="1645920"/>
          </a:xfrm>
          <a:prstGeom prst="rect">
            <a:avLst/>
          </a:prstGeom>
          <a:noFill/>
          <a:ln/>
        </p:spPr>
        <p:txBody>
          <a:bodyPr wrap="square" lIns="0" tIns="0" rIns="0" bIns="0" rtlCol="0" anchor="t"/>
          <a:lstStyle/>
          <a:p>
            <a:pPr rtl="1" algn="r" indent="0" marL="0">
              <a:spcAft>
                <a:spcPts val="400"/>
              </a:spcAft>
              <a:buNone/>
            </a:pPr>
            <a:r>
              <a:rPr lang="fa-IR" altLang="en-US" sz="1500" b="1" dirty="0">
                <a:solidFill>
                  <a:schemeClr val="bg1"/>
                </a:solidFill>
              </a:rPr>
              <a:t>خروجی هر گروه در پایان:</a:t>
            </a:r>
            <a:endParaRPr lang="fa-IR" sz="1500" dirty="0"/>
          </a:p>
          <a:p>
            <a:pPr rtl="1" algn="r" indent="0" marL="0">
              <a:spcAft>
                <a:spcPts val="200"/>
              </a:spcAft>
              <a:buNone/>
            </a:pPr>
            <a:r>
              <a:rPr lang="fa-IR" altLang="en-US" sz="1500" dirty="0">
                <a:solidFill>
                  <a:schemeClr val="bg1"/>
                </a:solidFill>
              </a:rPr>
              <a:t>۱. سه اقدام فوری بخش شما</a:t>
            </a:r>
            <a:endParaRPr lang="fa-IR" sz="1500" dirty="0"/>
          </a:p>
          <a:p>
            <a:pPr rtl="1" algn="r" indent="0" marL="0">
              <a:spcAft>
                <a:spcPts val="200"/>
              </a:spcAft>
              <a:buNone/>
            </a:pPr>
            <a:r>
              <a:rPr lang="fa-IR" altLang="en-US" sz="1500" dirty="0">
                <a:solidFill>
                  <a:schemeClr val="bg1"/>
                </a:solidFill>
              </a:rPr>
              <a:t>۲. داده‌ای که از بخش دیگر نیاز دارید</a:t>
            </a:r>
            <a:endParaRPr lang="fa-IR" sz="1500" dirty="0"/>
          </a:p>
          <a:p>
            <a:pPr rtl="1" algn="r" indent="0" marL="0">
              <a:buNone/>
            </a:pPr>
            <a:r>
              <a:rPr lang="fa-IR" altLang="en-US" sz="1500" dirty="0">
                <a:solidFill>
                  <a:schemeClr val="bg1"/>
                </a:solidFill>
              </a:rPr>
              <a:t>۳. یک جمله برای پیام عمومی</a:t>
            </a:r>
            <a:endParaRPr lang="fa-IR"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7CCBD"/>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سه پیام برای بردن</a:t>
            </a:r>
            <a:endParaRPr lang="fa-IR" sz="3000" dirty="0"/>
          </a:p>
        </p:txBody>
      </p:sp>
      <p:sp>
        <p:nvSpPr>
          <p:cNvPr id="3" name="take-0"/>
          <p:cNvSpPr/>
          <p:nvPr/>
        </p:nvSpPr>
        <p:spPr>
          <a:xfrm>
            <a:off x="10728655" y="1463040"/>
            <a:ext cx="914400" cy="914400"/>
          </a:xfrm>
          <a:prstGeom prst="ellipse">
            <a:avLst/>
          </a:prstGeom>
          <a:solidFill>
            <a:schemeClr val="accent2"/>
          </a:solidFill>
          <a:ln w="12700">
            <a:solidFill>
              <a:schemeClr val="accent2"/>
            </a:solidFill>
            <a:prstDash val="solid"/>
          </a:ln>
        </p:spPr>
      </p:sp>
      <p:sp>
        <p:nvSpPr>
          <p:cNvPr id="4" name="Text 2"/>
          <p:cNvSpPr txBox="1"/>
          <p:nvPr/>
        </p:nvSpPr>
        <p:spPr>
          <a:xfrm>
            <a:off x="10728655" y="1463040"/>
            <a:ext cx="914400" cy="914400"/>
          </a:xfrm>
          <a:prstGeom prst="rect">
            <a:avLst/>
          </a:prstGeom>
          <a:noFill/>
          <a:ln/>
        </p:spPr>
        <p:txBody>
          <a:bodyPr wrap="square" lIns="0" tIns="0" rIns="0" bIns="0" rtlCol="0" anchor="ctr"/>
          <a:lstStyle/>
          <a:p>
            <a:pPr rtl="1" algn="ctr" indent="0" marL="0">
              <a:buNone/>
            </a:pPr>
            <a:r>
              <a:rPr lang="fa-IR" altLang="en-US" sz="3200" b="1" dirty="0">
                <a:solidFill>
                  <a:schemeClr val="bg1"/>
                </a:solidFill>
              </a:rPr>
              <a:t>۱</a:t>
            </a:r>
            <a:endParaRPr lang="fa-IR" sz="3200" dirty="0"/>
          </a:p>
        </p:txBody>
      </p:sp>
      <p:sp>
        <p:nvSpPr>
          <p:cNvPr id="5" name="Text 3"/>
          <p:cNvSpPr txBox="1"/>
          <p:nvPr/>
        </p:nvSpPr>
        <p:spPr>
          <a:xfrm>
            <a:off x="548640" y="1508760"/>
            <a:ext cx="9966960" cy="868680"/>
          </a:xfrm>
          <a:prstGeom prst="rect">
            <a:avLst/>
          </a:prstGeom>
          <a:noFill/>
          <a:ln/>
        </p:spPr>
        <p:txBody>
          <a:bodyPr wrap="square" lIns="0" tIns="0" rIns="0" bIns="0" rtlCol="0" anchor="ctr"/>
          <a:lstStyle/>
          <a:p>
            <a:pPr rtl="1" algn="r" indent="0" marL="0">
              <a:buNone/>
            </a:pPr>
            <a:r>
              <a:rPr lang="fa-IR" altLang="en-US" sz="1900" dirty="0">
                <a:solidFill>
                  <a:schemeClr val="tx1"/>
                </a:solidFill>
              </a:rPr>
              <a:t>در بیماری مشترک، بررسی انسانی به‌تنهایی منبع را پیدا نمی‌کند؛ دامپزشکی و محیط از روز اول در تیم باشند.</a:t>
            </a:r>
            <a:endParaRPr lang="fa-IR" sz="1900" dirty="0"/>
          </a:p>
        </p:txBody>
      </p:sp>
      <p:sp>
        <p:nvSpPr>
          <p:cNvPr id="6" name="take-1"/>
          <p:cNvSpPr/>
          <p:nvPr/>
        </p:nvSpPr>
        <p:spPr>
          <a:xfrm>
            <a:off x="10728655" y="2926080"/>
            <a:ext cx="914400" cy="914400"/>
          </a:xfrm>
          <a:prstGeom prst="ellipse">
            <a:avLst/>
          </a:prstGeom>
          <a:solidFill>
            <a:schemeClr val="accent2"/>
          </a:solidFill>
          <a:ln w="12700">
            <a:solidFill>
              <a:schemeClr val="accent2"/>
            </a:solidFill>
            <a:prstDash val="solid"/>
          </a:ln>
        </p:spPr>
      </p:sp>
      <p:sp>
        <p:nvSpPr>
          <p:cNvPr id="7" name="Text 5"/>
          <p:cNvSpPr txBox="1"/>
          <p:nvPr/>
        </p:nvSpPr>
        <p:spPr>
          <a:xfrm>
            <a:off x="10728655" y="2926080"/>
            <a:ext cx="914400" cy="914400"/>
          </a:xfrm>
          <a:prstGeom prst="rect">
            <a:avLst/>
          </a:prstGeom>
          <a:noFill/>
          <a:ln/>
        </p:spPr>
        <p:txBody>
          <a:bodyPr wrap="square" lIns="0" tIns="0" rIns="0" bIns="0" rtlCol="0" anchor="ctr"/>
          <a:lstStyle/>
          <a:p>
            <a:pPr rtl="1" algn="ctr" indent="0" marL="0">
              <a:buNone/>
            </a:pPr>
            <a:r>
              <a:rPr lang="fa-IR" altLang="en-US" sz="3200" b="1" dirty="0">
                <a:solidFill>
                  <a:schemeClr val="bg1"/>
                </a:solidFill>
              </a:rPr>
              <a:t>۲</a:t>
            </a:r>
            <a:endParaRPr lang="fa-IR" sz="3200" dirty="0"/>
          </a:p>
        </p:txBody>
      </p:sp>
      <p:sp>
        <p:nvSpPr>
          <p:cNvPr id="8" name="Text 6"/>
          <p:cNvSpPr txBox="1"/>
          <p:nvPr/>
        </p:nvSpPr>
        <p:spPr>
          <a:xfrm>
            <a:off x="548640" y="2971800"/>
            <a:ext cx="9966960" cy="868680"/>
          </a:xfrm>
          <a:prstGeom prst="rect">
            <a:avLst/>
          </a:prstGeom>
          <a:noFill/>
          <a:ln/>
        </p:spPr>
        <p:txBody>
          <a:bodyPr wrap="square" lIns="0" tIns="0" rIns="0" bIns="0" rtlCol="0" anchor="ctr"/>
          <a:lstStyle/>
          <a:p>
            <a:pPr rtl="1" algn="r" indent="0" marL="0">
              <a:buNone/>
            </a:pPr>
            <a:r>
              <a:rPr lang="fa-IR" altLang="en-US" sz="1900" dirty="0">
                <a:solidFill>
                  <a:schemeClr val="tx1"/>
                </a:solidFill>
              </a:rPr>
              <a:t>CCHF در ایران بومی است: بیشترین خطر در مشاغل مرتبط با دام، تابستان و ذبح، و بیمارستان است.</a:t>
            </a:r>
            <a:endParaRPr lang="fa-IR" sz="1900" dirty="0"/>
          </a:p>
        </p:txBody>
      </p:sp>
      <p:sp>
        <p:nvSpPr>
          <p:cNvPr id="9" name="take-2"/>
          <p:cNvSpPr/>
          <p:nvPr/>
        </p:nvSpPr>
        <p:spPr>
          <a:xfrm>
            <a:off x="10728655" y="4389120"/>
            <a:ext cx="914400" cy="914400"/>
          </a:xfrm>
          <a:prstGeom prst="ellipse">
            <a:avLst/>
          </a:prstGeom>
          <a:solidFill>
            <a:schemeClr val="accent1"/>
          </a:solidFill>
          <a:ln w="12700">
            <a:solidFill>
              <a:schemeClr val="accent1"/>
            </a:solidFill>
            <a:prstDash val="solid"/>
          </a:ln>
        </p:spPr>
      </p:sp>
      <p:sp>
        <p:nvSpPr>
          <p:cNvPr id="10" name="Text 8"/>
          <p:cNvSpPr txBox="1"/>
          <p:nvPr/>
        </p:nvSpPr>
        <p:spPr>
          <a:xfrm>
            <a:off x="10728655" y="4389120"/>
            <a:ext cx="914400" cy="914400"/>
          </a:xfrm>
          <a:prstGeom prst="rect">
            <a:avLst/>
          </a:prstGeom>
          <a:noFill/>
          <a:ln/>
        </p:spPr>
        <p:txBody>
          <a:bodyPr wrap="square" lIns="0" tIns="0" rIns="0" bIns="0" rtlCol="0" anchor="ctr"/>
          <a:lstStyle/>
          <a:p>
            <a:pPr rtl="1" algn="ctr" indent="0" marL="0">
              <a:buNone/>
            </a:pPr>
            <a:r>
              <a:rPr lang="fa-IR" altLang="en-US" sz="3200" b="1" dirty="0">
                <a:solidFill>
                  <a:schemeClr val="bg1"/>
                </a:solidFill>
              </a:rPr>
              <a:t>۳</a:t>
            </a:r>
            <a:endParaRPr lang="fa-IR" sz="3200" dirty="0"/>
          </a:p>
        </p:txBody>
      </p:sp>
      <p:sp>
        <p:nvSpPr>
          <p:cNvPr id="11" name="Text 9"/>
          <p:cNvSpPr txBox="1"/>
          <p:nvPr/>
        </p:nvSpPr>
        <p:spPr>
          <a:xfrm>
            <a:off x="548640" y="4434840"/>
            <a:ext cx="9966960" cy="868680"/>
          </a:xfrm>
          <a:prstGeom prst="rect">
            <a:avLst/>
          </a:prstGeom>
          <a:noFill/>
          <a:ln/>
        </p:spPr>
        <p:txBody>
          <a:bodyPr wrap="square" lIns="0" tIns="0" rIns="0" bIns="0" rtlCol="0" anchor="ctr"/>
          <a:lstStyle/>
          <a:p>
            <a:pPr rtl="1" algn="r" indent="0" marL="0">
              <a:buNone/>
            </a:pPr>
            <a:r>
              <a:rPr lang="fa-IR" altLang="en-US" sz="1900" dirty="0">
                <a:solidFill>
                  <a:schemeClr val="tx1"/>
                </a:solidFill>
              </a:rPr>
              <a:t>شواهد را نقد کنید: کشندگی گزارش‌شده، آلودگی کنه‌ها و اثر ریباویرین هر کدام سوگیری خود را دارند.</a:t>
            </a:r>
            <a:endParaRPr lang="fa-IR" sz="19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منابع</a:t>
            </a:r>
            <a:endParaRPr lang="fa-IR" sz="3000" dirty="0"/>
          </a:p>
        </p:txBody>
      </p:sp>
      <p:sp>
        <p:nvSpPr>
          <p:cNvPr id="3" name="Text 1"/>
          <p:cNvSpPr txBox="1"/>
          <p:nvPr/>
        </p:nvSpPr>
        <p:spPr>
          <a:xfrm>
            <a:off x="548640" y="1234440"/>
            <a:ext cx="11091672" cy="5074920"/>
          </a:xfrm>
          <a:prstGeom prst="rect">
            <a:avLst/>
          </a:prstGeom>
          <a:noFill/>
          <a:ln/>
        </p:spPr>
        <p:txBody>
          <a:bodyPr wrap="square" lIns="0" tIns="0" rIns="0" bIns="0" rtlCol="0" anchor="t"/>
          <a:lstStyle/>
          <a:p>
            <a:pPr algn="l" marL="342900" indent="-342900">
              <a:spcAft>
                <a:spcPts val="300"/>
              </a:spcAft>
              <a:buSzPct val="100000"/>
              <a:buChar char="•"/>
            </a:pPr>
            <a:r>
              <a:rPr lang="en-US" altLang="en-US" sz="1050" dirty="0">
                <a:solidFill>
                  <a:schemeClr val="tx1"/>
                </a:solidFill>
              </a:rPr>
              <a:t>One Health High-Level Expert Panel (OHHLEP). One Health definition. 2021 (FAO, UNEP, WHO, WOAH).</a:t>
            </a:r>
            <a:endParaRPr lang="en-US" sz="1050" dirty="0"/>
          </a:p>
          <a:p>
            <a:pPr algn="l" marL="342900" indent="-342900">
              <a:spcAft>
                <a:spcPts val="300"/>
              </a:spcAft>
              <a:buSzPct val="100000"/>
              <a:buChar char="•"/>
            </a:pPr>
            <a:r>
              <a:rPr lang="en-US" altLang="en-US" sz="1050" dirty="0">
                <a:solidFill>
                  <a:schemeClr val="tx1"/>
                </a:solidFill>
              </a:rPr>
              <a:t>Shayan S, et al. Crimean-Congo hemorrhagic fever. Lab Med. 2015;46(3):180-9. doi:10.1309/LMN1P2FRZ7BKZSCO</a:t>
            </a:r>
            <a:endParaRPr lang="en-US" sz="1050" dirty="0"/>
          </a:p>
          <a:p>
            <a:pPr algn="l" marL="342900" indent="-342900">
              <a:spcAft>
                <a:spcPts val="300"/>
              </a:spcAft>
              <a:buSzPct val="100000"/>
              <a:buChar char="•"/>
            </a:pPr>
            <a:r>
              <a:rPr lang="en-US" altLang="en-US" sz="1050" dirty="0">
                <a:solidFill>
                  <a:schemeClr val="tx1"/>
                </a:solidFill>
              </a:rPr>
              <a:t>Keshtkar-Jahromi M, et al. Crimean-Congo hemorrhagic fever in Iran. Antiviral Res. 2013;100(1):20-8. doi:10.1016/j.antiviral.2013.07.007</a:t>
            </a:r>
            <a:endParaRPr lang="en-US" sz="1050" dirty="0"/>
          </a:p>
          <a:p>
            <a:pPr algn="l" marL="342900" indent="-342900">
              <a:spcAft>
                <a:spcPts val="300"/>
              </a:spcAft>
              <a:buSzPct val="100000"/>
              <a:buChar char="•"/>
            </a:pPr>
            <a:r>
              <a:rPr lang="en-US" altLang="en-US" sz="1050" dirty="0">
                <a:solidFill>
                  <a:schemeClr val="tx1"/>
                </a:solidFill>
              </a:rPr>
              <a:t>Mohammadi J, et al. Epidemiological patterns of CCHF in Iran and neighboring territories: a systematic review. Parasite Epidemiol Control. 2026;33:e00499. doi:10.1016/j.parepi.2026.e00499</a:t>
            </a:r>
            <a:endParaRPr lang="en-US" sz="1050" dirty="0"/>
          </a:p>
          <a:p>
            <a:pPr algn="l" marL="342900" indent="-342900">
              <a:spcAft>
                <a:spcPts val="300"/>
              </a:spcAft>
              <a:buSzPct val="100000"/>
              <a:buChar char="•"/>
            </a:pPr>
            <a:r>
              <a:rPr lang="en-US" altLang="en-US" sz="1050" dirty="0">
                <a:solidFill>
                  <a:schemeClr val="tx1"/>
                </a:solidFill>
              </a:rPr>
              <a:t>Nasirian H, et al. Six-year trend of CCHF cases in Islamic Republic of Iran. East Mediterr Health J. 2026;32(7):446-53. doi:10.26719/2026.32.7.446</a:t>
            </a:r>
            <a:endParaRPr lang="en-US" sz="1050" dirty="0"/>
          </a:p>
          <a:p>
            <a:pPr algn="l" marL="342900" indent="-342900">
              <a:spcAft>
                <a:spcPts val="300"/>
              </a:spcAft>
              <a:buSzPct val="100000"/>
              <a:buChar char="•"/>
            </a:pPr>
            <a:r>
              <a:rPr lang="en-US" altLang="en-US" sz="1050" dirty="0">
                <a:solidFill>
                  <a:schemeClr val="tx1"/>
                </a:solidFill>
              </a:rPr>
              <a:t>Aslani D, et al. CCHF among children in Iran. Arch Virol. 2017;162(3):721-5. doi:10.1007/s00705-016-3162-7</a:t>
            </a:r>
            <a:endParaRPr lang="en-US" sz="1050" dirty="0"/>
          </a:p>
          <a:p>
            <a:pPr algn="l" marL="342900" indent="-342900">
              <a:spcAft>
                <a:spcPts val="300"/>
              </a:spcAft>
              <a:buSzPct val="100000"/>
              <a:buChar char="•"/>
            </a:pPr>
            <a:r>
              <a:rPr lang="en-US" altLang="en-US" sz="1050" dirty="0">
                <a:solidFill>
                  <a:schemeClr val="tx1"/>
                </a:solidFill>
              </a:rPr>
              <a:t>Fazlalipour M, et al. CCHF among healthcare workers in Iran 2000-2023. BMC Infect Dis. 2024;24:1312. doi:10.1186/s12879-024-10199-1</a:t>
            </a:r>
            <a:endParaRPr lang="en-US" sz="1050" dirty="0"/>
          </a:p>
          <a:p>
            <a:pPr algn="l" marL="342900" indent="-342900">
              <a:spcAft>
                <a:spcPts val="300"/>
              </a:spcAft>
              <a:buSzPct val="100000"/>
              <a:buChar char="•"/>
            </a:pPr>
            <a:r>
              <a:rPr lang="en-US" altLang="en-US" sz="1050" dirty="0">
                <a:solidFill>
                  <a:schemeClr val="tx1"/>
                </a:solidFill>
              </a:rPr>
              <a:t>Ahmadkhani M, et al. Space-time epidemiology of CCHF in Iran. Ticks Tick Borne Dis. 2018;9(2):207-16. doi:10.1016/j.ttbdis.2017.09.006</a:t>
            </a:r>
            <a:endParaRPr lang="en-US" sz="1050" dirty="0"/>
          </a:p>
          <a:p>
            <a:pPr algn="l" marL="342900" indent="-342900">
              <a:spcAft>
                <a:spcPts val="300"/>
              </a:spcAft>
              <a:buSzPct val="100000"/>
              <a:buChar char="•"/>
            </a:pPr>
            <a:r>
              <a:rPr lang="en-US" altLang="en-US" sz="1050" dirty="0">
                <a:solidFill>
                  <a:schemeClr val="tx1"/>
                </a:solidFill>
              </a:rPr>
              <a:t>Syed MA, et al. Risk factors of CCHF in Sindh Province, Pakistan. Int J Infect Dis. 2024;146:107141. doi:10.1016/j.ijid.2024.107141</a:t>
            </a:r>
            <a:endParaRPr lang="en-US" sz="1050" dirty="0"/>
          </a:p>
          <a:p>
            <a:pPr algn="l" marL="342900" indent="-342900">
              <a:spcAft>
                <a:spcPts val="300"/>
              </a:spcAft>
              <a:buSzPct val="100000"/>
              <a:buChar char="•"/>
            </a:pPr>
            <a:r>
              <a:rPr lang="en-US" altLang="en-US" sz="1050" dirty="0">
                <a:solidFill>
                  <a:schemeClr val="tx1"/>
                </a:solidFill>
              </a:rPr>
              <a:t>Hamdard E, et al. CCHF outbreak spikes during Eid-al-Adha in Afghanistan. J Infect Public Health. 2024;18(1):102591. doi:10.1016/j.jiph.2024.102591</a:t>
            </a:r>
            <a:endParaRPr lang="en-US" sz="1050" dirty="0"/>
          </a:p>
          <a:p>
            <a:pPr algn="l" marL="342900" indent="-342900">
              <a:spcAft>
                <a:spcPts val="300"/>
              </a:spcAft>
              <a:buSzPct val="100000"/>
              <a:buChar char="•"/>
            </a:pPr>
            <a:r>
              <a:rPr lang="en-US" altLang="en-US" sz="1050" dirty="0">
                <a:solidFill>
                  <a:schemeClr val="tx1"/>
                </a:solidFill>
              </a:rPr>
              <a:t>Nasirian H. CCHF in Iran: viral detection in ticks, vector distribution, and data gaps. Vet Res Commun. 2026;50(5). doi:10.1007/s11259-026-11444-5</a:t>
            </a:r>
            <a:endParaRPr lang="en-US" sz="1050" dirty="0"/>
          </a:p>
          <a:p>
            <a:pPr algn="l" marL="342900" indent="-342900">
              <a:spcAft>
                <a:spcPts val="300"/>
              </a:spcAft>
              <a:buSzPct val="100000"/>
              <a:buChar char="•"/>
            </a:pPr>
            <a:r>
              <a:rPr lang="en-US" altLang="en-US" sz="1050" dirty="0">
                <a:solidFill>
                  <a:schemeClr val="tx1"/>
                </a:solidFill>
              </a:rPr>
              <a:t>Umair M, et al. CCHF virus diversity and reassortment, Pakistan, 2017-2020. Emerg Infect Dis. 2024;30(4):654-64. doi:10.3201/eid3004.231155</a:t>
            </a:r>
            <a:endParaRPr lang="en-US" sz="1050" dirty="0"/>
          </a:p>
          <a:p>
            <a:pPr algn="l" marL="342900" indent="-342900">
              <a:spcAft>
                <a:spcPts val="300"/>
              </a:spcAft>
              <a:buSzPct val="100000"/>
              <a:buChar char="•"/>
            </a:pPr>
            <a:r>
              <a:rPr lang="en-US" altLang="en-US" sz="1050" dirty="0">
                <a:solidFill>
                  <a:schemeClr val="tx1"/>
                </a:solidFill>
              </a:rPr>
              <a:t>Amrollahi A, et al. CCHF virus in ticks and small ruminants in western Iran. BMC Infect Dis. 2026;26(1). doi:10.1186/s12879-026-13841-2</a:t>
            </a:r>
            <a:endParaRPr lang="en-US" sz="1050" dirty="0"/>
          </a:p>
          <a:p>
            <a:pPr algn="l" marL="342900" indent="-342900">
              <a:spcAft>
                <a:spcPts val="300"/>
              </a:spcAft>
              <a:buSzPct val="100000"/>
              <a:buChar char="•"/>
            </a:pPr>
            <a:r>
              <a:rPr lang="en-US" altLang="en-US" sz="1050" dirty="0">
                <a:solidFill>
                  <a:schemeClr val="tx1"/>
                </a:solidFill>
              </a:rPr>
              <a:t>Moradkasani S, et al. Coxiella, Brucella, Ehrlichia and Borrelia among suspected CCHF patients in Iran. J Infect Public Health. 2024;17(12):102582. doi:10.1016/j.jiph.2024.102582</a:t>
            </a:r>
            <a:endParaRPr lang="en-US" sz="1050" dirty="0"/>
          </a:p>
          <a:p>
            <a:pPr algn="l" marL="342900" indent="-342900">
              <a:spcAft>
                <a:spcPts val="300"/>
              </a:spcAft>
              <a:buSzPct val="100000"/>
              <a:buChar char="•"/>
            </a:pPr>
            <a:r>
              <a:rPr lang="en-US" altLang="en-US" sz="1050" dirty="0">
                <a:solidFill>
                  <a:schemeClr val="tx1"/>
                </a:solidFill>
              </a:rPr>
              <a:t>Johnson S, et al. Ribavirin for treating Crimean Congo haemorrhagic fever. Cochrane Database Syst Rev. 2018;6:CD012713. doi:10.1002/14651858.CD012713.pub2</a:t>
            </a:r>
            <a:endParaRPr lang="en-US" sz="10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07F"/>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neHealth">
  <a:themeElements>
    <a:clrScheme name="OneHealth">
      <a:dk1>
        <a:srgbClr val="24291F"/>
      </a:dk1>
      <a:lt1>
        <a:srgbClr val="FFFFFF"/>
      </a:lt1>
      <a:dk2>
        <a:srgbClr val="3B4A2F"/>
      </a:dk2>
      <a:lt2>
        <a:srgbClr val="F0F2EC"/>
      </a:lt2>
      <a:accent1>
        <a:srgbClr val="B5532F"/>
      </a:accent1>
      <a:accent2>
        <a:srgbClr val="6E8F5A"/>
      </a:accent2>
      <a:accent3>
        <a:srgbClr val="3E7C8C"/>
      </a:accent3>
      <a:accent4>
        <a:srgbClr val="8C907F"/>
      </a:accent4>
      <a:accent5>
        <a:srgbClr val="C9A227"/>
      </a:accent5>
      <a:accent6>
        <a:srgbClr val="C7CCBD"/>
      </a:accent6>
      <a:hlink>
        <a:srgbClr val="3E7C8C"/>
      </a:hlink>
      <a:folHlink>
        <a:srgbClr val="6B5B95"/>
      </a:folHlink>
    </a:clrScheme>
    <a:fontScheme name="OneHealth">
      <a:majorFont>
        <a:latin typeface="Tahoma"/>
        <a:ea typeface=""/>
        <a:cs typeface="Tahoma"/>
        <a:font script="Jpan" typeface="游ゴシック Light"/>
        <a:font script="Hang" typeface="맑은 고딕"/>
        <a:font script="Hans" typeface="等线 Light"/>
        <a:font script="Hant" typeface="新細明體"/>
        <a:font script="Arab" typeface="Tahoma"/>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Tahoma"/>
        <a:font script="Jpan" typeface="游ゴシック"/>
        <a:font script="Hang" typeface="맑은 고딕"/>
        <a:font script="Hans" typeface="等线"/>
        <a:font script="Hant" typeface="新細明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Health و تب کریمه-کنگو</dc:title>
  <dc:subject>PptxGenJS Presentation</dc:subject>
  <dc:creator>Paria Dehesh</dc:creator>
  <cp:lastModifiedBy>Paria Dehesh</cp:lastModifiedBy>
  <cp:revision>1</cp:revision>
  <dcterms:created xsi:type="dcterms:W3CDTF">2026-10-17T11:01:49Z</dcterms:created>
  <dcterms:modified xsi:type="dcterms:W3CDTF">2026-10-17T11:01:49Z</dcterms:modified>
</cp:coreProperties>
</file>